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0"/>
  </p:notesMasterIdLst>
  <p:sldIdLst>
    <p:sldId id="415" r:id="rId2"/>
    <p:sldId id="416" r:id="rId3"/>
    <p:sldId id="395" r:id="rId4"/>
    <p:sldId id="396" r:id="rId5"/>
    <p:sldId id="397" r:id="rId6"/>
    <p:sldId id="398" r:id="rId7"/>
    <p:sldId id="417" r:id="rId8"/>
    <p:sldId id="418" r:id="rId9"/>
    <p:sldId id="419" r:id="rId10"/>
    <p:sldId id="420" r:id="rId11"/>
    <p:sldId id="421" r:id="rId12"/>
    <p:sldId id="422" r:id="rId13"/>
    <p:sldId id="423" r:id="rId14"/>
    <p:sldId id="424" r:id="rId15"/>
    <p:sldId id="425" r:id="rId16"/>
    <p:sldId id="426" r:id="rId17"/>
    <p:sldId id="427" r:id="rId18"/>
    <p:sldId id="428" r:id="rId19"/>
    <p:sldId id="429" r:id="rId20"/>
    <p:sldId id="430" r:id="rId21"/>
    <p:sldId id="431" r:id="rId22"/>
    <p:sldId id="432" r:id="rId23"/>
    <p:sldId id="433" r:id="rId24"/>
    <p:sldId id="434" r:id="rId25"/>
    <p:sldId id="399" r:id="rId26"/>
    <p:sldId id="414" r:id="rId27"/>
    <p:sldId id="401" r:id="rId28"/>
    <p:sldId id="402" r:id="rId29"/>
    <p:sldId id="403" r:id="rId30"/>
    <p:sldId id="404" r:id="rId31"/>
    <p:sldId id="405" r:id="rId32"/>
    <p:sldId id="406" r:id="rId33"/>
    <p:sldId id="407" r:id="rId34"/>
    <p:sldId id="408" r:id="rId35"/>
    <p:sldId id="409" r:id="rId36"/>
    <p:sldId id="410" r:id="rId37"/>
    <p:sldId id="411" r:id="rId38"/>
    <p:sldId id="413" r:id="rId39"/>
  </p:sldIdLst>
  <p:sldSz cx="12192000" cy="6858000"/>
  <p:notesSz cx="6858000" cy="9144000"/>
  <p:embeddedFontLst>
    <p:embeddedFont>
      <p:font typeface="Roboto Condensed" panose="020B0604020202020204" charset="0"/>
      <p:regular r:id="rId41"/>
      <p:bold r:id="rId42"/>
      <p:italic r:id="rId43"/>
      <p:boldItalic r:id="rId44"/>
    </p:embeddedFont>
    <p:embeddedFont>
      <p:font typeface="Segoe UI Black" panose="020B0A02040204020203" pitchFamily="34" charset="0"/>
      <p:bold r:id="rId45"/>
      <p:boldItalic r:id="rId46"/>
    </p:embeddedFont>
    <p:embeddedFont>
      <p:font typeface="Wingdings 3" panose="05040102010807070707" pitchFamily="18" charset="2"/>
      <p:regular r:id="rId47"/>
    </p:embeddedFont>
    <p:embeddedFont>
      <p:font typeface="Roboto Condensed Light" panose="020B0604020202020204" charset="0"/>
      <p:regular r:id="rId48"/>
      <p:italic r:id="rId49"/>
    </p:embeddedFont>
    <p:embeddedFont>
      <p:font typeface="Calibri" panose="020F0502020204030204" pitchFamily="34" charset="0"/>
      <p:regular r:id="rId50"/>
      <p:bold r:id="rId51"/>
      <p:italic r:id="rId52"/>
      <p:boldItalic r:id="rId53"/>
    </p:embeddedFont>
    <p:embeddedFont>
      <p:font typeface="Wingdings 2" panose="05020102010507070707" pitchFamily="18" charset="2"/>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2323"/>
    <a:srgbClr val="80DEEA"/>
    <a:srgbClr val="EEEEEE"/>
    <a:srgbClr val="E1F5FE"/>
    <a:srgbClr val="301B92"/>
    <a:srgbClr val="673BB7"/>
    <a:srgbClr val="607D8B"/>
    <a:srgbClr val="ED524F"/>
    <a:srgbClr val="B71B1C"/>
    <a:srgbClr val="F543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2" d="100"/>
          <a:sy n="92" d="100"/>
        </p:scale>
        <p:origin x="4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7.png"/><Relationship Id="rId10" Type="http://schemas.openxmlformats.org/officeDocument/2006/relationships/image" Target="../media/image9.jpeg"/><Relationship Id="rId4" Type="http://schemas.openxmlformats.org/officeDocument/2006/relationships/image" Target="../media/image6.png"/><Relationship Id="rId9" Type="http://schemas.openxmlformats.org/officeDocument/2006/relationships/image" Target="../media/image14.jpe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xmlns=""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386138" y="6603999"/>
            <a:ext cx="5224460" cy="323927"/>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#3150711 (SE)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Introduction to Software &amp; Software Engineering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1" y="887280"/>
            <a:ext cx="11222620" cy="5078091"/>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889829" y="6603999"/>
            <a:ext cx="4920342" cy="2540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#3150711 (SE)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Unit 1 – Introduction to Software &amp; Software Engineering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xmlns=""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xmlns=""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xmlns=""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xmlns=""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0169294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xmlns="" id="{59055D82-7978-44A5-82D1-0A4E00B382BF}"/>
              </a:ext>
            </a:extLst>
          </p:cNvPr>
          <p:cNvSpPr txBox="1">
            <a:spLocks/>
          </p:cNvSpPr>
          <p:nvPr userDrawn="1"/>
        </p:nvSpPr>
        <p:spPr>
          <a:xfrm>
            <a:off x="3904343" y="6604000"/>
            <a:ext cx="4833257"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#3150711 (SE)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Unit 1 – Introduction to Software &amp; Software Engineering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xmlns=""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xmlns="" id="{59055D82-7978-44A5-82D1-0A4E00B382BF}"/>
              </a:ext>
            </a:extLst>
          </p:cNvPr>
          <p:cNvSpPr txBox="1">
            <a:spLocks/>
          </p:cNvSpPr>
          <p:nvPr userDrawn="1"/>
        </p:nvSpPr>
        <p:spPr>
          <a:xfrm>
            <a:off x="3846286" y="6604000"/>
            <a:ext cx="476431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#3150711 (SE)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Unit 1 – Introduction to Software &amp; Software Engineering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xmlns=""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xmlns="" id="{59055D82-7978-44A5-82D1-0A4E00B382BF}"/>
              </a:ext>
            </a:extLst>
          </p:cNvPr>
          <p:cNvSpPr txBox="1">
            <a:spLocks/>
          </p:cNvSpPr>
          <p:nvPr userDrawn="1"/>
        </p:nvSpPr>
        <p:spPr>
          <a:xfrm>
            <a:off x="3788229" y="6603999"/>
            <a:ext cx="4822369" cy="298997"/>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#3150711 (SE)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Unit 1 – Introduction to Software &amp; Software Engineering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xmlns=""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xmlns=""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xmlns=""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xmlns=""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xmlns=""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xmlns=""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5" name="Picture 34"/>
          <p:cNvPicPr>
            <a:picLocks noChangeAspect="1"/>
          </p:cNvPicPr>
          <p:nvPr userDrawn="1"/>
        </p:nvPicPr>
        <p:blipFill>
          <a:blip r:embed="rId6">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6763769" y="5742693"/>
            <a:ext cx="5029549" cy="842789"/>
          </a:xfrm>
          <a:prstGeom prst="rect">
            <a:avLst/>
          </a:prstGeom>
        </p:spPr>
      </p:pic>
      <p:pic>
        <p:nvPicPr>
          <p:cNvPr id="4" name="Picture 3"/>
          <p:cNvPicPr>
            <a:picLocks noChangeAspect="1"/>
          </p:cNvPicPr>
          <p:nvPr userDrawn="1"/>
        </p:nvPicPr>
        <p:blipFill>
          <a:blip r:embed="rId7">
            <a:extLst>
              <a:ext uri="{BEBA8EAE-BF5A-486C-A8C5-ECC9F3942E4B}">
                <a14:imgProps xmlns:a14="http://schemas.microsoft.com/office/drawing/2010/main">
                  <a14:imgLayer r:embed="rId8">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8424429" y="1508547"/>
            <a:ext cx="3644681" cy="2427372"/>
          </a:xfrm>
          <a:prstGeom prst="rect">
            <a:avLst/>
          </a:prstGeom>
        </p:spPr>
      </p:pic>
    </p:spTree>
    <p:extLst>
      <p:ext uri="{BB962C8B-B14F-4D97-AF65-F5344CB8AC3E}">
        <p14:creationId xmlns:p14="http://schemas.microsoft.com/office/powerpoint/2010/main" val="3765131949"/>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dirty="0" smtClean="0"/>
              <a:t>Thank</a:t>
            </a:r>
          </a:p>
          <a:p>
            <a:pPr algn="ctr"/>
            <a:r>
              <a:rPr lang="en-US" sz="6000" b="1" i="1" dirty="0" smtClean="0"/>
              <a:t>You</a:t>
            </a:r>
            <a:endParaRPr lang="en-US" sz="6000" b="1" i="1" dirty="0"/>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47"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a16="http://schemas.microsoft.com/office/drawing/2014/main" xmlns=""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xmlns="" id="{9812EDA6-C656-492A-A9CA-44B03C63913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a16="http://schemas.microsoft.com/office/drawing/2014/main" xmlns="" id="{627AEF91-6492-4B0C-A844-2296473B58D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a16="http://schemas.microsoft.com/office/drawing/2014/main" xmlns=""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52" name="Text Placeholder 2">
            <a:extLst>
              <a:ext uri="{FF2B5EF4-FFF2-40B4-BE49-F238E27FC236}">
                <a16:creationId xmlns:a16="http://schemas.microsoft.com/office/drawing/2014/main" xmlns=""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6"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7"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8" name="Picture 57">
            <a:extLst>
              <a:ext uri="{FF2B5EF4-FFF2-40B4-BE49-F238E27FC236}">
                <a16:creationId xmlns:a16="http://schemas.microsoft.com/office/drawing/2014/main" xmlns=""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353686924"/>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8/24/2026</a:t>
            </a:fld>
            <a:endParaRPr lang="en-US"/>
          </a:p>
        </p:txBody>
      </p:sp>
      <p:sp>
        <p:nvSpPr>
          <p:cNvPr id="5" name="Footer Placeholder 4">
            <a:extLst>
              <a:ext uri="{FF2B5EF4-FFF2-40B4-BE49-F238E27FC236}">
                <a16:creationId xmlns:a16="http://schemas.microsoft.com/office/drawing/2014/main" xmlns=""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92" r:id="rId21"/>
    <p:sldLayoutId id="2147483686" r:id="rId2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jpg"/><Relationship Id="rId2" Type="http://schemas.openxmlformats.org/officeDocument/2006/relationships/image" Target="../media/image15.jpeg"/><Relationship Id="rId1" Type="http://schemas.openxmlformats.org/officeDocument/2006/relationships/slideLayout" Target="../slideLayouts/slideLayout3.xml"/><Relationship Id="rId6" Type="http://schemas.openxmlformats.org/officeDocument/2006/relationships/image" Target="../media/image19.jpg"/><Relationship Id="rId5" Type="http://schemas.openxmlformats.org/officeDocument/2006/relationships/image" Target="../media/image18.jpe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2" Type="http://schemas.openxmlformats.org/officeDocument/2006/relationships/hyperlink" Target="https://www.productplan.com/learn/minimum-viable-product/"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www.productplan.com/learn/organize-your-roadmap-by-themes/"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www.productplan.com/glossary/backlog-grooming/" TargetMode="External"/><Relationship Id="rId2" Type="http://schemas.openxmlformats.org/officeDocument/2006/relationships/hyperlink" Target="https://www.productplan.com/learn/remote-product-teams/"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s://www.productplan.com/glossary/technical-debt/"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www.productplan.com/learn/product-management-frameworks/"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www.productplan.com/learn/product-retrospective/"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1.png"/><Relationship Id="rId1" Type="http://schemas.openxmlformats.org/officeDocument/2006/relationships/slideLayout" Target="../slideLayouts/slideLayout3.xml"/><Relationship Id="rId4" Type="http://schemas.openxmlformats.org/officeDocument/2006/relationships/image" Target="../media/image32.jpe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3.jpg"/><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image" Target="../media/image35.jpg"/><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29.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1.png"/><Relationship Id="rId7" Type="http://schemas.openxmlformats.org/officeDocument/2006/relationships/image" Target="../media/image38.png"/><Relationship Id="rId2" Type="http://schemas.openxmlformats.org/officeDocument/2006/relationships/image" Target="../media/image40.png"/><Relationship Id="rId1" Type="http://schemas.openxmlformats.org/officeDocument/2006/relationships/slideLayout" Target="../slideLayouts/slideLayout3.xml"/><Relationship Id="rId6" Type="http://schemas.openxmlformats.org/officeDocument/2006/relationships/image" Target="../media/image30.png"/><Relationship Id="rId11" Type="http://schemas.openxmlformats.org/officeDocument/2006/relationships/image" Target="../media/image46.png"/><Relationship Id="rId5" Type="http://schemas.openxmlformats.org/officeDocument/2006/relationships/image" Target="../media/image42.png"/><Relationship Id="rId10" Type="http://schemas.openxmlformats.org/officeDocument/2006/relationships/image" Target="../media/image45.png"/><Relationship Id="rId4" Type="http://schemas.openxmlformats.org/officeDocument/2006/relationships/image" Target="../media/image36.png"/><Relationship Id="rId9" Type="http://schemas.openxmlformats.org/officeDocument/2006/relationships/image" Target="../media/image44.jpg"/></Relationships>
</file>

<file path=ppt/slides/_rels/slide3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xmlns="" id="{5919B75D-4B6D-4192-B4EB-B4E8000BD97C}"/>
              </a:ext>
            </a:extLst>
          </p:cNvPr>
          <p:cNvSpPr>
            <a:spLocks noGrp="1"/>
          </p:cNvSpPr>
          <p:nvPr>
            <p:ph type="body" sz="quarter" idx="16"/>
          </p:nvPr>
        </p:nvSpPr>
        <p:spPr/>
        <p:txBody>
          <a:bodyPr/>
          <a:lstStyle/>
          <a:p>
            <a:r>
              <a:rPr lang="en-US" dirty="0"/>
              <a:t>Software Engineering </a:t>
            </a:r>
            <a:r>
              <a:rPr lang="en-US" dirty="0" smtClean="0"/>
              <a:t>(</a:t>
            </a:r>
            <a:r>
              <a:rPr lang="en-IN"/>
              <a:t>MC03094021</a:t>
            </a:r>
            <a:r>
              <a:rPr lang="en-US" smtClean="0"/>
              <a:t>)</a:t>
            </a:r>
            <a:endParaRPr lang="en-US" dirty="0"/>
          </a:p>
        </p:txBody>
      </p:sp>
      <p:sp>
        <p:nvSpPr>
          <p:cNvPr id="9" name="Title 1">
            <a:extLst>
              <a:ext uri="{FF2B5EF4-FFF2-40B4-BE49-F238E27FC236}">
                <a16:creationId xmlns:a16="http://schemas.microsoft.com/office/drawing/2014/main" xmlns="" id="{0E0A5353-D4D5-43D7-A039-6CFC6871D64F}"/>
              </a:ext>
            </a:extLst>
          </p:cNvPr>
          <p:cNvSpPr txBox="1">
            <a:spLocks/>
          </p:cNvSpPr>
          <p:nvPr/>
        </p:nvSpPr>
        <p:spPr>
          <a:xfrm>
            <a:off x="711890" y="1046156"/>
            <a:ext cx="7860610" cy="2578780"/>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sz="4800" b="0" dirty="0" smtClean="0">
                <a:latin typeface="Roboto Condensed Light" panose="02000000000000000000" pitchFamily="2" charset="0"/>
                <a:ea typeface="Roboto Condensed Light" panose="02000000000000000000" pitchFamily="2" charset="0"/>
              </a:rPr>
              <a:t>Unit-4</a:t>
            </a:r>
            <a:r>
              <a:rPr lang="en-US" dirty="0"/>
              <a:t/>
            </a:r>
            <a:br>
              <a:rPr lang="en-US" dirty="0"/>
            </a:br>
            <a:r>
              <a:rPr lang="en-US" sz="5400" dirty="0" smtClean="0"/>
              <a:t>Introduction to agile methodology</a:t>
            </a:r>
          </a:p>
        </p:txBody>
      </p:sp>
    </p:spTree>
    <p:extLst>
      <p:ext uri="{BB962C8B-B14F-4D97-AF65-F5344CB8AC3E}">
        <p14:creationId xmlns:p14="http://schemas.microsoft.com/office/powerpoint/2010/main" val="17648847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xmlns="" id="{CA925EF2-D58F-4AC0-ACED-F747CC08D69F}"/>
              </a:ext>
            </a:extLst>
          </p:cNvPr>
          <p:cNvCxnSpPr>
            <a:cxnSpLocks/>
          </p:cNvCxnSpPr>
          <p:nvPr/>
        </p:nvCxnSpPr>
        <p:spPr>
          <a:xfrm>
            <a:off x="1191446" y="6092331"/>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xmlns=""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xmlns=""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xmlns=""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xmlns="" id="{BDA2F9A4-6988-4274-8384-12496EC9D59D}"/>
              </a:ext>
            </a:extLst>
          </p:cNvPr>
          <p:cNvSpPr txBox="1"/>
          <p:nvPr/>
        </p:nvSpPr>
        <p:spPr>
          <a:xfrm>
            <a:off x="1458962" y="731706"/>
            <a:ext cx="9718554" cy="4939814"/>
          </a:xfrm>
          <a:prstGeom prst="rect">
            <a:avLst/>
          </a:prstGeom>
          <a:noFill/>
        </p:spPr>
        <p:txBody>
          <a:bodyPr wrap="square" rtlCol="0">
            <a:spAutoFit/>
          </a:bodyPr>
          <a:lstStyle/>
          <a:p>
            <a:r>
              <a:rPr lang="en-US" sz="2400" b="1" dirty="0"/>
              <a:t>Outline</a:t>
            </a:r>
          </a:p>
          <a:p>
            <a:pPr marL="800100" lvl="1" indent="-342900">
              <a:buFont typeface="Wingdings" panose="05000000000000000000" pitchFamily="2" charset="2"/>
              <a:buChar char="§"/>
            </a:pPr>
            <a:r>
              <a:rPr lang="en-US" sz="2400" dirty="0">
                <a:solidFill>
                  <a:schemeClr val="bg1">
                    <a:lumMod val="50000"/>
                  </a:schemeClr>
                </a:solidFill>
              </a:rPr>
              <a:t>What is Agility? </a:t>
            </a:r>
          </a:p>
          <a:p>
            <a:pPr marL="800100" lvl="1" indent="-342900">
              <a:buFont typeface="Wingdings" panose="05000000000000000000" pitchFamily="2" charset="2"/>
              <a:buChar char="§"/>
            </a:pPr>
            <a:r>
              <a:rPr lang="en-US" sz="2400" dirty="0">
                <a:solidFill>
                  <a:schemeClr val="bg1">
                    <a:lumMod val="50000"/>
                  </a:schemeClr>
                </a:solidFill>
              </a:rPr>
              <a:t>Agile Process</a:t>
            </a:r>
          </a:p>
          <a:p>
            <a:pPr marL="800100" lvl="1" indent="-342900">
              <a:buFont typeface="Wingdings" panose="05000000000000000000" pitchFamily="2" charset="2"/>
              <a:buChar char="§"/>
            </a:pPr>
            <a:r>
              <a:rPr lang="en-US" sz="2400" dirty="0">
                <a:solidFill>
                  <a:schemeClr val="bg1">
                    <a:lumMod val="50000"/>
                  </a:schemeClr>
                </a:solidFill>
              </a:rPr>
              <a:t>Agility Principles</a:t>
            </a:r>
          </a:p>
          <a:p>
            <a:pPr marL="800100" lvl="1" indent="-342900">
              <a:buFont typeface="Wingdings" panose="05000000000000000000" pitchFamily="2" charset="2"/>
              <a:buChar char="§"/>
            </a:pPr>
            <a:r>
              <a:rPr lang="en-US" sz="2400" dirty="0">
                <a:solidFill>
                  <a:schemeClr val="bg1">
                    <a:lumMod val="50000"/>
                  </a:schemeClr>
                </a:solidFill>
              </a:rPr>
              <a:t>Where agile methodology not work</a:t>
            </a:r>
            <a:r>
              <a:rPr lang="en-US" sz="2400" dirty="0" smtClean="0">
                <a:solidFill>
                  <a:schemeClr val="bg1">
                    <a:lumMod val="50000"/>
                  </a:schemeClr>
                </a:solidFill>
              </a:rPr>
              <a:t>?</a:t>
            </a:r>
          </a:p>
          <a:p>
            <a:pPr marL="800100" lvl="1" indent="-342900">
              <a:buFont typeface="Wingdings" panose="05000000000000000000" pitchFamily="2" charset="2"/>
              <a:buChar char="§"/>
            </a:pPr>
            <a:r>
              <a:rPr lang="en-US" sz="2400" dirty="0" smtClean="0">
                <a:solidFill>
                  <a:schemeClr val="bg1">
                    <a:lumMod val="50000"/>
                  </a:schemeClr>
                </a:solidFill>
              </a:rPr>
              <a:t>Agile Process Models</a:t>
            </a:r>
            <a:endParaRPr lang="en-US" sz="2400" dirty="0">
              <a:solidFill>
                <a:schemeClr val="bg1">
                  <a:lumMod val="50000"/>
                </a:schemeClr>
              </a:solidFill>
            </a:endParaRPr>
          </a:p>
          <a:p>
            <a:pPr marL="1257300" lvl="2" indent="-342900">
              <a:buFont typeface="Arial" panose="020B0604020202020204" pitchFamily="34" charset="0"/>
              <a:buChar char="•"/>
            </a:pPr>
            <a:r>
              <a:rPr lang="en-US" sz="2100" dirty="0">
                <a:solidFill>
                  <a:schemeClr val="bg1">
                    <a:lumMod val="50000"/>
                  </a:schemeClr>
                </a:solidFill>
              </a:rPr>
              <a:t>Extreme Programming (XP</a:t>
            </a:r>
            <a:r>
              <a:rPr lang="en-US" sz="2100" dirty="0" smtClean="0">
                <a:solidFill>
                  <a:schemeClr val="bg1">
                    <a:lumMod val="50000"/>
                  </a:schemeClr>
                </a:solidFill>
              </a:rPr>
              <a:t>)</a:t>
            </a:r>
          </a:p>
          <a:p>
            <a:pPr marL="1257300" lvl="2" indent="-342900">
              <a:buFont typeface="Arial" panose="020B0604020202020204" pitchFamily="34" charset="0"/>
              <a:buChar char="•"/>
            </a:pPr>
            <a:r>
              <a:rPr lang="en-US" sz="2100" dirty="0" smtClean="0">
                <a:solidFill>
                  <a:schemeClr val="bg1">
                    <a:lumMod val="50000"/>
                  </a:schemeClr>
                </a:solidFill>
              </a:rPr>
              <a:t>Adaptive </a:t>
            </a:r>
            <a:r>
              <a:rPr lang="en-US" sz="2100" dirty="0">
                <a:solidFill>
                  <a:schemeClr val="bg1">
                    <a:lumMod val="50000"/>
                  </a:schemeClr>
                </a:solidFill>
              </a:rPr>
              <a:t>Software Development (ASD)</a:t>
            </a:r>
          </a:p>
          <a:p>
            <a:pPr marL="1257300" lvl="2" indent="-342900">
              <a:buFont typeface="Arial" panose="020B0604020202020204" pitchFamily="34" charset="0"/>
              <a:buChar char="•"/>
            </a:pPr>
            <a:r>
              <a:rPr lang="en-US" sz="2100" dirty="0">
                <a:solidFill>
                  <a:schemeClr val="bg1">
                    <a:lumMod val="50000"/>
                  </a:schemeClr>
                </a:solidFill>
              </a:rPr>
              <a:t>Dynamic Systems Development Method (DSDM)</a:t>
            </a:r>
          </a:p>
          <a:p>
            <a:pPr marL="1257300" lvl="2" indent="-342900">
              <a:buFont typeface="Arial" panose="020B0604020202020204" pitchFamily="34" charset="0"/>
              <a:buChar char="•"/>
            </a:pPr>
            <a:r>
              <a:rPr lang="en-US" sz="2100" dirty="0">
                <a:solidFill>
                  <a:schemeClr val="bg1">
                    <a:lumMod val="50000"/>
                  </a:schemeClr>
                </a:solidFill>
              </a:rPr>
              <a:t>Scrum</a:t>
            </a:r>
          </a:p>
          <a:p>
            <a:pPr marL="1257300" lvl="2" indent="-342900">
              <a:buFont typeface="Arial" panose="020B0604020202020204" pitchFamily="34" charset="0"/>
              <a:buChar char="•"/>
            </a:pPr>
            <a:r>
              <a:rPr lang="en-US" sz="2100" dirty="0">
                <a:solidFill>
                  <a:schemeClr val="bg1">
                    <a:lumMod val="50000"/>
                  </a:schemeClr>
                </a:solidFill>
              </a:rPr>
              <a:t>Feature Driven Development (FDD)</a:t>
            </a:r>
          </a:p>
          <a:p>
            <a:pPr marL="1257300" lvl="2" indent="-342900">
              <a:buFont typeface="Arial" panose="020B0604020202020204" pitchFamily="34" charset="0"/>
              <a:buChar char="•"/>
            </a:pPr>
            <a:r>
              <a:rPr lang="en-US" sz="2100" dirty="0">
                <a:solidFill>
                  <a:schemeClr val="bg1">
                    <a:lumMod val="50000"/>
                  </a:schemeClr>
                </a:solidFill>
              </a:rPr>
              <a:t>Crystal</a:t>
            </a:r>
          </a:p>
          <a:p>
            <a:pPr marL="1257300" lvl="2" indent="-342900">
              <a:buFont typeface="Arial" panose="020B0604020202020204" pitchFamily="34" charset="0"/>
              <a:buChar char="•"/>
            </a:pPr>
            <a:r>
              <a:rPr lang="en-US" sz="2100" dirty="0">
                <a:solidFill>
                  <a:schemeClr val="bg1">
                    <a:lumMod val="50000"/>
                  </a:schemeClr>
                </a:solidFill>
              </a:rPr>
              <a:t>Agile Modelling (AM)</a:t>
            </a:r>
          </a:p>
          <a:p>
            <a:pPr marL="1257300" lvl="2" indent="-342900">
              <a:buFont typeface="Arial" panose="020B0604020202020204" pitchFamily="34" charset="0"/>
              <a:buChar char="•"/>
            </a:pPr>
            <a:endParaRPr lang="en-US" sz="2400" dirty="0" smtClean="0">
              <a:solidFill>
                <a:schemeClr val="bg1">
                  <a:lumMod val="50000"/>
                </a:schemeClr>
              </a:solidFill>
            </a:endParaRPr>
          </a:p>
        </p:txBody>
      </p:sp>
    </p:spTree>
    <p:extLst>
      <p:ext uri="{BB962C8B-B14F-4D97-AF65-F5344CB8AC3E}">
        <p14:creationId xmlns:p14="http://schemas.microsoft.com/office/powerpoint/2010/main" val="10397491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00"/>
                                        <p:tgtEl>
                                          <p:spTgt spid="8"/>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up)">
                                      <p:cBhvr>
                                        <p:cTn id="24" dur="500"/>
                                        <p:tgtEl>
                                          <p:spTgt spid="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animEffect transition="in" filter="fade">
                                      <p:cBhvr>
                                        <p:cTn id="32" dur="500"/>
                                        <p:tgtEl>
                                          <p:spTgt spid="1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1" end="1"/>
                                            </p:txEl>
                                          </p:spTgt>
                                        </p:tgtEl>
                                        <p:attrNameLst>
                                          <p:attrName>style.visibility</p:attrName>
                                        </p:attrNameLst>
                                      </p:cBhvr>
                                      <p:to>
                                        <p:strVal val="visible"/>
                                      </p:to>
                                    </p:set>
                                    <p:animEffect transition="in" filter="fade">
                                      <p:cBhvr>
                                        <p:cTn id="37" dur="500"/>
                                        <p:tgtEl>
                                          <p:spTgt spid="10">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500"/>
                                        <p:tgtEl>
                                          <p:spTgt spid="10">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
                                            <p:txEl>
                                              <p:pRg st="3" end="3"/>
                                            </p:txEl>
                                          </p:spTgt>
                                        </p:tgtEl>
                                        <p:attrNameLst>
                                          <p:attrName>style.visibility</p:attrName>
                                        </p:attrNameLst>
                                      </p:cBhvr>
                                      <p:to>
                                        <p:strVal val="visible"/>
                                      </p:to>
                                    </p:set>
                                    <p:animEffect transition="in" filter="fade">
                                      <p:cBhvr>
                                        <p:cTn id="47" dur="500"/>
                                        <p:tgtEl>
                                          <p:spTgt spid="10">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
                                            <p:txEl>
                                              <p:pRg st="4" end="4"/>
                                            </p:txEl>
                                          </p:spTgt>
                                        </p:tgtEl>
                                        <p:attrNameLst>
                                          <p:attrName>style.visibility</p:attrName>
                                        </p:attrNameLst>
                                      </p:cBhvr>
                                      <p:to>
                                        <p:strVal val="visible"/>
                                      </p:to>
                                    </p:set>
                                    <p:animEffect transition="in" filter="fade">
                                      <p:cBhvr>
                                        <p:cTn id="52" dur="500"/>
                                        <p:tgtEl>
                                          <p:spTgt spid="10">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
                                            <p:txEl>
                                              <p:pRg st="5" end="5"/>
                                            </p:txEl>
                                          </p:spTgt>
                                        </p:tgtEl>
                                        <p:attrNameLst>
                                          <p:attrName>style.visibility</p:attrName>
                                        </p:attrNameLst>
                                      </p:cBhvr>
                                      <p:to>
                                        <p:strVal val="visible"/>
                                      </p:to>
                                    </p:set>
                                    <p:animEffect transition="in" filter="fade">
                                      <p:cBhvr>
                                        <p:cTn id="57" dur="500"/>
                                        <p:tgtEl>
                                          <p:spTgt spid="10">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
                                            <p:txEl>
                                              <p:pRg st="6" end="6"/>
                                            </p:txEl>
                                          </p:spTgt>
                                        </p:tgtEl>
                                        <p:attrNameLst>
                                          <p:attrName>style.visibility</p:attrName>
                                        </p:attrNameLst>
                                      </p:cBhvr>
                                      <p:to>
                                        <p:strVal val="visible"/>
                                      </p:to>
                                    </p:set>
                                    <p:animEffect transition="in" filter="fade">
                                      <p:cBhvr>
                                        <p:cTn id="62" dur="500"/>
                                        <p:tgtEl>
                                          <p:spTgt spid="10">
                                            <p:txEl>
                                              <p:pRg st="6" end="6"/>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10">
                                            <p:txEl>
                                              <p:pRg st="7" end="7"/>
                                            </p:txEl>
                                          </p:spTgt>
                                        </p:tgtEl>
                                        <p:attrNameLst>
                                          <p:attrName>style.visibility</p:attrName>
                                        </p:attrNameLst>
                                      </p:cBhvr>
                                      <p:to>
                                        <p:strVal val="visible"/>
                                      </p:to>
                                    </p:set>
                                    <p:animEffect transition="in" filter="fade">
                                      <p:cBhvr>
                                        <p:cTn id="65" dur="500"/>
                                        <p:tgtEl>
                                          <p:spTgt spid="10">
                                            <p:txEl>
                                              <p:pRg st="7" end="7"/>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10">
                                            <p:txEl>
                                              <p:pRg st="8" end="8"/>
                                            </p:txEl>
                                          </p:spTgt>
                                        </p:tgtEl>
                                        <p:attrNameLst>
                                          <p:attrName>style.visibility</p:attrName>
                                        </p:attrNameLst>
                                      </p:cBhvr>
                                      <p:to>
                                        <p:strVal val="visible"/>
                                      </p:to>
                                    </p:set>
                                    <p:animEffect transition="in" filter="fade">
                                      <p:cBhvr>
                                        <p:cTn id="68" dur="500"/>
                                        <p:tgtEl>
                                          <p:spTgt spid="10">
                                            <p:txEl>
                                              <p:pRg st="8" end="8"/>
                                            </p:txEl>
                                          </p:spTgt>
                                        </p:tgtEl>
                                      </p:cBhvr>
                                    </p:animEffect>
                                  </p:childTnLst>
                                </p:cTn>
                              </p:par>
                              <p:par>
                                <p:cTn id="69" presetID="10" presetClass="entr" presetSubtype="0" fill="hold" nodeType="withEffect">
                                  <p:stCondLst>
                                    <p:cond delay="0"/>
                                  </p:stCondLst>
                                  <p:childTnLst>
                                    <p:set>
                                      <p:cBhvr>
                                        <p:cTn id="70" dur="1" fill="hold">
                                          <p:stCondLst>
                                            <p:cond delay="0"/>
                                          </p:stCondLst>
                                        </p:cTn>
                                        <p:tgtEl>
                                          <p:spTgt spid="10">
                                            <p:txEl>
                                              <p:pRg st="9" end="9"/>
                                            </p:txEl>
                                          </p:spTgt>
                                        </p:tgtEl>
                                        <p:attrNameLst>
                                          <p:attrName>style.visibility</p:attrName>
                                        </p:attrNameLst>
                                      </p:cBhvr>
                                      <p:to>
                                        <p:strVal val="visible"/>
                                      </p:to>
                                    </p:set>
                                    <p:animEffect transition="in" filter="fade">
                                      <p:cBhvr>
                                        <p:cTn id="71" dur="500"/>
                                        <p:tgtEl>
                                          <p:spTgt spid="10">
                                            <p:txEl>
                                              <p:pRg st="9" end="9"/>
                                            </p:txEl>
                                          </p:spTgt>
                                        </p:tgtEl>
                                      </p:cBhvr>
                                    </p:animEffect>
                                  </p:childTnLst>
                                </p:cTn>
                              </p:par>
                              <p:par>
                                <p:cTn id="72" presetID="10" presetClass="entr" presetSubtype="0" fill="hold" nodeType="withEffect">
                                  <p:stCondLst>
                                    <p:cond delay="0"/>
                                  </p:stCondLst>
                                  <p:childTnLst>
                                    <p:set>
                                      <p:cBhvr>
                                        <p:cTn id="73" dur="1" fill="hold">
                                          <p:stCondLst>
                                            <p:cond delay="0"/>
                                          </p:stCondLst>
                                        </p:cTn>
                                        <p:tgtEl>
                                          <p:spTgt spid="10">
                                            <p:txEl>
                                              <p:pRg st="10" end="10"/>
                                            </p:txEl>
                                          </p:spTgt>
                                        </p:tgtEl>
                                        <p:attrNameLst>
                                          <p:attrName>style.visibility</p:attrName>
                                        </p:attrNameLst>
                                      </p:cBhvr>
                                      <p:to>
                                        <p:strVal val="visible"/>
                                      </p:to>
                                    </p:set>
                                    <p:animEffect transition="in" filter="fade">
                                      <p:cBhvr>
                                        <p:cTn id="74" dur="500"/>
                                        <p:tgtEl>
                                          <p:spTgt spid="10">
                                            <p:txEl>
                                              <p:pRg st="10" end="10"/>
                                            </p:txEl>
                                          </p:spTgt>
                                        </p:tgtEl>
                                      </p:cBhvr>
                                    </p:animEffect>
                                  </p:childTnLst>
                                </p:cTn>
                              </p:par>
                              <p:par>
                                <p:cTn id="75" presetID="10" presetClass="entr" presetSubtype="0" fill="hold" nodeType="withEffect">
                                  <p:stCondLst>
                                    <p:cond delay="0"/>
                                  </p:stCondLst>
                                  <p:childTnLst>
                                    <p:set>
                                      <p:cBhvr>
                                        <p:cTn id="76" dur="1" fill="hold">
                                          <p:stCondLst>
                                            <p:cond delay="0"/>
                                          </p:stCondLst>
                                        </p:cTn>
                                        <p:tgtEl>
                                          <p:spTgt spid="10">
                                            <p:txEl>
                                              <p:pRg st="11" end="11"/>
                                            </p:txEl>
                                          </p:spTgt>
                                        </p:tgtEl>
                                        <p:attrNameLst>
                                          <p:attrName>style.visibility</p:attrName>
                                        </p:attrNameLst>
                                      </p:cBhvr>
                                      <p:to>
                                        <p:strVal val="visible"/>
                                      </p:to>
                                    </p:set>
                                    <p:animEffect transition="in" filter="fade">
                                      <p:cBhvr>
                                        <p:cTn id="77" dur="500"/>
                                        <p:tgtEl>
                                          <p:spTgt spid="10">
                                            <p:txEl>
                                              <p:pRg st="11" end="11"/>
                                            </p:txEl>
                                          </p:spTgt>
                                        </p:tgtEl>
                                      </p:cBhvr>
                                    </p:animEffect>
                                  </p:childTnLst>
                                </p:cTn>
                              </p:par>
                              <p:par>
                                <p:cTn id="78" presetID="10" presetClass="entr" presetSubtype="0" fill="hold" nodeType="withEffect">
                                  <p:stCondLst>
                                    <p:cond delay="0"/>
                                  </p:stCondLst>
                                  <p:childTnLst>
                                    <p:set>
                                      <p:cBhvr>
                                        <p:cTn id="79" dur="1" fill="hold">
                                          <p:stCondLst>
                                            <p:cond delay="0"/>
                                          </p:stCondLst>
                                        </p:cTn>
                                        <p:tgtEl>
                                          <p:spTgt spid="10">
                                            <p:txEl>
                                              <p:pRg st="12" end="12"/>
                                            </p:txEl>
                                          </p:spTgt>
                                        </p:tgtEl>
                                        <p:attrNameLst>
                                          <p:attrName>style.visibility</p:attrName>
                                        </p:attrNameLst>
                                      </p:cBhvr>
                                      <p:to>
                                        <p:strVal val="visible"/>
                                      </p:to>
                                    </p:set>
                                    <p:animEffect transition="in" filter="fade">
                                      <p:cBhvr>
                                        <p:cTn id="80" dur="500"/>
                                        <p:tgtEl>
                                          <p:spTgt spid="10">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Agility</a:t>
            </a:r>
          </a:p>
        </p:txBody>
      </p:sp>
      <p:sp>
        <p:nvSpPr>
          <p:cNvPr id="5" name="Content Placeholder 2"/>
          <p:cNvSpPr>
            <a:spLocks noGrp="1"/>
          </p:cNvSpPr>
          <p:nvPr>
            <p:ph idx="1"/>
          </p:nvPr>
        </p:nvSpPr>
        <p:spPr>
          <a:xfrm>
            <a:off x="161926" y="1990720"/>
            <a:ext cx="11710988" cy="4452938"/>
          </a:xfrm>
        </p:spPr>
        <p:txBody>
          <a:bodyPr/>
          <a:lstStyle/>
          <a:p>
            <a:r>
              <a:rPr lang="en-US" dirty="0" smtClean="0"/>
              <a:t>The </a:t>
            </a:r>
            <a:r>
              <a:rPr lang="en-US" dirty="0"/>
              <a:t>ability to </a:t>
            </a:r>
            <a:r>
              <a:rPr lang="en-US" b="1" dirty="0">
                <a:solidFill>
                  <a:schemeClr val="accent6"/>
                </a:solidFill>
              </a:rPr>
              <a:t>create</a:t>
            </a:r>
            <a:r>
              <a:rPr lang="en-US" dirty="0">
                <a:solidFill>
                  <a:schemeClr val="accent2"/>
                </a:solidFill>
              </a:rPr>
              <a:t> </a:t>
            </a:r>
            <a:r>
              <a:rPr lang="en-US" dirty="0"/>
              <a:t>and </a:t>
            </a:r>
            <a:r>
              <a:rPr lang="en-US" b="1" dirty="0">
                <a:solidFill>
                  <a:schemeClr val="accent6"/>
                </a:solidFill>
              </a:rPr>
              <a:t>respond</a:t>
            </a:r>
            <a:r>
              <a:rPr lang="en-US" dirty="0">
                <a:solidFill>
                  <a:schemeClr val="accent6"/>
                </a:solidFill>
              </a:rPr>
              <a:t> </a:t>
            </a:r>
            <a:r>
              <a:rPr lang="en-US" b="1" dirty="0">
                <a:solidFill>
                  <a:schemeClr val="accent6"/>
                </a:solidFill>
              </a:rPr>
              <a:t>to</a:t>
            </a:r>
            <a:r>
              <a:rPr lang="en-US" dirty="0">
                <a:solidFill>
                  <a:schemeClr val="accent6"/>
                </a:solidFill>
              </a:rPr>
              <a:t> </a:t>
            </a:r>
            <a:r>
              <a:rPr lang="en-US" b="1" dirty="0">
                <a:solidFill>
                  <a:schemeClr val="accent6"/>
                </a:solidFill>
              </a:rPr>
              <a:t>change</a:t>
            </a:r>
            <a:r>
              <a:rPr lang="en-US" dirty="0">
                <a:solidFill>
                  <a:schemeClr val="accent2"/>
                </a:solidFill>
              </a:rPr>
              <a:t> </a:t>
            </a:r>
            <a:r>
              <a:rPr lang="en-US" dirty="0"/>
              <a:t>in order to profit in a </a:t>
            </a:r>
            <a:r>
              <a:rPr lang="en-US" dirty="0" smtClean="0"/>
              <a:t>unstable </a:t>
            </a:r>
            <a:r>
              <a:rPr lang="en-US" dirty="0"/>
              <a:t>global business </a:t>
            </a:r>
            <a:r>
              <a:rPr lang="en-US" dirty="0" smtClean="0"/>
              <a:t>environment.</a:t>
            </a:r>
          </a:p>
          <a:p>
            <a:r>
              <a:rPr lang="en-US" dirty="0"/>
              <a:t>The ability to </a:t>
            </a:r>
            <a:r>
              <a:rPr lang="en-US" b="1" dirty="0">
                <a:solidFill>
                  <a:schemeClr val="accent6"/>
                </a:solidFill>
              </a:rPr>
              <a:t>quickly reprioritize</a:t>
            </a:r>
            <a:r>
              <a:rPr lang="en-US" dirty="0">
                <a:solidFill>
                  <a:schemeClr val="accent6"/>
                </a:solidFill>
              </a:rPr>
              <a:t> </a:t>
            </a:r>
            <a:r>
              <a:rPr lang="en-US" b="1" dirty="0">
                <a:solidFill>
                  <a:schemeClr val="accent6"/>
                </a:solidFill>
              </a:rPr>
              <a:t>use of resources</a:t>
            </a:r>
            <a:r>
              <a:rPr lang="en-US" dirty="0"/>
              <a:t> when requirements, technology, and knowledge </a:t>
            </a:r>
            <a:r>
              <a:rPr lang="en-US" dirty="0" smtClean="0"/>
              <a:t>shift.</a:t>
            </a:r>
          </a:p>
          <a:p>
            <a:r>
              <a:rPr lang="en-US" dirty="0"/>
              <a:t>A very </a:t>
            </a:r>
            <a:r>
              <a:rPr lang="en-US" b="1" dirty="0">
                <a:solidFill>
                  <a:schemeClr val="accent6"/>
                </a:solidFill>
              </a:rPr>
              <a:t>fast response to sudden</a:t>
            </a:r>
            <a:r>
              <a:rPr lang="en-US" dirty="0"/>
              <a:t> market </a:t>
            </a:r>
            <a:r>
              <a:rPr lang="en-US" b="1" dirty="0">
                <a:solidFill>
                  <a:schemeClr val="accent6"/>
                </a:solidFill>
              </a:rPr>
              <a:t>changes</a:t>
            </a:r>
            <a:r>
              <a:rPr lang="en-US" dirty="0">
                <a:solidFill>
                  <a:schemeClr val="accent2"/>
                </a:solidFill>
              </a:rPr>
              <a:t> </a:t>
            </a:r>
            <a:r>
              <a:rPr lang="en-US" dirty="0"/>
              <a:t>and emerging threats by intensive customer </a:t>
            </a:r>
            <a:r>
              <a:rPr lang="en-US" dirty="0" smtClean="0"/>
              <a:t>interaction.</a:t>
            </a:r>
          </a:p>
          <a:p>
            <a:r>
              <a:rPr lang="en-US" dirty="0"/>
              <a:t>Use of </a:t>
            </a:r>
            <a:r>
              <a:rPr lang="en-US" b="1" dirty="0">
                <a:solidFill>
                  <a:schemeClr val="accent6"/>
                </a:solidFill>
              </a:rPr>
              <a:t>evolutionary</a:t>
            </a:r>
            <a:r>
              <a:rPr lang="en-US" b="1" dirty="0"/>
              <a:t>,</a:t>
            </a:r>
            <a:r>
              <a:rPr lang="en-US" b="1" dirty="0">
                <a:solidFill>
                  <a:schemeClr val="accent6"/>
                </a:solidFill>
              </a:rPr>
              <a:t> incremental</a:t>
            </a:r>
            <a:r>
              <a:rPr lang="en-US" b="1" dirty="0"/>
              <a:t>,</a:t>
            </a:r>
            <a:r>
              <a:rPr lang="en-US" dirty="0"/>
              <a:t> and </a:t>
            </a:r>
            <a:r>
              <a:rPr lang="en-US" b="1" dirty="0">
                <a:solidFill>
                  <a:schemeClr val="accent6"/>
                </a:solidFill>
              </a:rPr>
              <a:t>iterative delivery</a:t>
            </a:r>
            <a:r>
              <a:rPr lang="en-US" dirty="0"/>
              <a:t> to converge on an optimal customer </a:t>
            </a:r>
            <a:r>
              <a:rPr lang="en-US" dirty="0" smtClean="0"/>
              <a:t>solution.</a:t>
            </a:r>
          </a:p>
          <a:p>
            <a:r>
              <a:rPr lang="en-US" dirty="0"/>
              <a:t>Maximizing </a:t>
            </a:r>
            <a:r>
              <a:rPr lang="en-US" b="1" dirty="0"/>
              <a:t>BUSINESS VALUE </a:t>
            </a:r>
            <a:r>
              <a:rPr lang="en-US" dirty="0"/>
              <a:t>with </a:t>
            </a:r>
            <a:r>
              <a:rPr lang="en-US" b="1" dirty="0">
                <a:solidFill>
                  <a:schemeClr val="accent6"/>
                </a:solidFill>
              </a:rPr>
              <a:t>right sized</a:t>
            </a:r>
            <a:r>
              <a:rPr lang="en-US" dirty="0"/>
              <a:t>, </a:t>
            </a:r>
            <a:r>
              <a:rPr lang="en-US" b="1" dirty="0">
                <a:solidFill>
                  <a:schemeClr val="accent6"/>
                </a:solidFill>
              </a:rPr>
              <a:t>just- enough</a:t>
            </a:r>
            <a:r>
              <a:rPr lang="en-US" dirty="0"/>
              <a:t>, and </a:t>
            </a:r>
            <a:r>
              <a:rPr lang="en-US" b="1" dirty="0">
                <a:solidFill>
                  <a:schemeClr val="accent6"/>
                </a:solidFill>
              </a:rPr>
              <a:t>just-in-time processes</a:t>
            </a:r>
            <a:r>
              <a:rPr lang="en-US" dirty="0"/>
              <a:t> and </a:t>
            </a:r>
            <a:r>
              <a:rPr lang="en-US" b="1" dirty="0" smtClean="0">
                <a:solidFill>
                  <a:schemeClr val="accent6"/>
                </a:solidFill>
              </a:rPr>
              <a:t>documentation</a:t>
            </a:r>
            <a:r>
              <a:rPr lang="en-US" dirty="0" smtClean="0"/>
              <a:t>.</a:t>
            </a:r>
            <a:endParaRPr lang="en-US" dirty="0"/>
          </a:p>
        </p:txBody>
      </p:sp>
      <p:sp>
        <p:nvSpPr>
          <p:cNvPr id="6" name="Rectangle 5"/>
          <p:cNvSpPr/>
          <p:nvPr/>
        </p:nvSpPr>
        <p:spPr>
          <a:xfrm>
            <a:off x="7924446" y="341869"/>
            <a:ext cx="4144083" cy="369332"/>
          </a:xfrm>
          <a:prstGeom prst="rect">
            <a:avLst/>
          </a:prstGeom>
        </p:spPr>
        <p:txBody>
          <a:bodyPr wrap="none">
            <a:spAutoFit/>
          </a:bodyPr>
          <a:lstStyle/>
          <a:p>
            <a:r>
              <a:rPr lang="en-US" dirty="0"/>
              <a:t>Agility is </a:t>
            </a:r>
            <a:r>
              <a:rPr lang="en-US" b="1" dirty="0"/>
              <a:t>ability to move quickly and easily</a:t>
            </a:r>
            <a:r>
              <a:rPr lang="en-US" dirty="0"/>
              <a:t>.</a:t>
            </a:r>
          </a:p>
        </p:txBody>
      </p:sp>
      <p:sp>
        <p:nvSpPr>
          <p:cNvPr id="8" name="Rounded Rectangular Callout 7"/>
          <p:cNvSpPr/>
          <p:nvPr/>
        </p:nvSpPr>
        <p:spPr>
          <a:xfrm>
            <a:off x="328613" y="1021353"/>
            <a:ext cx="11501437" cy="685800"/>
          </a:xfrm>
          <a:prstGeom prst="wedgeRoundRectCallout">
            <a:avLst>
              <a:gd name="adj1" fmla="val -41423"/>
              <a:gd name="adj2" fmla="val -132233"/>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It is a property consisting of </a:t>
            </a:r>
            <a:r>
              <a:rPr lang="en-US" sz="2800" b="1" dirty="0">
                <a:solidFill>
                  <a:schemeClr val="accent6"/>
                </a:solidFill>
              </a:rPr>
              <a:t>quickness</a:t>
            </a:r>
            <a:r>
              <a:rPr lang="en-US" sz="2800" dirty="0"/>
              <a:t>, </a:t>
            </a:r>
            <a:r>
              <a:rPr lang="en-US" sz="2800" b="1" dirty="0">
                <a:solidFill>
                  <a:schemeClr val="accent6"/>
                </a:solidFill>
              </a:rPr>
              <a:t>lightness</a:t>
            </a:r>
            <a:r>
              <a:rPr lang="en-US" sz="2800" dirty="0"/>
              <a:t>, &amp; </a:t>
            </a:r>
            <a:r>
              <a:rPr lang="en-US" sz="2800" b="1" dirty="0">
                <a:solidFill>
                  <a:schemeClr val="accent6"/>
                </a:solidFill>
              </a:rPr>
              <a:t>ease of movement</a:t>
            </a:r>
            <a:r>
              <a:rPr lang="en-US" sz="2800" dirty="0" smtClean="0"/>
              <a:t>.</a:t>
            </a:r>
            <a:endParaRPr lang="en-US" sz="2800" dirty="0"/>
          </a:p>
        </p:txBody>
      </p:sp>
    </p:spTree>
    <p:extLst>
      <p:ext uri="{BB962C8B-B14F-4D97-AF65-F5344CB8AC3E}">
        <p14:creationId xmlns:p14="http://schemas.microsoft.com/office/powerpoint/2010/main" val="188410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Agility? Cont.</a:t>
            </a:r>
          </a:p>
        </p:txBody>
      </p:sp>
      <p:sp>
        <p:nvSpPr>
          <p:cNvPr id="4" name="Rectangle 3"/>
          <p:cNvSpPr/>
          <p:nvPr/>
        </p:nvSpPr>
        <p:spPr>
          <a:xfrm>
            <a:off x="77912" y="817841"/>
            <a:ext cx="3036759" cy="17819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nvGrpSpPr>
          <p:cNvPr id="5" name="Group 4"/>
          <p:cNvGrpSpPr/>
          <p:nvPr/>
        </p:nvGrpSpPr>
        <p:grpSpPr>
          <a:xfrm>
            <a:off x="87927" y="801677"/>
            <a:ext cx="3026744" cy="1798134"/>
            <a:chOff x="342889" y="1579518"/>
            <a:chExt cx="8240413" cy="4895478"/>
          </a:xfrm>
        </p:grpSpPr>
        <p:pic>
          <p:nvPicPr>
            <p:cNvPr id="6" name="Picture 2" descr="Image result for effective communica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889" y="1641231"/>
              <a:ext cx="8240413" cy="48337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53704" y="1579518"/>
              <a:ext cx="6172201" cy="852585"/>
            </a:xfrm>
            <a:prstGeom prst="rect">
              <a:avLst/>
            </a:prstGeom>
            <a:noFill/>
          </p:spPr>
          <p:txBody>
            <a:bodyPr wrap="square" rtlCol="0">
              <a:spAutoFit/>
            </a:bodyPr>
            <a:lstStyle/>
            <a:p>
              <a:r>
                <a:rPr lang="en-IN" b="1" dirty="0" smtClean="0">
                  <a:solidFill>
                    <a:schemeClr val="bg1"/>
                  </a:solidFill>
                </a:rPr>
                <a:t>Current Functionality</a:t>
              </a:r>
              <a:endParaRPr lang="en-IN" b="1" dirty="0">
                <a:solidFill>
                  <a:schemeClr val="bg1"/>
                </a:solidFill>
              </a:endParaRPr>
            </a:p>
          </p:txBody>
        </p:sp>
        <p:sp>
          <p:nvSpPr>
            <p:cNvPr id="8" name="TextBox 7"/>
            <p:cNvSpPr txBox="1"/>
            <p:nvPr/>
          </p:nvSpPr>
          <p:spPr>
            <a:xfrm>
              <a:off x="3117312" y="5325070"/>
              <a:ext cx="5143501" cy="852585"/>
            </a:xfrm>
            <a:prstGeom prst="rect">
              <a:avLst/>
            </a:prstGeom>
            <a:noFill/>
          </p:spPr>
          <p:txBody>
            <a:bodyPr wrap="square" rtlCol="0">
              <a:spAutoFit/>
            </a:bodyPr>
            <a:lstStyle/>
            <a:p>
              <a:pPr algn="r"/>
              <a:r>
                <a:rPr lang="en-IN" b="1" dirty="0" smtClean="0">
                  <a:solidFill>
                    <a:schemeClr val="bg1"/>
                  </a:solidFill>
                </a:rPr>
                <a:t>Change Request</a:t>
              </a:r>
              <a:endParaRPr lang="en-IN" b="1" dirty="0">
                <a:solidFill>
                  <a:schemeClr val="bg1"/>
                </a:solidFill>
              </a:endParaRPr>
            </a:p>
          </p:txBody>
        </p:sp>
      </p:grpSp>
      <p:sp>
        <p:nvSpPr>
          <p:cNvPr id="9" name="Rectangle 8"/>
          <p:cNvSpPr/>
          <p:nvPr/>
        </p:nvSpPr>
        <p:spPr>
          <a:xfrm>
            <a:off x="4963678" y="842952"/>
            <a:ext cx="2422958" cy="1927298"/>
          </a:xfrm>
          <a:prstGeom prst="rect">
            <a:avLst/>
          </a:prstGeom>
          <a:solidFill>
            <a:schemeClr val="bg1">
              <a:lumMod val="7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Rectangle 9"/>
          <p:cNvSpPr/>
          <p:nvPr/>
        </p:nvSpPr>
        <p:spPr>
          <a:xfrm>
            <a:off x="87927" y="2684522"/>
            <a:ext cx="1969469" cy="1930318"/>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Rectangle 10"/>
          <p:cNvSpPr/>
          <p:nvPr/>
        </p:nvSpPr>
        <p:spPr>
          <a:xfrm>
            <a:off x="3110398" y="817841"/>
            <a:ext cx="1724605" cy="17819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2" name="Rectangle 11"/>
          <p:cNvSpPr/>
          <p:nvPr/>
        </p:nvSpPr>
        <p:spPr>
          <a:xfrm>
            <a:off x="3279351" y="1107460"/>
            <a:ext cx="1385315" cy="1200329"/>
          </a:xfrm>
          <a:prstGeom prst="rect">
            <a:avLst/>
          </a:prstGeom>
        </p:spPr>
        <p:txBody>
          <a:bodyPr wrap="none">
            <a:spAutoFit/>
          </a:bodyPr>
          <a:lstStyle/>
          <a:p>
            <a:pPr algn="ctr"/>
            <a:r>
              <a:rPr lang="en-US" sz="2400" dirty="0">
                <a:solidFill>
                  <a:srgbClr val="000000"/>
                </a:solidFill>
              </a:rPr>
              <a:t>Effective </a:t>
            </a:r>
            <a:endParaRPr lang="en-US" sz="2400" dirty="0" smtClean="0">
              <a:solidFill>
                <a:srgbClr val="000000"/>
              </a:solidFill>
            </a:endParaRPr>
          </a:p>
          <a:p>
            <a:pPr algn="ctr"/>
            <a:r>
              <a:rPr lang="en-US" sz="2400" dirty="0" smtClean="0">
                <a:solidFill>
                  <a:srgbClr val="000000"/>
                </a:solidFill>
              </a:rPr>
              <a:t>response </a:t>
            </a:r>
          </a:p>
          <a:p>
            <a:pPr algn="ctr"/>
            <a:r>
              <a:rPr lang="en-US" sz="2400" dirty="0" smtClean="0">
                <a:solidFill>
                  <a:srgbClr val="000000"/>
                </a:solidFill>
              </a:rPr>
              <a:t>to change</a:t>
            </a:r>
            <a:endParaRPr lang="en-US" sz="2400" dirty="0">
              <a:solidFill>
                <a:srgbClr val="000000"/>
              </a:solidFill>
            </a:endParaRPr>
          </a:p>
        </p:txBody>
      </p:sp>
      <p:sp>
        <p:nvSpPr>
          <p:cNvPr id="13" name="Rectangle 12"/>
          <p:cNvSpPr/>
          <p:nvPr/>
        </p:nvSpPr>
        <p:spPr>
          <a:xfrm>
            <a:off x="4963679" y="2770250"/>
            <a:ext cx="2422958" cy="18445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4" name="Rectangle 13"/>
          <p:cNvSpPr/>
          <p:nvPr/>
        </p:nvSpPr>
        <p:spPr>
          <a:xfrm>
            <a:off x="5123703" y="2871902"/>
            <a:ext cx="2137124" cy="1569660"/>
          </a:xfrm>
          <a:prstGeom prst="rect">
            <a:avLst/>
          </a:prstGeom>
        </p:spPr>
        <p:txBody>
          <a:bodyPr wrap="none">
            <a:spAutoFit/>
          </a:bodyPr>
          <a:lstStyle/>
          <a:p>
            <a:pPr algn="ctr"/>
            <a:r>
              <a:rPr lang="en-IN" sz="2400" dirty="0">
                <a:solidFill>
                  <a:srgbClr val="000000"/>
                </a:solidFill>
              </a:rPr>
              <a:t>Effective </a:t>
            </a:r>
            <a:endParaRPr lang="en-IN" sz="2400" dirty="0" smtClean="0">
              <a:solidFill>
                <a:srgbClr val="000000"/>
              </a:solidFill>
            </a:endParaRPr>
          </a:p>
          <a:p>
            <a:pPr algn="ctr"/>
            <a:r>
              <a:rPr lang="en-IN" sz="2400" dirty="0" smtClean="0">
                <a:solidFill>
                  <a:srgbClr val="000000"/>
                </a:solidFill>
              </a:rPr>
              <a:t>communication </a:t>
            </a:r>
          </a:p>
          <a:p>
            <a:pPr algn="ctr"/>
            <a:r>
              <a:rPr lang="en-IN" sz="2400" dirty="0" smtClean="0">
                <a:solidFill>
                  <a:srgbClr val="000000"/>
                </a:solidFill>
              </a:rPr>
              <a:t>among </a:t>
            </a:r>
            <a:r>
              <a:rPr lang="en-IN" sz="2400" dirty="0">
                <a:solidFill>
                  <a:srgbClr val="000000"/>
                </a:solidFill>
              </a:rPr>
              <a:t>all </a:t>
            </a:r>
            <a:endParaRPr lang="en-IN" sz="2400" dirty="0" smtClean="0">
              <a:solidFill>
                <a:srgbClr val="000000"/>
              </a:solidFill>
            </a:endParaRPr>
          </a:p>
          <a:p>
            <a:pPr algn="ctr"/>
            <a:r>
              <a:rPr lang="en-IN" sz="2400" dirty="0" smtClean="0">
                <a:solidFill>
                  <a:srgbClr val="000000"/>
                </a:solidFill>
              </a:rPr>
              <a:t>stakeholders</a:t>
            </a:r>
            <a:endParaRPr lang="en-IN" sz="2400" dirty="0">
              <a:solidFill>
                <a:srgbClr val="000000"/>
              </a:solidFill>
            </a:endParaRP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05432" y="958089"/>
            <a:ext cx="1698874" cy="1698874"/>
          </a:xfrm>
          <a:prstGeom prst="rect">
            <a:avLst/>
          </a:prstGeom>
        </p:spPr>
      </p:pic>
      <p:sp>
        <p:nvSpPr>
          <p:cNvPr id="16" name="Rectangle 15"/>
          <p:cNvSpPr/>
          <p:nvPr/>
        </p:nvSpPr>
        <p:spPr>
          <a:xfrm>
            <a:off x="2057396" y="2684523"/>
            <a:ext cx="2777607" cy="193031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7" name="Rectangle 16"/>
          <p:cNvSpPr/>
          <p:nvPr/>
        </p:nvSpPr>
        <p:spPr>
          <a:xfrm>
            <a:off x="2188936" y="2850504"/>
            <a:ext cx="2459376" cy="1569660"/>
          </a:xfrm>
          <a:prstGeom prst="rect">
            <a:avLst/>
          </a:prstGeom>
        </p:spPr>
        <p:txBody>
          <a:bodyPr wrap="square">
            <a:spAutoFit/>
          </a:bodyPr>
          <a:lstStyle/>
          <a:p>
            <a:pPr algn="ctr"/>
            <a:r>
              <a:rPr lang="en-US" sz="2400" dirty="0">
                <a:solidFill>
                  <a:srgbClr val="000000"/>
                </a:solidFill>
              </a:rPr>
              <a:t>Organizing </a:t>
            </a:r>
            <a:r>
              <a:rPr lang="en-US" sz="2400" dirty="0" smtClean="0">
                <a:solidFill>
                  <a:srgbClr val="000000"/>
                </a:solidFill>
              </a:rPr>
              <a:t>a team </a:t>
            </a:r>
          </a:p>
          <a:p>
            <a:pPr algn="ctr"/>
            <a:r>
              <a:rPr lang="en-US" sz="2400" dirty="0" smtClean="0">
                <a:solidFill>
                  <a:srgbClr val="000000"/>
                </a:solidFill>
              </a:rPr>
              <a:t>so that it is in control to perform </a:t>
            </a:r>
          </a:p>
          <a:p>
            <a:pPr algn="ctr"/>
            <a:r>
              <a:rPr lang="en-US" sz="2400" dirty="0" smtClean="0">
                <a:solidFill>
                  <a:srgbClr val="000000"/>
                </a:solidFill>
              </a:rPr>
              <a:t>the </a:t>
            </a:r>
            <a:r>
              <a:rPr lang="en-US" sz="2400" dirty="0">
                <a:solidFill>
                  <a:srgbClr val="000000"/>
                </a:solidFill>
              </a:rPr>
              <a:t>work</a:t>
            </a:r>
          </a:p>
        </p:txBody>
      </p:sp>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4488" y="2779064"/>
            <a:ext cx="1675748" cy="1675748"/>
          </a:xfrm>
          <a:prstGeom prst="rect">
            <a:avLst/>
          </a:prstGeom>
        </p:spPr>
      </p:pic>
      <p:sp>
        <p:nvSpPr>
          <p:cNvPr id="19" name="Rectangle 18"/>
          <p:cNvSpPr/>
          <p:nvPr/>
        </p:nvSpPr>
        <p:spPr>
          <a:xfrm>
            <a:off x="94274" y="4725060"/>
            <a:ext cx="2814179" cy="1718283"/>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p:cNvGrpSpPr/>
          <p:nvPr/>
        </p:nvGrpSpPr>
        <p:grpSpPr>
          <a:xfrm>
            <a:off x="751859" y="4741484"/>
            <a:ext cx="2220974" cy="1701859"/>
            <a:chOff x="1957151" y="2266238"/>
            <a:chExt cx="5662546" cy="4339021"/>
          </a:xfrm>
        </p:grpSpPr>
        <p:pic>
          <p:nvPicPr>
            <p:cNvPr id="21" name="Picture 2" descr="Image result for customer in tea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57151" y="2266238"/>
              <a:ext cx="5662546" cy="4339021"/>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p:cNvSpPr txBox="1"/>
            <p:nvPr/>
          </p:nvSpPr>
          <p:spPr>
            <a:xfrm>
              <a:off x="2817603" y="5812961"/>
              <a:ext cx="3814128" cy="774126"/>
            </a:xfrm>
            <a:prstGeom prst="rect">
              <a:avLst/>
            </a:prstGeom>
            <a:noFill/>
          </p:spPr>
          <p:txBody>
            <a:bodyPr wrap="square" rtlCol="0">
              <a:spAutoFit/>
            </a:bodyPr>
            <a:lstStyle/>
            <a:p>
              <a:pPr algn="ctr"/>
              <a:r>
                <a:rPr lang="en-IN" b="1" dirty="0" smtClean="0">
                  <a:solidFill>
                    <a:srgbClr val="C00000"/>
                  </a:solidFill>
                </a:rPr>
                <a:t>Customer</a:t>
              </a:r>
              <a:endParaRPr lang="en-IN" b="1" dirty="0">
                <a:solidFill>
                  <a:srgbClr val="C00000"/>
                </a:solidFill>
              </a:endParaRPr>
            </a:p>
          </p:txBody>
        </p:sp>
      </p:grpSp>
      <p:sp>
        <p:nvSpPr>
          <p:cNvPr id="24" name="Rectangle 23"/>
          <p:cNvSpPr/>
          <p:nvPr/>
        </p:nvSpPr>
        <p:spPr>
          <a:xfrm>
            <a:off x="2908454" y="4725060"/>
            <a:ext cx="4478182" cy="171828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5" name="Rectangle 24"/>
          <p:cNvSpPr/>
          <p:nvPr/>
        </p:nvSpPr>
        <p:spPr>
          <a:xfrm>
            <a:off x="3050111" y="5010554"/>
            <a:ext cx="2081467" cy="1200329"/>
          </a:xfrm>
          <a:prstGeom prst="rect">
            <a:avLst/>
          </a:prstGeom>
        </p:spPr>
        <p:txBody>
          <a:bodyPr wrap="none">
            <a:spAutoFit/>
          </a:bodyPr>
          <a:lstStyle/>
          <a:p>
            <a:pPr algn="ctr"/>
            <a:r>
              <a:rPr lang="en-US" sz="2400" dirty="0"/>
              <a:t>Drawing the </a:t>
            </a:r>
            <a:endParaRPr lang="en-US" sz="2400" dirty="0" smtClean="0"/>
          </a:p>
          <a:p>
            <a:pPr algn="ctr"/>
            <a:r>
              <a:rPr lang="en-US" sz="2400" dirty="0" smtClean="0"/>
              <a:t>customer </a:t>
            </a:r>
            <a:r>
              <a:rPr lang="en-US" sz="2400" dirty="0"/>
              <a:t>onto </a:t>
            </a:r>
            <a:endParaRPr lang="en-US" sz="2400" dirty="0" smtClean="0"/>
          </a:p>
          <a:p>
            <a:pPr algn="ctr"/>
            <a:r>
              <a:rPr lang="en-US" sz="2400" dirty="0" smtClean="0"/>
              <a:t>the </a:t>
            </a:r>
            <a:r>
              <a:rPr lang="en-US" sz="2400" dirty="0"/>
              <a:t>team</a:t>
            </a:r>
            <a:endParaRPr lang="en-IN" sz="2400" dirty="0"/>
          </a:p>
        </p:txBody>
      </p:sp>
      <p:sp>
        <p:nvSpPr>
          <p:cNvPr id="26" name="Rectangle 25"/>
          <p:cNvSpPr/>
          <p:nvPr/>
        </p:nvSpPr>
        <p:spPr>
          <a:xfrm>
            <a:off x="5208856" y="5010554"/>
            <a:ext cx="2038997" cy="1200329"/>
          </a:xfrm>
          <a:prstGeom prst="rect">
            <a:avLst/>
          </a:prstGeom>
        </p:spPr>
        <p:txBody>
          <a:bodyPr wrap="square">
            <a:spAutoFit/>
          </a:bodyPr>
          <a:lstStyle/>
          <a:p>
            <a:pPr algn="ctr"/>
            <a:r>
              <a:rPr lang="en-US" sz="2400" dirty="0"/>
              <a:t>Eliminate the </a:t>
            </a:r>
            <a:endParaRPr lang="en-US" sz="2400" dirty="0" smtClean="0"/>
          </a:p>
          <a:p>
            <a:pPr algn="ctr"/>
            <a:r>
              <a:rPr lang="en-US" sz="2400" dirty="0" smtClean="0"/>
              <a:t>“</a:t>
            </a:r>
            <a:r>
              <a:rPr lang="en-US" sz="2400" dirty="0"/>
              <a:t>us and them” </a:t>
            </a:r>
            <a:endParaRPr lang="en-US" sz="2400" dirty="0" smtClean="0"/>
          </a:p>
          <a:p>
            <a:pPr algn="ctr"/>
            <a:r>
              <a:rPr lang="en-US" sz="2400" dirty="0" smtClean="0"/>
              <a:t>attitude</a:t>
            </a:r>
            <a:endParaRPr lang="en-IN" sz="2400" dirty="0"/>
          </a:p>
        </p:txBody>
      </p:sp>
      <p:sp>
        <p:nvSpPr>
          <p:cNvPr id="28" name="TextBox 27"/>
          <p:cNvSpPr txBox="1"/>
          <p:nvPr/>
        </p:nvSpPr>
        <p:spPr>
          <a:xfrm>
            <a:off x="40260" y="4514243"/>
            <a:ext cx="738664" cy="2192952"/>
          </a:xfrm>
          <a:prstGeom prst="rect">
            <a:avLst/>
          </a:prstGeom>
          <a:noFill/>
        </p:spPr>
        <p:txBody>
          <a:bodyPr vert="vert270" wrap="square" rtlCol="0">
            <a:spAutoFit/>
          </a:bodyPr>
          <a:lstStyle/>
          <a:p>
            <a:pPr algn="ctr"/>
            <a:r>
              <a:rPr lang="en-IN" b="1" dirty="0" smtClean="0">
                <a:solidFill>
                  <a:schemeClr val="bg1"/>
                </a:solidFill>
              </a:rPr>
              <a:t>Development </a:t>
            </a:r>
          </a:p>
          <a:p>
            <a:pPr algn="ctr"/>
            <a:r>
              <a:rPr lang="en-IN" b="1" dirty="0" smtClean="0">
                <a:solidFill>
                  <a:schemeClr val="bg1"/>
                </a:solidFill>
              </a:rPr>
              <a:t>Team</a:t>
            </a:r>
            <a:endParaRPr lang="en-IN" b="1" dirty="0">
              <a:solidFill>
                <a:schemeClr val="bg1"/>
              </a:solidFill>
            </a:endParaRPr>
          </a:p>
        </p:txBody>
      </p:sp>
      <p:cxnSp>
        <p:nvCxnSpPr>
          <p:cNvPr id="31" name="Straight Connector 30"/>
          <p:cNvCxnSpPr/>
          <p:nvPr/>
        </p:nvCxnSpPr>
        <p:spPr>
          <a:xfrm>
            <a:off x="5120280" y="4914900"/>
            <a:ext cx="0" cy="1341407"/>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7497847" y="846992"/>
            <a:ext cx="4592553" cy="48119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7497846" y="1388632"/>
            <a:ext cx="4592554" cy="4270307"/>
          </a:xfrm>
          <a:prstGeom prst="rect">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6" name="Rectangle 35"/>
          <p:cNvSpPr/>
          <p:nvPr/>
        </p:nvSpPr>
        <p:spPr>
          <a:xfrm>
            <a:off x="7574047" y="936255"/>
            <a:ext cx="4490953" cy="400110"/>
          </a:xfrm>
          <a:prstGeom prst="rect">
            <a:avLst/>
          </a:prstGeom>
        </p:spPr>
        <p:txBody>
          <a:bodyPr wrap="square">
            <a:spAutoFit/>
          </a:bodyPr>
          <a:lstStyle/>
          <a:p>
            <a:pPr algn="ctr"/>
            <a:r>
              <a:rPr lang="en-US" sz="2000" dirty="0">
                <a:solidFill>
                  <a:schemeClr val="bg1"/>
                </a:solidFill>
              </a:rPr>
              <a:t>Rapid and Incremental delivery of software</a:t>
            </a:r>
            <a:endParaRPr lang="en-IN" sz="2000" dirty="0">
              <a:solidFill>
                <a:schemeClr val="bg1"/>
              </a:solidFill>
            </a:endParaRPr>
          </a:p>
        </p:txBody>
      </p:sp>
      <p:pic>
        <p:nvPicPr>
          <p:cNvPr id="37" name="Picture 36"/>
          <p:cNvPicPr>
            <a:picLocks noChangeAspect="1"/>
          </p:cNvPicPr>
          <p:nvPr/>
        </p:nvPicPr>
        <p:blipFill rotWithShape="1">
          <a:blip r:embed="rId6" cstate="print">
            <a:extLst>
              <a:ext uri="{28A0092B-C50C-407E-A947-70E740481C1C}">
                <a14:useLocalDpi xmlns:a14="http://schemas.microsoft.com/office/drawing/2010/main" val="0"/>
              </a:ext>
            </a:extLst>
          </a:blip>
          <a:srcRect r="1412"/>
          <a:stretch/>
        </p:blipFill>
        <p:spPr>
          <a:xfrm>
            <a:off x="7571460" y="1669737"/>
            <a:ext cx="4429970" cy="1299650"/>
          </a:xfrm>
          <a:prstGeom prst="rect">
            <a:avLst/>
          </a:prstGeom>
        </p:spPr>
      </p:pic>
      <p:pic>
        <p:nvPicPr>
          <p:cNvPr id="38" name="Picture 37"/>
          <p:cNvPicPr>
            <a:picLocks noChangeAspect="1"/>
          </p:cNvPicPr>
          <p:nvPr/>
        </p:nvPicPr>
        <p:blipFill rotWithShape="1">
          <a:blip r:embed="rId7" cstate="print">
            <a:extLst>
              <a:ext uri="{28A0092B-C50C-407E-A947-70E740481C1C}">
                <a14:useLocalDpi xmlns:a14="http://schemas.microsoft.com/office/drawing/2010/main" val="0"/>
              </a:ext>
            </a:extLst>
          </a:blip>
          <a:srcRect r="1666"/>
          <a:stretch/>
        </p:blipFill>
        <p:spPr>
          <a:xfrm>
            <a:off x="7696439" y="3851780"/>
            <a:ext cx="4265078" cy="1411616"/>
          </a:xfrm>
          <a:prstGeom prst="rect">
            <a:avLst/>
          </a:prstGeom>
        </p:spPr>
      </p:pic>
      <p:cxnSp>
        <p:nvCxnSpPr>
          <p:cNvPr id="39" name="Straight Connector 38"/>
          <p:cNvCxnSpPr/>
          <p:nvPr/>
        </p:nvCxnSpPr>
        <p:spPr>
          <a:xfrm>
            <a:off x="7637546" y="3441785"/>
            <a:ext cx="435118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5623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11" grpId="0" animBg="1"/>
      <p:bldP spid="12" grpId="0"/>
      <p:bldP spid="13" grpId="0" animBg="1"/>
      <p:bldP spid="14" grpId="0"/>
      <p:bldP spid="16" grpId="0" animBg="1"/>
      <p:bldP spid="17" grpId="0"/>
      <p:bldP spid="19" grpId="0" animBg="1"/>
      <p:bldP spid="24" grpId="0" animBg="1"/>
      <p:bldP spid="25" grpId="0"/>
      <p:bldP spid="26" grpId="0"/>
      <p:bldP spid="34" grpId="0" animBg="1"/>
      <p:bldP spid="35" grpId="0" animBg="1"/>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Agile Process</a:t>
            </a:r>
            <a:endParaRPr lang="en-US" dirty="0"/>
          </a:p>
        </p:txBody>
      </p:sp>
      <p:sp>
        <p:nvSpPr>
          <p:cNvPr id="4" name="Content Placeholder 2"/>
          <p:cNvSpPr>
            <a:spLocks noGrp="1"/>
          </p:cNvSpPr>
          <p:nvPr>
            <p:ph idx="1"/>
          </p:nvPr>
        </p:nvSpPr>
        <p:spPr>
          <a:xfrm>
            <a:off x="190499" y="846908"/>
            <a:ext cx="11748951" cy="510406"/>
          </a:xfrm>
        </p:spPr>
        <p:txBody>
          <a:bodyPr/>
          <a:lstStyle/>
          <a:p>
            <a:r>
              <a:rPr lang="en-IN" dirty="0" smtClean="0"/>
              <a:t>Agile software process addresses </a:t>
            </a:r>
            <a:r>
              <a:rPr lang="en-IN" b="1" dirty="0" smtClean="0"/>
              <a:t>few assumptions</a:t>
            </a:r>
          </a:p>
          <a:p>
            <a:endParaRPr lang="en-US" dirty="0"/>
          </a:p>
        </p:txBody>
      </p:sp>
      <p:sp>
        <p:nvSpPr>
          <p:cNvPr id="6" name="Content Placeholder 2"/>
          <p:cNvSpPr txBox="1">
            <a:spLocks/>
          </p:cNvSpPr>
          <p:nvPr/>
        </p:nvSpPr>
        <p:spPr>
          <a:xfrm>
            <a:off x="190499" y="3701975"/>
            <a:ext cx="11748951" cy="45703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An agile </a:t>
            </a:r>
            <a:r>
              <a:rPr lang="en-IN" b="1" dirty="0">
                <a:solidFill>
                  <a:srgbClr val="C00000"/>
                </a:solidFill>
              </a:rPr>
              <a:t>process</a:t>
            </a:r>
            <a:r>
              <a:rPr lang="en-IN" dirty="0">
                <a:solidFill>
                  <a:srgbClr val="C00000"/>
                </a:solidFill>
              </a:rPr>
              <a:t> </a:t>
            </a:r>
            <a:r>
              <a:rPr lang="en-IN" dirty="0"/>
              <a:t>must </a:t>
            </a:r>
            <a:r>
              <a:rPr lang="en-IN" b="1" dirty="0">
                <a:solidFill>
                  <a:srgbClr val="C00000"/>
                </a:solidFill>
              </a:rPr>
              <a:t>adapt </a:t>
            </a:r>
            <a:r>
              <a:rPr lang="en-IN" dirty="0"/>
              <a:t>incrementally</a:t>
            </a:r>
            <a:r>
              <a:rPr lang="en-IN" dirty="0" smtClean="0"/>
              <a:t>.</a:t>
            </a:r>
            <a:endParaRPr lang="en-US" dirty="0"/>
          </a:p>
        </p:txBody>
      </p:sp>
      <p:sp>
        <p:nvSpPr>
          <p:cNvPr id="7" name="Content Placeholder 2"/>
          <p:cNvSpPr txBox="1">
            <a:spLocks/>
          </p:cNvSpPr>
          <p:nvPr/>
        </p:nvSpPr>
        <p:spPr>
          <a:xfrm>
            <a:off x="190498" y="4308622"/>
            <a:ext cx="11748951" cy="93033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 accomplish incremental adaptation, an agile team </a:t>
            </a:r>
            <a:r>
              <a:rPr lang="en-US" b="1" dirty="0">
                <a:solidFill>
                  <a:srgbClr val="C00000"/>
                </a:solidFill>
              </a:rPr>
              <a:t>requires customer feedback</a:t>
            </a:r>
            <a:r>
              <a:rPr lang="en-US" dirty="0"/>
              <a:t> (so that the appropriate adaptations can be made).</a:t>
            </a:r>
            <a:endParaRPr lang="en-IN" dirty="0"/>
          </a:p>
        </p:txBody>
      </p:sp>
      <p:sp>
        <p:nvSpPr>
          <p:cNvPr id="8" name="Rectangle 7"/>
          <p:cNvSpPr/>
          <p:nvPr/>
        </p:nvSpPr>
        <p:spPr>
          <a:xfrm>
            <a:off x="569050" y="2805346"/>
            <a:ext cx="11160988"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400" b="1" dirty="0" smtClean="0">
                <a:solidFill>
                  <a:srgbClr val="C00000"/>
                </a:solidFill>
              </a:rPr>
              <a:t>Analysis</a:t>
            </a:r>
            <a:r>
              <a:rPr lang="en-IN" sz="2400" b="1" dirty="0"/>
              <a:t>,</a:t>
            </a:r>
            <a:r>
              <a:rPr lang="en-IN" sz="2400" b="1" dirty="0">
                <a:solidFill>
                  <a:schemeClr val="accent2"/>
                </a:solidFill>
              </a:rPr>
              <a:t> </a:t>
            </a:r>
            <a:r>
              <a:rPr lang="en-IN" sz="2400" b="1" dirty="0">
                <a:solidFill>
                  <a:srgbClr val="C00000"/>
                </a:solidFill>
              </a:rPr>
              <a:t>design</a:t>
            </a:r>
            <a:r>
              <a:rPr lang="en-IN" sz="2400" b="1" dirty="0"/>
              <a:t>,</a:t>
            </a:r>
            <a:r>
              <a:rPr lang="en-IN" sz="2400" b="1" dirty="0">
                <a:solidFill>
                  <a:schemeClr val="accent2"/>
                </a:solidFill>
              </a:rPr>
              <a:t> </a:t>
            </a:r>
            <a:r>
              <a:rPr lang="en-IN" sz="2400" b="1" dirty="0">
                <a:solidFill>
                  <a:srgbClr val="C00000"/>
                </a:solidFill>
              </a:rPr>
              <a:t>construction</a:t>
            </a:r>
            <a:r>
              <a:rPr lang="en-IN" sz="2400" b="1" dirty="0">
                <a:solidFill>
                  <a:schemeClr val="accent2"/>
                </a:solidFill>
              </a:rPr>
              <a:t> </a:t>
            </a:r>
            <a:r>
              <a:rPr lang="en-IN" sz="2400" dirty="0"/>
              <a:t>and </a:t>
            </a:r>
            <a:r>
              <a:rPr lang="en-IN" sz="2400" b="1" dirty="0">
                <a:solidFill>
                  <a:srgbClr val="C00000"/>
                </a:solidFill>
              </a:rPr>
              <a:t>testing</a:t>
            </a:r>
            <a:r>
              <a:rPr lang="en-IN" sz="2400" dirty="0">
                <a:solidFill>
                  <a:schemeClr val="accent2"/>
                </a:solidFill>
              </a:rPr>
              <a:t> </a:t>
            </a:r>
            <a:r>
              <a:rPr lang="en-IN" sz="2400" dirty="0"/>
              <a:t>are </a:t>
            </a:r>
            <a:r>
              <a:rPr lang="en-IN" sz="2400" b="1" dirty="0">
                <a:solidFill>
                  <a:srgbClr val="C00000"/>
                </a:solidFill>
              </a:rPr>
              <a:t>not</a:t>
            </a:r>
            <a:r>
              <a:rPr lang="en-IN" sz="2400" dirty="0">
                <a:solidFill>
                  <a:schemeClr val="accent2"/>
                </a:solidFill>
              </a:rPr>
              <a:t> </a:t>
            </a:r>
            <a:r>
              <a:rPr lang="en-IN" sz="2400" dirty="0"/>
              <a:t>as </a:t>
            </a:r>
            <a:r>
              <a:rPr lang="en-IN" sz="2400" b="1" dirty="0">
                <a:solidFill>
                  <a:srgbClr val="C00000"/>
                </a:solidFill>
              </a:rPr>
              <a:t>predictable</a:t>
            </a:r>
            <a:r>
              <a:rPr lang="en-IN" sz="2400" dirty="0">
                <a:solidFill>
                  <a:schemeClr val="accent2"/>
                </a:solidFill>
              </a:rPr>
              <a:t> </a:t>
            </a:r>
            <a:r>
              <a:rPr lang="en-IN" sz="2400" dirty="0"/>
              <a:t>as we might like.</a:t>
            </a:r>
          </a:p>
        </p:txBody>
      </p:sp>
      <p:sp>
        <p:nvSpPr>
          <p:cNvPr id="9" name="Rectangle 8"/>
          <p:cNvSpPr/>
          <p:nvPr/>
        </p:nvSpPr>
        <p:spPr>
          <a:xfrm>
            <a:off x="569050" y="1464447"/>
            <a:ext cx="11160988"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400" b="1" dirty="0">
                <a:solidFill>
                  <a:srgbClr val="C00000"/>
                </a:solidFill>
              </a:rPr>
              <a:t>Difficulty in predicting changes</a:t>
            </a:r>
            <a:r>
              <a:rPr lang="en-IN" sz="2400" dirty="0"/>
              <a:t> of requirements and customer priorities.</a:t>
            </a:r>
          </a:p>
        </p:txBody>
      </p:sp>
      <p:sp>
        <p:nvSpPr>
          <p:cNvPr id="10" name="Rectangle 9"/>
          <p:cNvSpPr/>
          <p:nvPr/>
        </p:nvSpPr>
        <p:spPr>
          <a:xfrm>
            <a:off x="569050" y="2115483"/>
            <a:ext cx="11160988"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400" dirty="0"/>
              <a:t>For many types of software; </a:t>
            </a:r>
            <a:r>
              <a:rPr lang="en-IN" sz="2400" b="1" dirty="0">
                <a:solidFill>
                  <a:srgbClr val="C00000"/>
                </a:solidFill>
              </a:rPr>
              <a:t>design</a:t>
            </a:r>
            <a:r>
              <a:rPr lang="en-IN" sz="2400" dirty="0">
                <a:solidFill>
                  <a:schemeClr val="accent2"/>
                </a:solidFill>
              </a:rPr>
              <a:t> </a:t>
            </a:r>
            <a:r>
              <a:rPr lang="en-IN" sz="2400" dirty="0"/>
              <a:t>and </a:t>
            </a:r>
            <a:r>
              <a:rPr lang="en-IN" sz="2400" b="1" dirty="0">
                <a:solidFill>
                  <a:srgbClr val="C00000"/>
                </a:solidFill>
              </a:rPr>
              <a:t>construction</a:t>
            </a:r>
            <a:r>
              <a:rPr lang="en-IN" sz="2400" dirty="0">
                <a:solidFill>
                  <a:schemeClr val="accent2"/>
                </a:solidFill>
              </a:rPr>
              <a:t> </a:t>
            </a:r>
            <a:r>
              <a:rPr lang="en-IN" sz="2400" dirty="0"/>
              <a:t>are </a:t>
            </a:r>
            <a:r>
              <a:rPr lang="en-IN" sz="2400" b="1" dirty="0">
                <a:solidFill>
                  <a:srgbClr val="C00000"/>
                </a:solidFill>
              </a:rPr>
              <a:t>interleaved</a:t>
            </a:r>
            <a:r>
              <a:rPr lang="en-IN" sz="2400" dirty="0">
                <a:solidFill>
                  <a:schemeClr val="accent2"/>
                </a:solidFill>
              </a:rPr>
              <a:t> </a:t>
            </a:r>
            <a:r>
              <a:rPr lang="en-IN" sz="2400" dirty="0"/>
              <a:t>(mixed).</a:t>
            </a:r>
          </a:p>
        </p:txBody>
      </p:sp>
    </p:spTree>
    <p:extLst>
      <p:ext uri="{BB962C8B-B14F-4D97-AF65-F5344CB8AC3E}">
        <p14:creationId xmlns:p14="http://schemas.microsoft.com/office/powerpoint/2010/main" val="472902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P spid="7" grpId="0" build="p"/>
      <p:bldP spid="8"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178992" y="2691992"/>
            <a:ext cx="1740105" cy="1550010"/>
          </a:xfrm>
          <a:prstGeom prst="rect">
            <a:avLst/>
          </a:prstGeom>
        </p:spPr>
      </p:pic>
      <p:sp>
        <p:nvSpPr>
          <p:cNvPr id="2" name="Title 1"/>
          <p:cNvSpPr>
            <a:spLocks noGrp="1"/>
          </p:cNvSpPr>
          <p:nvPr>
            <p:ph type="title"/>
          </p:nvPr>
        </p:nvSpPr>
        <p:spPr/>
        <p:txBody>
          <a:bodyPr/>
          <a:lstStyle/>
          <a:p>
            <a:r>
              <a:rPr lang="en-US" dirty="0"/>
              <a:t>Agility Principles</a:t>
            </a:r>
          </a:p>
        </p:txBody>
      </p:sp>
      <p:sp>
        <p:nvSpPr>
          <p:cNvPr id="4" name="Content Placeholder 2"/>
          <p:cNvSpPr>
            <a:spLocks noGrp="1"/>
          </p:cNvSpPr>
          <p:nvPr>
            <p:ph idx="1"/>
          </p:nvPr>
        </p:nvSpPr>
        <p:spPr>
          <a:xfrm>
            <a:off x="190500" y="990600"/>
            <a:ext cx="11723594" cy="5334000"/>
          </a:xfrm>
        </p:spPr>
        <p:txBody>
          <a:bodyPr/>
          <a:lstStyle/>
          <a:p>
            <a:r>
              <a:rPr lang="en-IN" b="1" dirty="0">
                <a:solidFill>
                  <a:srgbClr val="C00000"/>
                </a:solidFill>
              </a:rPr>
              <a:t>Highest priority </a:t>
            </a:r>
            <a:r>
              <a:rPr lang="en-IN" dirty="0" smtClean="0"/>
              <a:t>is to </a:t>
            </a:r>
            <a:r>
              <a:rPr lang="en-IN" b="1" dirty="0">
                <a:solidFill>
                  <a:srgbClr val="C00000"/>
                </a:solidFill>
              </a:rPr>
              <a:t>satisfy</a:t>
            </a:r>
            <a:r>
              <a:rPr lang="en-IN" dirty="0"/>
              <a:t> the </a:t>
            </a:r>
            <a:r>
              <a:rPr lang="en-IN" b="1" dirty="0" smtClean="0">
                <a:solidFill>
                  <a:srgbClr val="C00000"/>
                </a:solidFill>
              </a:rPr>
              <a:t>customer</a:t>
            </a:r>
            <a:r>
              <a:rPr lang="en-IN" dirty="0" smtClean="0">
                <a:solidFill>
                  <a:srgbClr val="C00000"/>
                </a:solidFill>
              </a:rPr>
              <a:t> </a:t>
            </a:r>
            <a:r>
              <a:rPr lang="en-IN" dirty="0" smtClean="0"/>
              <a:t>through early &amp; </a:t>
            </a:r>
            <a:r>
              <a:rPr lang="en-IN" b="1" dirty="0" smtClean="0">
                <a:solidFill>
                  <a:srgbClr val="C00000"/>
                </a:solidFill>
              </a:rPr>
              <a:t>continuous</a:t>
            </a:r>
            <a:r>
              <a:rPr lang="en-IN" dirty="0" smtClean="0">
                <a:solidFill>
                  <a:srgbClr val="C00000"/>
                </a:solidFill>
              </a:rPr>
              <a:t> </a:t>
            </a:r>
            <a:r>
              <a:rPr lang="en-IN" b="1" dirty="0" smtClean="0">
                <a:solidFill>
                  <a:srgbClr val="C00000"/>
                </a:solidFill>
              </a:rPr>
              <a:t>delivery</a:t>
            </a:r>
            <a:r>
              <a:rPr lang="en-IN" dirty="0" smtClean="0">
                <a:solidFill>
                  <a:srgbClr val="C00000"/>
                </a:solidFill>
              </a:rPr>
              <a:t> </a:t>
            </a:r>
            <a:r>
              <a:rPr lang="en-IN" dirty="0"/>
              <a:t>o</a:t>
            </a:r>
            <a:r>
              <a:rPr lang="en-IN" dirty="0" smtClean="0"/>
              <a:t>f </a:t>
            </a:r>
            <a:r>
              <a:rPr lang="en-IN" b="1" dirty="0" smtClean="0">
                <a:solidFill>
                  <a:srgbClr val="C00000"/>
                </a:solidFill>
              </a:rPr>
              <a:t>software</a:t>
            </a:r>
          </a:p>
          <a:p>
            <a:r>
              <a:rPr lang="en-IN" b="1" dirty="0" smtClean="0">
                <a:solidFill>
                  <a:srgbClr val="C00000"/>
                </a:solidFill>
              </a:rPr>
              <a:t>Welcome changing</a:t>
            </a:r>
            <a:r>
              <a:rPr lang="en-IN" dirty="0" smtClean="0"/>
              <a:t> requirements</a:t>
            </a:r>
          </a:p>
          <a:p>
            <a:r>
              <a:rPr lang="en-IN" b="1" dirty="0">
                <a:solidFill>
                  <a:srgbClr val="C00000"/>
                </a:solidFill>
              </a:rPr>
              <a:t>Deliver</a:t>
            </a:r>
            <a:r>
              <a:rPr lang="en-IN" dirty="0">
                <a:solidFill>
                  <a:srgbClr val="C00000"/>
                </a:solidFill>
              </a:rPr>
              <a:t> </a:t>
            </a:r>
            <a:r>
              <a:rPr lang="en-IN" dirty="0"/>
              <a:t>working </a:t>
            </a:r>
            <a:r>
              <a:rPr lang="en-IN" b="1" dirty="0">
                <a:solidFill>
                  <a:srgbClr val="C00000"/>
                </a:solidFill>
              </a:rPr>
              <a:t>software</a:t>
            </a:r>
            <a:r>
              <a:rPr lang="en-IN" dirty="0">
                <a:solidFill>
                  <a:srgbClr val="C00000"/>
                </a:solidFill>
              </a:rPr>
              <a:t> </a:t>
            </a:r>
            <a:r>
              <a:rPr lang="en-IN" b="1" dirty="0" smtClean="0">
                <a:solidFill>
                  <a:srgbClr val="C00000"/>
                </a:solidFill>
              </a:rPr>
              <a:t>frequently</a:t>
            </a:r>
          </a:p>
          <a:p>
            <a:r>
              <a:rPr lang="en-IN" b="1" dirty="0">
                <a:solidFill>
                  <a:srgbClr val="C00000"/>
                </a:solidFill>
              </a:rPr>
              <a:t>Business people</a:t>
            </a:r>
            <a:r>
              <a:rPr lang="en-IN" dirty="0"/>
              <a:t> and </a:t>
            </a:r>
            <a:r>
              <a:rPr lang="en-IN" b="1" dirty="0">
                <a:solidFill>
                  <a:srgbClr val="C00000"/>
                </a:solidFill>
              </a:rPr>
              <a:t>developers</a:t>
            </a:r>
            <a:r>
              <a:rPr lang="en-IN" dirty="0">
                <a:solidFill>
                  <a:srgbClr val="C00000"/>
                </a:solidFill>
              </a:rPr>
              <a:t> </a:t>
            </a:r>
            <a:r>
              <a:rPr lang="en-IN" dirty="0"/>
              <a:t>must </a:t>
            </a:r>
            <a:r>
              <a:rPr lang="en-IN" b="1" dirty="0">
                <a:solidFill>
                  <a:srgbClr val="C00000"/>
                </a:solidFill>
              </a:rPr>
              <a:t>work together</a:t>
            </a:r>
          </a:p>
          <a:p>
            <a:r>
              <a:rPr lang="en-IN" b="1" dirty="0">
                <a:solidFill>
                  <a:srgbClr val="C00000"/>
                </a:solidFill>
              </a:rPr>
              <a:t>Build</a:t>
            </a:r>
            <a:r>
              <a:rPr lang="en-IN" dirty="0">
                <a:solidFill>
                  <a:srgbClr val="C00000"/>
                </a:solidFill>
              </a:rPr>
              <a:t> </a:t>
            </a:r>
            <a:r>
              <a:rPr lang="en-IN" dirty="0"/>
              <a:t>projects </a:t>
            </a:r>
            <a:r>
              <a:rPr lang="en-IN" b="1" dirty="0">
                <a:solidFill>
                  <a:srgbClr val="C00000"/>
                </a:solidFill>
              </a:rPr>
              <a:t>around motivated</a:t>
            </a:r>
            <a:r>
              <a:rPr lang="en-IN" dirty="0"/>
              <a:t> individuals</a:t>
            </a:r>
          </a:p>
          <a:p>
            <a:r>
              <a:rPr lang="en-IN" dirty="0"/>
              <a:t>Emphasize</a:t>
            </a:r>
            <a:r>
              <a:rPr lang="en-IN" b="1" dirty="0">
                <a:solidFill>
                  <a:srgbClr val="C00000"/>
                </a:solidFill>
              </a:rPr>
              <a:t> face-to-face conversation</a:t>
            </a:r>
          </a:p>
          <a:p>
            <a:r>
              <a:rPr lang="en-IN" b="1" dirty="0" smtClean="0">
                <a:solidFill>
                  <a:srgbClr val="C00000"/>
                </a:solidFill>
              </a:rPr>
              <a:t>Working software </a:t>
            </a:r>
            <a:r>
              <a:rPr lang="en-IN" dirty="0" smtClean="0"/>
              <a:t>is the </a:t>
            </a:r>
            <a:r>
              <a:rPr lang="en-IN" b="1" dirty="0" smtClean="0">
                <a:solidFill>
                  <a:srgbClr val="C00000"/>
                </a:solidFill>
              </a:rPr>
              <a:t>measure</a:t>
            </a:r>
            <a:r>
              <a:rPr lang="en-IN" dirty="0" smtClean="0">
                <a:solidFill>
                  <a:srgbClr val="C00000"/>
                </a:solidFill>
              </a:rPr>
              <a:t> </a:t>
            </a:r>
            <a:r>
              <a:rPr lang="en-IN" dirty="0" smtClean="0"/>
              <a:t>of </a:t>
            </a:r>
            <a:r>
              <a:rPr lang="en-IN" b="1" dirty="0" smtClean="0">
                <a:solidFill>
                  <a:srgbClr val="C00000"/>
                </a:solidFill>
              </a:rPr>
              <a:t>progress</a:t>
            </a:r>
          </a:p>
          <a:p>
            <a:r>
              <a:rPr lang="en-IN" dirty="0"/>
              <a:t>Continuous </a:t>
            </a:r>
            <a:r>
              <a:rPr lang="en-IN" b="1" dirty="0">
                <a:solidFill>
                  <a:srgbClr val="C00000"/>
                </a:solidFill>
              </a:rPr>
              <a:t>attention</a:t>
            </a:r>
            <a:r>
              <a:rPr lang="en-IN" dirty="0">
                <a:solidFill>
                  <a:srgbClr val="C00000"/>
                </a:solidFill>
              </a:rPr>
              <a:t> </a:t>
            </a:r>
            <a:r>
              <a:rPr lang="en-IN" dirty="0"/>
              <a:t>to </a:t>
            </a:r>
            <a:r>
              <a:rPr lang="en-IN" b="1" dirty="0">
                <a:solidFill>
                  <a:srgbClr val="C00000"/>
                </a:solidFill>
              </a:rPr>
              <a:t>technical excellence</a:t>
            </a:r>
            <a:r>
              <a:rPr lang="en-IN" dirty="0"/>
              <a:t> and </a:t>
            </a:r>
            <a:r>
              <a:rPr lang="en-IN" b="1" dirty="0">
                <a:solidFill>
                  <a:srgbClr val="C00000"/>
                </a:solidFill>
              </a:rPr>
              <a:t>good </a:t>
            </a:r>
            <a:r>
              <a:rPr lang="en-IN" b="1" dirty="0" smtClean="0">
                <a:solidFill>
                  <a:srgbClr val="C00000"/>
                </a:solidFill>
              </a:rPr>
              <a:t>design</a:t>
            </a:r>
          </a:p>
          <a:p>
            <a:r>
              <a:rPr lang="en-IN" b="1" dirty="0">
                <a:solidFill>
                  <a:srgbClr val="C00000"/>
                </a:solidFill>
              </a:rPr>
              <a:t>Simplicity</a:t>
            </a:r>
            <a:r>
              <a:rPr lang="en-IN" dirty="0">
                <a:solidFill>
                  <a:srgbClr val="C00000"/>
                </a:solidFill>
              </a:rPr>
              <a:t> </a:t>
            </a:r>
            <a:r>
              <a:rPr lang="en-IN" dirty="0"/>
              <a:t>– the art of maximizing the amount of </a:t>
            </a:r>
            <a:r>
              <a:rPr lang="en-IN" dirty="0" smtClean="0"/>
              <a:t>work done</a:t>
            </a:r>
          </a:p>
          <a:p>
            <a:r>
              <a:rPr lang="en-IN" dirty="0"/>
              <a:t>The best designs emerge from </a:t>
            </a:r>
            <a:r>
              <a:rPr lang="en-IN" b="1" dirty="0">
                <a:solidFill>
                  <a:srgbClr val="C00000"/>
                </a:solidFill>
              </a:rPr>
              <a:t>self-organizing teams</a:t>
            </a:r>
          </a:p>
          <a:p>
            <a:r>
              <a:rPr lang="en-IN" dirty="0"/>
              <a:t>The </a:t>
            </a:r>
            <a:r>
              <a:rPr lang="en-IN" b="1" dirty="0">
                <a:solidFill>
                  <a:srgbClr val="C00000"/>
                </a:solidFill>
              </a:rPr>
              <a:t>team tunes </a:t>
            </a:r>
            <a:r>
              <a:rPr lang="en-IN" dirty="0"/>
              <a:t>and </a:t>
            </a:r>
            <a:r>
              <a:rPr lang="en-IN" b="1" dirty="0">
                <a:solidFill>
                  <a:srgbClr val="C00000"/>
                </a:solidFill>
              </a:rPr>
              <a:t>adjusts</a:t>
            </a:r>
            <a:r>
              <a:rPr lang="en-IN" dirty="0">
                <a:solidFill>
                  <a:srgbClr val="C00000"/>
                </a:solidFill>
              </a:rPr>
              <a:t> </a:t>
            </a:r>
            <a:r>
              <a:rPr lang="en-IN" dirty="0"/>
              <a:t>its </a:t>
            </a:r>
            <a:r>
              <a:rPr lang="en-IN" b="1" dirty="0" smtClean="0">
                <a:solidFill>
                  <a:srgbClr val="C00000"/>
                </a:solidFill>
              </a:rPr>
              <a:t>behaviour</a:t>
            </a:r>
            <a:r>
              <a:rPr lang="en-IN" dirty="0" smtClean="0">
                <a:solidFill>
                  <a:srgbClr val="C00000"/>
                </a:solidFill>
              </a:rPr>
              <a:t> </a:t>
            </a:r>
            <a:r>
              <a:rPr lang="en-IN" dirty="0"/>
              <a:t>to become more effective</a:t>
            </a:r>
          </a:p>
          <a:p>
            <a:endParaRPr lang="en-IN" dirty="0"/>
          </a:p>
          <a:p>
            <a:endParaRPr lang="en-IN" dirty="0"/>
          </a:p>
          <a:p>
            <a:endParaRPr lang="en-US" dirty="0"/>
          </a:p>
        </p:txBody>
      </p:sp>
      <p:pic>
        <p:nvPicPr>
          <p:cNvPr id="3" name="Picture 2"/>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469333" y="1517054"/>
            <a:ext cx="2317340" cy="1408579"/>
          </a:xfrm>
          <a:prstGeom prst="rect">
            <a:avLst/>
          </a:prstGeom>
        </p:spPr>
      </p:pic>
      <p:pic>
        <p:nvPicPr>
          <p:cNvPr id="5" name="Picture 4"/>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469333" y="4521401"/>
            <a:ext cx="2544517" cy="915801"/>
          </a:xfrm>
          <a:prstGeom prst="rect">
            <a:avLst/>
          </a:prstGeom>
        </p:spPr>
      </p:pic>
    </p:spTree>
    <p:extLst>
      <p:ext uri="{BB962C8B-B14F-4D97-AF65-F5344CB8AC3E}">
        <p14:creationId xmlns:p14="http://schemas.microsoft.com/office/powerpoint/2010/main" val="2242720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dirty="0" smtClean="0">
                <a:solidFill>
                  <a:srgbClr val="C00000"/>
                </a:solidFill>
              </a:rPr>
              <a:t>1.Highest </a:t>
            </a:r>
            <a:r>
              <a:rPr lang="en-IN" sz="2400" dirty="0">
                <a:solidFill>
                  <a:srgbClr val="C00000"/>
                </a:solidFill>
              </a:rPr>
              <a:t>priority </a:t>
            </a:r>
            <a:r>
              <a:rPr lang="en-IN" sz="2400" dirty="0"/>
              <a:t>is to </a:t>
            </a:r>
            <a:r>
              <a:rPr lang="en-IN" sz="2400" dirty="0">
                <a:solidFill>
                  <a:srgbClr val="C00000"/>
                </a:solidFill>
              </a:rPr>
              <a:t>satisfy</a:t>
            </a:r>
            <a:r>
              <a:rPr lang="en-IN" sz="2400" dirty="0"/>
              <a:t> the </a:t>
            </a:r>
            <a:r>
              <a:rPr lang="en-IN" sz="2400" dirty="0">
                <a:solidFill>
                  <a:srgbClr val="C00000"/>
                </a:solidFill>
              </a:rPr>
              <a:t>customer </a:t>
            </a:r>
            <a:r>
              <a:rPr lang="en-IN" sz="2400" dirty="0"/>
              <a:t>through early &amp; </a:t>
            </a:r>
            <a:r>
              <a:rPr lang="en-IN" sz="2400" dirty="0">
                <a:solidFill>
                  <a:srgbClr val="C00000"/>
                </a:solidFill>
              </a:rPr>
              <a:t>continuous delivery </a:t>
            </a:r>
            <a:r>
              <a:rPr lang="en-IN" sz="2400" dirty="0"/>
              <a:t>of </a:t>
            </a:r>
            <a:r>
              <a:rPr lang="en-IN" sz="2400" dirty="0">
                <a:solidFill>
                  <a:srgbClr val="C00000"/>
                </a:solidFill>
              </a:rPr>
              <a:t>software</a:t>
            </a:r>
          </a:p>
        </p:txBody>
      </p:sp>
      <p:sp>
        <p:nvSpPr>
          <p:cNvPr id="3" name="Content Placeholder 2"/>
          <p:cNvSpPr>
            <a:spLocks noGrp="1"/>
          </p:cNvSpPr>
          <p:nvPr>
            <p:ph idx="1"/>
          </p:nvPr>
        </p:nvSpPr>
        <p:spPr/>
        <p:txBody>
          <a:bodyPr/>
          <a:lstStyle/>
          <a:p>
            <a:r>
              <a:rPr lang="en-US" dirty="0"/>
              <a:t>The best ways to ensure you make customers happy while continuously delivering valuable software are to ship early, iterate frequently, and listen to your market continually.</a:t>
            </a:r>
          </a:p>
          <a:p>
            <a:r>
              <a:rPr lang="en-US" dirty="0"/>
              <a:t>Unlike traditional approaches to product development, which have notoriously long development cycles, agile principles encourage minimizing the time between ideation and launch. The idea is to get a working product in the hands of customers as soon as possible. Doing this successfully means product managers are able to quickly get a </a:t>
            </a:r>
            <a:r>
              <a:rPr lang="en-US" dirty="0">
                <a:hlinkClick r:id="rId2"/>
              </a:rPr>
              <a:t>minimum viable product (MVP)</a:t>
            </a:r>
            <a:r>
              <a:rPr lang="en-US" dirty="0"/>
              <a:t> out and into the world and use it to get feedback from real customers. This feedback is then fed back into the product development process and used to inform future releases.</a:t>
            </a:r>
          </a:p>
          <a:p>
            <a:endParaRPr lang="en-IN" dirty="0"/>
          </a:p>
        </p:txBody>
      </p:sp>
    </p:spTree>
    <p:extLst>
      <p:ext uri="{BB962C8B-B14F-4D97-AF65-F5344CB8AC3E}">
        <p14:creationId xmlns:p14="http://schemas.microsoft.com/office/powerpoint/2010/main" val="525706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C00000"/>
                </a:solidFill>
              </a:rPr>
              <a:t>2. Welcome </a:t>
            </a:r>
            <a:r>
              <a:rPr lang="en-IN" dirty="0">
                <a:solidFill>
                  <a:srgbClr val="C00000"/>
                </a:solidFill>
              </a:rPr>
              <a:t>changing</a:t>
            </a:r>
            <a:r>
              <a:rPr lang="en-IN" dirty="0"/>
              <a:t> requirements</a:t>
            </a:r>
          </a:p>
        </p:txBody>
      </p:sp>
      <p:sp>
        <p:nvSpPr>
          <p:cNvPr id="3" name="Content Placeholder 2"/>
          <p:cNvSpPr>
            <a:spLocks noGrp="1"/>
          </p:cNvSpPr>
          <p:nvPr>
            <p:ph idx="1"/>
          </p:nvPr>
        </p:nvSpPr>
        <p:spPr/>
        <p:txBody>
          <a:bodyPr/>
          <a:lstStyle/>
          <a:p>
            <a:pPr>
              <a:lnSpc>
                <a:spcPct val="150000"/>
              </a:lnSpc>
            </a:pPr>
            <a:r>
              <a:rPr lang="en-US" dirty="0"/>
              <a:t>In the world around us, change is the only constant. Agile principles and values support responding to these changes rather than moving forward in spite of them. Previous approaches to product development were often change adverse; detailed, well-documented plans were made before development began and were set in stone regardless of new findings. Agile principles support observing changing markets, customer needs, and competitive threats and changing course when necessary.</a:t>
            </a:r>
            <a:endParaRPr lang="en-IN" dirty="0"/>
          </a:p>
        </p:txBody>
      </p:sp>
    </p:spTree>
    <p:extLst>
      <p:ext uri="{BB962C8B-B14F-4D97-AF65-F5344CB8AC3E}">
        <p14:creationId xmlns:p14="http://schemas.microsoft.com/office/powerpoint/2010/main" val="4067520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it looks in practice:</a:t>
            </a:r>
          </a:p>
        </p:txBody>
      </p:sp>
      <p:sp>
        <p:nvSpPr>
          <p:cNvPr id="3" name="Content Placeholder 2"/>
          <p:cNvSpPr>
            <a:spLocks noGrp="1"/>
          </p:cNvSpPr>
          <p:nvPr>
            <p:ph idx="1"/>
          </p:nvPr>
        </p:nvSpPr>
        <p:spPr/>
        <p:txBody>
          <a:bodyPr/>
          <a:lstStyle/>
          <a:p>
            <a:r>
              <a:rPr lang="en-US" dirty="0" smtClean="0"/>
              <a:t>Product </a:t>
            </a:r>
            <a:r>
              <a:rPr lang="en-US" dirty="0"/>
              <a:t>teams are guided by high-level strategic goals and perhaps even </a:t>
            </a:r>
            <a:r>
              <a:rPr lang="en-US" dirty="0">
                <a:hlinkClick r:id="rId2"/>
              </a:rPr>
              <a:t>themes</a:t>
            </a:r>
            <a:r>
              <a:rPr lang="en-US" dirty="0"/>
              <a:t> below those goals. The product department’s success is measured against progress toward those strategic goals rather than by delivery of a predefined feature set.</a:t>
            </a:r>
          </a:p>
          <a:p>
            <a:r>
              <a:rPr lang="en-US" dirty="0"/>
              <a:t>Product constantly has its ear to the ground monitoring the market, customer feedback, and other factors which could influence product direction. When actionable insight is uncovered, plans are adjusted to better serve customer and business needs.</a:t>
            </a:r>
          </a:p>
          <a:p>
            <a:r>
              <a:rPr lang="en-US" dirty="0"/>
              <a:t>Product strategy and tactical plans are reviewed, adjusted, and shared on a regular cadence to reflect changes and new findings. As such, product needs to manage the expectations of executive stakeholders appropriately and ensure they understand the </a:t>
            </a:r>
            <a:r>
              <a:rPr lang="en-US" i="1" dirty="0"/>
              <a:t>why</a:t>
            </a:r>
            <a:r>
              <a:rPr lang="en-US" dirty="0"/>
              <a:t> behind changes.</a:t>
            </a:r>
          </a:p>
        </p:txBody>
      </p:sp>
    </p:spTree>
    <p:extLst>
      <p:ext uri="{BB962C8B-B14F-4D97-AF65-F5344CB8AC3E}">
        <p14:creationId xmlns:p14="http://schemas.microsoft.com/office/powerpoint/2010/main" val="1483809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3. </a:t>
            </a:r>
            <a:r>
              <a:rPr lang="en-IN" dirty="0">
                <a:solidFill>
                  <a:srgbClr val="C00000"/>
                </a:solidFill>
              </a:rPr>
              <a:t>Deliver </a:t>
            </a:r>
            <a:r>
              <a:rPr lang="en-IN" dirty="0"/>
              <a:t>working </a:t>
            </a:r>
            <a:r>
              <a:rPr lang="en-IN" dirty="0">
                <a:solidFill>
                  <a:srgbClr val="C00000"/>
                </a:solidFill>
              </a:rPr>
              <a:t>software </a:t>
            </a:r>
            <a:r>
              <a:rPr lang="en-IN" dirty="0" smtClean="0">
                <a:solidFill>
                  <a:srgbClr val="C00000"/>
                </a:solidFill>
              </a:rPr>
              <a:t>frequently</a:t>
            </a:r>
            <a:endParaRPr lang="en-IN" dirty="0"/>
          </a:p>
        </p:txBody>
      </p:sp>
      <p:sp>
        <p:nvSpPr>
          <p:cNvPr id="3" name="Content Placeholder 2"/>
          <p:cNvSpPr>
            <a:spLocks noGrp="1"/>
          </p:cNvSpPr>
          <p:nvPr>
            <p:ph idx="1"/>
          </p:nvPr>
        </p:nvSpPr>
        <p:spPr/>
        <p:txBody>
          <a:bodyPr/>
          <a:lstStyle/>
          <a:p>
            <a:r>
              <a:rPr lang="en-US" dirty="0"/>
              <a:t>Agile philosophy favors breaking a product’s development into smaller components and “shipping” those components frequently. Using an agile approach, therefore — and building in more frequent mini-releases of your product— can speed the product’s overall development.</a:t>
            </a:r>
          </a:p>
          <a:p>
            <a:r>
              <a:rPr lang="en-US" dirty="0"/>
              <a:t>This agile approach, with short-term development cycles of smaller portions of the product, results in less time spent drafting and poring over the large amounts of documentation that characterizes Waterfall product development. More importantly, this frequent-release approach creates more opportunities for you and your teams to validate your product ideas and strategies from the qualified constituencies who see each new release.</a:t>
            </a:r>
          </a:p>
        </p:txBody>
      </p:sp>
    </p:spTree>
    <p:extLst>
      <p:ext uri="{BB962C8B-B14F-4D97-AF65-F5344CB8AC3E}">
        <p14:creationId xmlns:p14="http://schemas.microsoft.com/office/powerpoint/2010/main" val="1688155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it looks in practice:</a:t>
            </a:r>
            <a:endParaRPr lang="en-IN" dirty="0"/>
          </a:p>
        </p:txBody>
      </p:sp>
      <p:sp>
        <p:nvSpPr>
          <p:cNvPr id="3" name="Content Placeholder 2"/>
          <p:cNvSpPr>
            <a:spLocks noGrp="1"/>
          </p:cNvSpPr>
          <p:nvPr>
            <p:ph idx="1"/>
          </p:nvPr>
        </p:nvSpPr>
        <p:spPr/>
        <p:txBody>
          <a:bodyPr/>
          <a:lstStyle/>
          <a:p>
            <a:r>
              <a:rPr lang="en-US" dirty="0"/>
              <a:t>Agile development cycles, often called “sprints” or “iterations” break down product initiatives into smaller chunks that can be completed in a set timeframe. Often this timeframe is between 2 and 4 weeks which truly is a sprint if you consider the marathon-like development cycles waterfall teams often follow.</a:t>
            </a:r>
          </a:p>
          <a:p>
            <a:r>
              <a:rPr lang="en-US" dirty="0"/>
              <a:t>Another popular alternative to agile sprints is continuous deployment. This method of shipping software frequently works less in terms of predetermined time boxes and more in terms of simply deciding what to do and doing it.</a:t>
            </a:r>
          </a:p>
        </p:txBody>
      </p:sp>
    </p:spTree>
    <p:extLst>
      <p:ext uri="{BB962C8B-B14F-4D97-AF65-F5344CB8AC3E}">
        <p14:creationId xmlns:p14="http://schemas.microsoft.com/office/powerpoint/2010/main" val="2105847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11200"/>
          </a:xfrm>
        </p:spPr>
        <p:txBody>
          <a:bodyPr>
            <a:normAutofit/>
          </a:bodyPr>
          <a:lstStyle/>
          <a:p>
            <a:r>
              <a:rPr lang="en-IN" dirty="0" smtClean="0"/>
              <a:t>4. </a:t>
            </a:r>
            <a:r>
              <a:rPr lang="en-IN" dirty="0">
                <a:solidFill>
                  <a:srgbClr val="C00000"/>
                </a:solidFill>
              </a:rPr>
              <a:t>Business people</a:t>
            </a:r>
            <a:r>
              <a:rPr lang="en-IN" dirty="0"/>
              <a:t> and </a:t>
            </a:r>
            <a:r>
              <a:rPr lang="en-IN" dirty="0">
                <a:solidFill>
                  <a:srgbClr val="C00000"/>
                </a:solidFill>
              </a:rPr>
              <a:t>developers </a:t>
            </a:r>
            <a:r>
              <a:rPr lang="en-IN" dirty="0"/>
              <a:t>must </a:t>
            </a:r>
            <a:r>
              <a:rPr lang="en-IN" dirty="0">
                <a:solidFill>
                  <a:srgbClr val="C00000"/>
                </a:solidFill>
              </a:rPr>
              <a:t>work </a:t>
            </a:r>
            <a:r>
              <a:rPr lang="en-IN" dirty="0" smtClean="0">
                <a:solidFill>
                  <a:srgbClr val="C00000"/>
                </a:solidFill>
              </a:rPr>
              <a:t>together</a:t>
            </a:r>
            <a:r>
              <a:rPr lang="en-IN" dirty="0" smtClean="0"/>
              <a:t> </a:t>
            </a:r>
            <a:endParaRPr lang="en-IN" dirty="0"/>
          </a:p>
        </p:txBody>
      </p:sp>
      <p:sp>
        <p:nvSpPr>
          <p:cNvPr id="3" name="Content Placeholder 2"/>
          <p:cNvSpPr>
            <a:spLocks noGrp="1"/>
          </p:cNvSpPr>
          <p:nvPr>
            <p:ph idx="1"/>
          </p:nvPr>
        </p:nvSpPr>
        <p:spPr/>
        <p:txBody>
          <a:bodyPr/>
          <a:lstStyle/>
          <a:p>
            <a:r>
              <a:rPr lang="en-US" dirty="0"/>
              <a:t>Communication is a critical component of any project or team’s success, and agile principles essentially mandate that it’s a daily event. It takes a village to raise a child they say, and that applies to product as well.</a:t>
            </a:r>
          </a:p>
          <a:p>
            <a:r>
              <a:rPr lang="en-US" dirty="0"/>
              <a:t>A successful product requires insight from the business and technical sides of an organization which can only happen if these two teams work together consistently. Regular communication between business people and developers helps improve alignment across the organization by building trust and transparency.</a:t>
            </a:r>
          </a:p>
          <a:p>
            <a:endParaRPr lang="en-IN" dirty="0"/>
          </a:p>
        </p:txBody>
      </p:sp>
    </p:spTree>
    <p:extLst>
      <p:ext uri="{BB962C8B-B14F-4D97-AF65-F5344CB8AC3E}">
        <p14:creationId xmlns:p14="http://schemas.microsoft.com/office/powerpoint/2010/main" val="381380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it looks in practice:</a:t>
            </a:r>
            <a:endParaRPr lang="en-IN" dirty="0"/>
          </a:p>
        </p:txBody>
      </p:sp>
      <p:sp>
        <p:nvSpPr>
          <p:cNvPr id="3" name="Content Placeholder 2"/>
          <p:cNvSpPr>
            <a:spLocks noGrp="1"/>
          </p:cNvSpPr>
          <p:nvPr>
            <p:ph idx="1"/>
          </p:nvPr>
        </p:nvSpPr>
        <p:spPr/>
        <p:txBody>
          <a:bodyPr/>
          <a:lstStyle/>
          <a:p>
            <a:r>
              <a:rPr lang="en-US" dirty="0"/>
              <a:t>Cross-functional agile product development teams include product people. This means that product is represented on the development team and bridges the gap between technical and business aspects of the product.</a:t>
            </a:r>
          </a:p>
          <a:p>
            <a:r>
              <a:rPr lang="en-US" dirty="0"/>
              <a:t>Daily update meetings, or standups, are one technique many agile shops use to put this principle in practice and keep everyone connected.</a:t>
            </a:r>
          </a:p>
        </p:txBody>
      </p:sp>
    </p:spTree>
    <p:extLst>
      <p:ext uri="{BB962C8B-B14F-4D97-AF65-F5344CB8AC3E}">
        <p14:creationId xmlns:p14="http://schemas.microsoft.com/office/powerpoint/2010/main" val="3770847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5. </a:t>
            </a:r>
            <a:r>
              <a:rPr lang="en-IN" dirty="0">
                <a:solidFill>
                  <a:srgbClr val="C00000"/>
                </a:solidFill>
              </a:rPr>
              <a:t>Build </a:t>
            </a:r>
            <a:r>
              <a:rPr lang="en-IN" dirty="0"/>
              <a:t>projects </a:t>
            </a:r>
            <a:r>
              <a:rPr lang="en-IN" dirty="0">
                <a:solidFill>
                  <a:srgbClr val="C00000"/>
                </a:solidFill>
              </a:rPr>
              <a:t>around motivated</a:t>
            </a:r>
            <a:r>
              <a:rPr lang="en-IN" dirty="0"/>
              <a:t> </a:t>
            </a:r>
            <a:r>
              <a:rPr lang="en-IN" dirty="0" smtClean="0"/>
              <a:t>individuals </a:t>
            </a:r>
            <a:endParaRPr lang="en-IN" dirty="0"/>
          </a:p>
        </p:txBody>
      </p:sp>
      <p:sp>
        <p:nvSpPr>
          <p:cNvPr id="3" name="Content Placeholder 2"/>
          <p:cNvSpPr>
            <a:spLocks noGrp="1"/>
          </p:cNvSpPr>
          <p:nvPr>
            <p:ph idx="1"/>
          </p:nvPr>
        </p:nvSpPr>
        <p:spPr/>
        <p:txBody>
          <a:bodyPr/>
          <a:lstStyle/>
          <a:p>
            <a:r>
              <a:rPr lang="en-US" dirty="0"/>
              <a:t>A key part of the agile philosophy is empowering individuals and teams through trust and autonomy. The agile team needs to be carefully built to include the right people and skill sets to get the job done, and responsibilities need to be clearly defined before the beginning of a project. Once the work has begun, however, there’s no place in agile for micromanagement or hand holding.</a:t>
            </a:r>
          </a:p>
          <a:p>
            <a:r>
              <a:rPr lang="en-US" b="1" dirty="0"/>
              <a:t>How it looks in practice:</a:t>
            </a:r>
            <a:endParaRPr lang="en-US" dirty="0"/>
          </a:p>
          <a:p>
            <a:r>
              <a:rPr lang="en-US" dirty="0"/>
              <a:t>Product must clearly ensure engineering understands strategy and requirements before development starts. This means not only sharing user stories with the cross-functional team but also the bigger picture outlined in the product roadmap.</a:t>
            </a:r>
          </a:p>
          <a:p>
            <a:r>
              <a:rPr lang="en-US" dirty="0"/>
              <a:t>Product is not responsible for explaining “how” something should be built. They need to share what and why, but it’s the delivery team’s job to determine the how. Furthermore, during sprints product does not micromanage outcome, instead they make themselves available to answer questions and provide support as needed.</a:t>
            </a:r>
          </a:p>
          <a:p>
            <a:endParaRPr lang="en-IN" dirty="0"/>
          </a:p>
        </p:txBody>
      </p:sp>
    </p:spTree>
    <p:extLst>
      <p:ext uri="{BB962C8B-B14F-4D97-AF65-F5344CB8AC3E}">
        <p14:creationId xmlns:p14="http://schemas.microsoft.com/office/powerpoint/2010/main" val="1670082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6. </a:t>
            </a:r>
            <a:r>
              <a:rPr lang="en-IN" dirty="0"/>
              <a:t>Emphasize</a:t>
            </a:r>
            <a:r>
              <a:rPr lang="en-IN" dirty="0">
                <a:solidFill>
                  <a:srgbClr val="C00000"/>
                </a:solidFill>
              </a:rPr>
              <a:t> face-to-face </a:t>
            </a:r>
            <a:r>
              <a:rPr lang="en-IN" dirty="0" smtClean="0">
                <a:solidFill>
                  <a:srgbClr val="C00000"/>
                </a:solidFill>
              </a:rPr>
              <a:t>conversation</a:t>
            </a:r>
            <a:r>
              <a:rPr lang="en-IN" dirty="0" smtClean="0"/>
              <a:t> </a:t>
            </a:r>
            <a:endParaRPr lang="en-IN" dirty="0"/>
          </a:p>
        </p:txBody>
      </p:sp>
      <p:sp>
        <p:nvSpPr>
          <p:cNvPr id="3" name="Content Placeholder 2"/>
          <p:cNvSpPr>
            <a:spLocks noGrp="1"/>
          </p:cNvSpPr>
          <p:nvPr>
            <p:ph idx="1"/>
          </p:nvPr>
        </p:nvSpPr>
        <p:spPr/>
        <p:txBody>
          <a:bodyPr/>
          <a:lstStyle/>
          <a:p>
            <a:r>
              <a:rPr lang="en-US" dirty="0"/>
              <a:t>With so many distributed or </a:t>
            </a:r>
            <a:r>
              <a:rPr lang="en-US" dirty="0">
                <a:hlinkClick r:id="rId2"/>
              </a:rPr>
              <a:t>remote development teams </a:t>
            </a:r>
            <a:r>
              <a:rPr lang="en-US" dirty="0"/>
              <a:t>these days, this principle gets a bit of critique. But at the root of it, effective communication with developers means getting these conversations out of Slack and email and favoring more human interaction (even if done by video conference calls). The overall objective behind this principle is to encourage product people and developers to truly communicate in real time about the product, requirements, and the high-level strategy driving those things.</a:t>
            </a:r>
          </a:p>
          <a:p>
            <a:r>
              <a:rPr lang="en-US" b="1" dirty="0"/>
              <a:t>How it looks in practice:</a:t>
            </a:r>
            <a:endParaRPr lang="en-US" dirty="0"/>
          </a:p>
          <a:p>
            <a:r>
              <a:rPr lang="en-US" dirty="0"/>
              <a:t>Daily standup meetings</a:t>
            </a:r>
          </a:p>
          <a:p>
            <a:r>
              <a:rPr lang="en-US" dirty="0"/>
              <a:t>Collaborative </a:t>
            </a:r>
            <a:r>
              <a:rPr lang="en-US" dirty="0">
                <a:hlinkClick r:id="rId3"/>
              </a:rPr>
              <a:t>backlog grooming sessions</a:t>
            </a:r>
            <a:endParaRPr lang="en-US" dirty="0"/>
          </a:p>
          <a:p>
            <a:r>
              <a:rPr lang="en-US" dirty="0"/>
              <a:t>Sprint planning meetings</a:t>
            </a:r>
          </a:p>
          <a:p>
            <a:r>
              <a:rPr lang="en-US" dirty="0"/>
              <a:t>Frequent demos</a:t>
            </a:r>
          </a:p>
          <a:p>
            <a:r>
              <a:rPr lang="en-US" dirty="0"/>
              <a:t>Pair-programming</a:t>
            </a:r>
          </a:p>
        </p:txBody>
      </p:sp>
    </p:spTree>
    <p:extLst>
      <p:ext uri="{BB962C8B-B14F-4D97-AF65-F5344CB8AC3E}">
        <p14:creationId xmlns:p14="http://schemas.microsoft.com/office/powerpoint/2010/main" val="148196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11200"/>
          </a:xfrm>
        </p:spPr>
        <p:txBody>
          <a:bodyPr>
            <a:normAutofit/>
          </a:bodyPr>
          <a:lstStyle/>
          <a:p>
            <a:r>
              <a:rPr lang="en-IN" dirty="0" smtClean="0"/>
              <a:t>7. </a:t>
            </a:r>
            <a:r>
              <a:rPr lang="en-IN" dirty="0">
                <a:solidFill>
                  <a:srgbClr val="C00000"/>
                </a:solidFill>
              </a:rPr>
              <a:t>Working software </a:t>
            </a:r>
            <a:r>
              <a:rPr lang="en-IN" dirty="0"/>
              <a:t>is the </a:t>
            </a:r>
            <a:r>
              <a:rPr lang="en-IN" dirty="0">
                <a:solidFill>
                  <a:srgbClr val="C00000"/>
                </a:solidFill>
              </a:rPr>
              <a:t>measure </a:t>
            </a:r>
            <a:r>
              <a:rPr lang="en-IN" dirty="0"/>
              <a:t>of </a:t>
            </a:r>
            <a:r>
              <a:rPr lang="en-IN" dirty="0" smtClean="0">
                <a:solidFill>
                  <a:srgbClr val="C00000"/>
                </a:solidFill>
              </a:rPr>
              <a:t>progress</a:t>
            </a:r>
            <a:r>
              <a:rPr lang="en-IN" dirty="0" smtClean="0"/>
              <a:t> </a:t>
            </a:r>
            <a:endParaRPr lang="en-IN" dirty="0"/>
          </a:p>
        </p:txBody>
      </p:sp>
      <p:sp>
        <p:nvSpPr>
          <p:cNvPr id="3" name="Content Placeholder 2"/>
          <p:cNvSpPr>
            <a:spLocks noGrp="1"/>
          </p:cNvSpPr>
          <p:nvPr>
            <p:ph idx="1"/>
          </p:nvPr>
        </p:nvSpPr>
        <p:spPr/>
        <p:txBody>
          <a:bodyPr/>
          <a:lstStyle/>
          <a:p>
            <a:r>
              <a:rPr lang="en-US" dirty="0"/>
              <a:t>Proponents of the agile philosophy are quick to remind us that we’re in the business of building software, and that’s where our time should be spent. Perfect, detailed documentation is secondary to working software. This mentality pushes to get products to the market quickly rather than let documentation or an “it’s not done until it’s perfect” mentality become a bottleneck. The ultimate measure for success is a working product that customers love.</a:t>
            </a:r>
          </a:p>
          <a:p>
            <a:r>
              <a:rPr lang="en-US" b="1" dirty="0"/>
              <a:t>How it looks in practice:</a:t>
            </a:r>
            <a:endParaRPr lang="en-US" dirty="0"/>
          </a:p>
          <a:p>
            <a:r>
              <a:rPr lang="en-US" dirty="0"/>
              <a:t>Designing and releasing “Minimum Viable Features” rather than fully-developed feature sets means thinking first and foremost about the smallest things we can ship to start getting customer feedback and validate as we continue to build software.</a:t>
            </a:r>
          </a:p>
          <a:p>
            <a:r>
              <a:rPr lang="en-US" dirty="0"/>
              <a:t>A fail fast mentality means moving forward even in times of uncertainty and testing ideas rapidly.</a:t>
            </a:r>
          </a:p>
          <a:p>
            <a:r>
              <a:rPr lang="en-US" dirty="0"/>
              <a:t>Ship software often: a useful product now is better than a perfect one later.</a:t>
            </a:r>
          </a:p>
          <a:p>
            <a:endParaRPr lang="en-IN" dirty="0"/>
          </a:p>
        </p:txBody>
      </p:sp>
    </p:spTree>
    <p:extLst>
      <p:ext uri="{BB962C8B-B14F-4D97-AF65-F5344CB8AC3E}">
        <p14:creationId xmlns:p14="http://schemas.microsoft.com/office/powerpoint/2010/main" val="1737117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8. </a:t>
            </a:r>
            <a:r>
              <a:rPr lang="en-IN" dirty="0"/>
              <a:t>Continuous </a:t>
            </a:r>
            <a:r>
              <a:rPr lang="en-IN" dirty="0">
                <a:solidFill>
                  <a:srgbClr val="C00000"/>
                </a:solidFill>
              </a:rPr>
              <a:t>attention </a:t>
            </a:r>
            <a:r>
              <a:rPr lang="en-IN" dirty="0"/>
              <a:t>to </a:t>
            </a:r>
            <a:r>
              <a:rPr lang="en-IN" dirty="0">
                <a:solidFill>
                  <a:srgbClr val="C00000"/>
                </a:solidFill>
              </a:rPr>
              <a:t>technical excellence</a:t>
            </a:r>
            <a:r>
              <a:rPr lang="en-IN" dirty="0"/>
              <a:t> and </a:t>
            </a:r>
            <a:r>
              <a:rPr lang="en-IN" dirty="0">
                <a:solidFill>
                  <a:srgbClr val="C00000"/>
                </a:solidFill>
              </a:rPr>
              <a:t>good </a:t>
            </a:r>
            <a:r>
              <a:rPr lang="en-IN" dirty="0" smtClean="0">
                <a:solidFill>
                  <a:srgbClr val="C00000"/>
                </a:solidFill>
              </a:rPr>
              <a:t>design</a:t>
            </a:r>
            <a:r>
              <a:rPr lang="en-IN" dirty="0" smtClean="0"/>
              <a:t> </a:t>
            </a:r>
            <a:endParaRPr lang="en-IN" dirty="0"/>
          </a:p>
        </p:txBody>
      </p:sp>
      <p:sp>
        <p:nvSpPr>
          <p:cNvPr id="3" name="Content Placeholder 2"/>
          <p:cNvSpPr>
            <a:spLocks noGrp="1"/>
          </p:cNvSpPr>
          <p:nvPr>
            <p:ph idx="1"/>
          </p:nvPr>
        </p:nvSpPr>
        <p:spPr/>
        <p:txBody>
          <a:bodyPr/>
          <a:lstStyle/>
          <a:p>
            <a:r>
              <a:rPr lang="en-US" dirty="0"/>
              <a:t>While the agile philosophy encourages shorter cycles and frequent releases, it also puts emphasis on the importance of keeping things neat and tidy so they don’t cause problems in the future. Product managers often forget about this aspect of development because they mostly don’t spend their days wading through their products’ codebases, but it is still of the utmost importance to them.</a:t>
            </a:r>
          </a:p>
          <a:p>
            <a:r>
              <a:rPr lang="en-US" b="1" dirty="0"/>
              <a:t>How it looks in practice:</a:t>
            </a:r>
            <a:endParaRPr lang="en-US" dirty="0"/>
          </a:p>
          <a:p>
            <a:r>
              <a:rPr lang="en-US" dirty="0"/>
              <a:t>The team needs to be cognizant of </a:t>
            </a:r>
            <a:r>
              <a:rPr lang="en-US" dirty="0">
                <a:hlinkClick r:id="rId2"/>
              </a:rPr>
              <a:t>technical debt</a:t>
            </a:r>
            <a:r>
              <a:rPr lang="en-US" dirty="0"/>
              <a:t> and the technical debt implications of any new features or initiatives added to the backlog. Developers and product need to work together to understand if and when technical debt is acceptable.</a:t>
            </a:r>
          </a:p>
          <a:p>
            <a:r>
              <a:rPr lang="en-US" dirty="0"/>
              <a:t>On a regular basis, product will need to allocate development resources to refactoring efforts. Refactoring cannot be an afterthought, it needs to be an ongoing consideration.</a:t>
            </a:r>
          </a:p>
        </p:txBody>
      </p:sp>
    </p:spTree>
    <p:extLst>
      <p:ext uri="{BB962C8B-B14F-4D97-AF65-F5344CB8AC3E}">
        <p14:creationId xmlns:p14="http://schemas.microsoft.com/office/powerpoint/2010/main" val="2984699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9. </a:t>
            </a:r>
            <a:r>
              <a:rPr lang="en-IN" dirty="0">
                <a:solidFill>
                  <a:srgbClr val="C00000"/>
                </a:solidFill>
              </a:rPr>
              <a:t>Simplicity </a:t>
            </a:r>
            <a:r>
              <a:rPr lang="en-IN" dirty="0"/>
              <a:t>– the art of maximizing the amount of work </a:t>
            </a:r>
            <a:r>
              <a:rPr lang="en-IN" dirty="0" smtClean="0"/>
              <a:t>done </a:t>
            </a:r>
            <a:endParaRPr lang="en-IN" dirty="0"/>
          </a:p>
        </p:txBody>
      </p:sp>
      <p:sp>
        <p:nvSpPr>
          <p:cNvPr id="3" name="Content Placeholder 2"/>
          <p:cNvSpPr>
            <a:spLocks noGrp="1"/>
          </p:cNvSpPr>
          <p:nvPr>
            <p:ph idx="1"/>
          </p:nvPr>
        </p:nvSpPr>
        <p:spPr/>
        <p:txBody>
          <a:bodyPr/>
          <a:lstStyle/>
          <a:p>
            <a:r>
              <a:rPr lang="en-US" dirty="0"/>
              <a:t>You’ve probably heard of the 80/20 rule—the concept that you can usually get 80% of your intended results with just 20% of the work. Agile principles encourage thinking this way; doing the things that can have the most impact. In a product management context this means having a laser sharp focus on organizational objectives and making some cutthroat </a:t>
            </a:r>
            <a:r>
              <a:rPr lang="en-US" dirty="0">
                <a:hlinkClick r:id="rId2"/>
              </a:rPr>
              <a:t>prioritization decisions</a:t>
            </a:r>
            <a:r>
              <a:rPr lang="en-US" dirty="0"/>
              <a:t>. Agile principles discourage building merely for the sake of building by emphasizing the importance of being strategic and building with purpose.</a:t>
            </a:r>
          </a:p>
          <a:p>
            <a:endParaRPr lang="en-IN" dirty="0"/>
          </a:p>
        </p:txBody>
      </p:sp>
    </p:spTree>
    <p:extLst>
      <p:ext uri="{BB962C8B-B14F-4D97-AF65-F5344CB8AC3E}">
        <p14:creationId xmlns:p14="http://schemas.microsoft.com/office/powerpoint/2010/main" val="4114164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How it looks in practice:</a:t>
            </a:r>
            <a:endParaRPr lang="en-US" dirty="0"/>
          </a:p>
          <a:p>
            <a:r>
              <a:rPr lang="en-US" dirty="0"/>
              <a:t>Product managers need to make very focused product decisions and closely align product strategy with organizational goals while being extremely picky about what user stories and features actually make the cut. Using prioritization techniques to prioritize initiatives by effort and predicted impact is one way product teams can apply this agile principle to product development.</a:t>
            </a:r>
          </a:p>
          <a:p>
            <a:r>
              <a:rPr lang="en-US" dirty="0"/>
              <a:t>The short sprints that agile is characterized by present many opportunities for rapid testing and experimentation which can help reduce uncertainty around whether initiatives will truly have the predicted impact. Using experiments to validate ideas before building them up to spec is a great way to weed out bad ideas and identify good ones.</a:t>
            </a:r>
          </a:p>
          <a:p>
            <a:endParaRPr lang="en-IN" dirty="0"/>
          </a:p>
        </p:txBody>
      </p:sp>
    </p:spTree>
    <p:extLst>
      <p:ext uri="{BB962C8B-B14F-4D97-AF65-F5344CB8AC3E}">
        <p14:creationId xmlns:p14="http://schemas.microsoft.com/office/powerpoint/2010/main" val="1835500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10. </a:t>
            </a:r>
            <a:r>
              <a:rPr lang="fr-FR" b="0" dirty="0"/>
              <a:t>Agile processes promote sustainable development. </a:t>
            </a:r>
          </a:p>
        </p:txBody>
      </p:sp>
      <p:sp>
        <p:nvSpPr>
          <p:cNvPr id="3" name="Content Placeholder 2"/>
          <p:cNvSpPr>
            <a:spLocks noGrp="1"/>
          </p:cNvSpPr>
          <p:nvPr>
            <p:ph idx="1"/>
          </p:nvPr>
        </p:nvSpPr>
        <p:spPr>
          <a:xfrm>
            <a:off x="131181" y="887280"/>
            <a:ext cx="8324842" cy="5078091"/>
          </a:xfrm>
        </p:spPr>
        <p:txBody>
          <a:bodyPr/>
          <a:lstStyle/>
          <a:p>
            <a:r>
              <a:rPr lang="en-US"/>
              <a:t>Keeping up with a demanding, rapid release schedule can be taxing on a team. </a:t>
            </a:r>
            <a:r>
              <a:rPr lang="en-US" dirty="0"/>
              <a:t>Especially if expectations are set too high. Agile principles encourage us to be mindful of this and set realistic, clear expectations. The idea is to keep morale high and improve work-life balance to prevent burnout and turnover among members of cross functional teams.</a:t>
            </a:r>
            <a:endParaRPr lang="en-IN" dirty="0"/>
          </a:p>
        </p:txBody>
      </p:sp>
    </p:spTree>
    <p:extLst>
      <p:ext uri="{BB962C8B-B14F-4D97-AF65-F5344CB8AC3E}">
        <p14:creationId xmlns:p14="http://schemas.microsoft.com/office/powerpoint/2010/main" val="2887943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How it looks in practice:</a:t>
            </a:r>
            <a:endParaRPr lang="en-US" dirty="0"/>
          </a:p>
          <a:p>
            <a:r>
              <a:rPr lang="en-US" dirty="0"/>
              <a:t>Before every sprint, careful consideration of the amount of work that can be committed to is made. Development teams don’t over promise on what they can and cannot deliver. Effort estimations are a common practice in setting output expectations for development teams.</a:t>
            </a:r>
          </a:p>
          <a:p>
            <a:r>
              <a:rPr lang="en-US" dirty="0"/>
              <a:t>Everyone agrees on what will get done during a sprint. Once a sprint has begun, no additional tasks are to be added except in rare cases.</a:t>
            </a:r>
          </a:p>
          <a:p>
            <a:r>
              <a:rPr lang="en-US" dirty="0"/>
              <a:t>Product managers should act as gatekeepers to reduce the noise from other stakeholders and to avoid squeezing in additional unplanned work during an ongoing sprint.</a:t>
            </a:r>
          </a:p>
          <a:p>
            <a:r>
              <a:rPr lang="en-US" dirty="0"/>
              <a:t>Product people should do their part in promoting a sense of psychological safety across the cross-functional team that encourages open communication and freely flowing feedback.</a:t>
            </a:r>
          </a:p>
          <a:p>
            <a:endParaRPr lang="en-IN" dirty="0"/>
          </a:p>
        </p:txBody>
      </p:sp>
    </p:spTree>
    <p:extLst>
      <p:ext uri="{BB962C8B-B14F-4D97-AF65-F5344CB8AC3E}">
        <p14:creationId xmlns:p14="http://schemas.microsoft.com/office/powerpoint/2010/main" val="2784457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11. </a:t>
            </a:r>
            <a:r>
              <a:rPr lang="en-IN" dirty="0"/>
              <a:t>The best designs emerge from </a:t>
            </a:r>
            <a:r>
              <a:rPr lang="en-IN" dirty="0">
                <a:solidFill>
                  <a:srgbClr val="C00000"/>
                </a:solidFill>
              </a:rPr>
              <a:t>self-organizing </a:t>
            </a:r>
            <a:r>
              <a:rPr lang="en-IN" dirty="0" smtClean="0">
                <a:solidFill>
                  <a:srgbClr val="C00000"/>
                </a:solidFill>
              </a:rPr>
              <a:t>teams</a:t>
            </a:r>
            <a:r>
              <a:rPr lang="en-IN" dirty="0" smtClean="0"/>
              <a:t> </a:t>
            </a:r>
            <a:endParaRPr lang="en-IN" dirty="0"/>
          </a:p>
        </p:txBody>
      </p:sp>
      <p:sp>
        <p:nvSpPr>
          <p:cNvPr id="3" name="Content Placeholder 2"/>
          <p:cNvSpPr>
            <a:spLocks noGrp="1"/>
          </p:cNvSpPr>
          <p:nvPr>
            <p:ph idx="1"/>
          </p:nvPr>
        </p:nvSpPr>
        <p:spPr/>
        <p:txBody>
          <a:bodyPr/>
          <a:lstStyle/>
          <a:p>
            <a:r>
              <a:rPr lang="en-US" dirty="0"/>
              <a:t>In traditional software development methodologies, you’ll often see pyramid shaped teams where management makes key decisions for contributors. Agile principles suggest the use of self-organizing teams which work with a more “flat” management style where decisions are made as a group rather than by a singular manager or management team. The concept ties into </a:t>
            </a:r>
            <a:r>
              <a:rPr lang="en-US" dirty="0" err="1"/>
              <a:t>agile’s</a:t>
            </a:r>
            <a:r>
              <a:rPr lang="en-US" dirty="0"/>
              <a:t> value of teams and interactions over processes and tools, and the intent behind the concept is to empower teams to work together as they need to.</a:t>
            </a:r>
          </a:p>
          <a:p>
            <a:r>
              <a:rPr lang="en-US" b="1" dirty="0"/>
              <a:t>How it looks in practice:</a:t>
            </a:r>
            <a:endParaRPr lang="en-US" dirty="0"/>
          </a:p>
          <a:p>
            <a:r>
              <a:rPr lang="en-US" dirty="0"/>
              <a:t>Self-organizing teams are autonomous groups within the organization who take control and responsibility over their respective projects and have ownership of those areas. Different organizations practice this principle differently. Spotify, for example uses “product squads” to practice this.</a:t>
            </a:r>
          </a:p>
        </p:txBody>
      </p:sp>
    </p:spTree>
    <p:extLst>
      <p:ext uri="{BB962C8B-B14F-4D97-AF65-F5344CB8AC3E}">
        <p14:creationId xmlns:p14="http://schemas.microsoft.com/office/powerpoint/2010/main" val="2238981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12. </a:t>
            </a:r>
            <a:r>
              <a:rPr lang="en-IN" dirty="0"/>
              <a:t>The </a:t>
            </a:r>
            <a:r>
              <a:rPr lang="en-IN" dirty="0">
                <a:solidFill>
                  <a:srgbClr val="C00000"/>
                </a:solidFill>
              </a:rPr>
              <a:t>team tunes </a:t>
            </a:r>
            <a:r>
              <a:rPr lang="en-IN" dirty="0"/>
              <a:t>and </a:t>
            </a:r>
            <a:r>
              <a:rPr lang="en-IN" dirty="0">
                <a:solidFill>
                  <a:srgbClr val="C00000"/>
                </a:solidFill>
              </a:rPr>
              <a:t>adjusts </a:t>
            </a:r>
            <a:r>
              <a:rPr lang="en-IN" dirty="0"/>
              <a:t>its </a:t>
            </a:r>
            <a:r>
              <a:rPr lang="en-IN" dirty="0">
                <a:solidFill>
                  <a:srgbClr val="C00000"/>
                </a:solidFill>
              </a:rPr>
              <a:t>behaviour </a:t>
            </a:r>
            <a:r>
              <a:rPr lang="en-IN" dirty="0"/>
              <a:t>to become more effective</a:t>
            </a:r>
          </a:p>
        </p:txBody>
      </p:sp>
      <p:sp>
        <p:nvSpPr>
          <p:cNvPr id="3" name="Content Placeholder 2"/>
          <p:cNvSpPr>
            <a:spLocks noGrp="1"/>
          </p:cNvSpPr>
          <p:nvPr>
            <p:ph idx="1"/>
          </p:nvPr>
        </p:nvSpPr>
        <p:spPr/>
        <p:txBody>
          <a:bodyPr/>
          <a:lstStyle/>
          <a:p>
            <a:r>
              <a:rPr lang="en-US" dirty="0"/>
              <a:t>If you’re truly living by agile principles, there is no place for “we can’t change because we’ve always done it this way.” Just like we’re always learning new things about our customers and markets, we’re also learning from the processes we’re using to learn those things. Agile is not about following a strictly-defined process for every sprint and release, it’s about continuous improvement. And that continuous improvement must also extend to processes and teams.</a:t>
            </a:r>
            <a:endParaRPr lang="en-IN" dirty="0"/>
          </a:p>
        </p:txBody>
      </p:sp>
    </p:spTree>
    <p:extLst>
      <p:ext uri="{BB962C8B-B14F-4D97-AF65-F5344CB8AC3E}">
        <p14:creationId xmlns:p14="http://schemas.microsoft.com/office/powerpoint/2010/main" val="3155040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How it looks in practice:</a:t>
            </a:r>
            <a:endParaRPr lang="en-US" dirty="0"/>
          </a:p>
          <a:p>
            <a:r>
              <a:rPr lang="en-US" dirty="0"/>
              <a:t>Experimentation and testing is not limited to the product only. Agile teams are encouraged to experiment with their processes. You may think you’re already doing something well only to experiment with a revised version of the process and discover an even more effective method. Experimenting with your process and team is just as important as experimenting with the software you’re building.</a:t>
            </a:r>
          </a:p>
          <a:p>
            <a:r>
              <a:rPr lang="en-US" dirty="0"/>
              <a:t>Regular </a:t>
            </a:r>
            <a:r>
              <a:rPr lang="en-US" dirty="0">
                <a:hlinkClick r:id="rId2"/>
              </a:rPr>
              <a:t>retrospectives</a:t>
            </a:r>
            <a:r>
              <a:rPr lang="en-US" dirty="0"/>
              <a:t> are opportunities for the team to discuss what went well, what didn’t go so well, and where the process can be tweaked to improve things in the future. They’re an excellent place for product managers and product owners to learn if they are communicating effectively with developers and giving them the support they need before, during, and after sprints.</a:t>
            </a:r>
          </a:p>
          <a:p>
            <a:r>
              <a:rPr lang="en-US" dirty="0"/>
              <a:t>Another consideration to make regarding this agile principle is that in order to practice it effectively you need to create a culture of trust and transparency that encourages openness and frequent sharing of feedback.</a:t>
            </a:r>
          </a:p>
          <a:p>
            <a:r>
              <a:rPr lang="en-US" dirty="0"/>
              <a:t> </a:t>
            </a:r>
          </a:p>
        </p:txBody>
      </p:sp>
    </p:spTree>
    <p:extLst>
      <p:ext uri="{BB962C8B-B14F-4D97-AF65-F5344CB8AC3E}">
        <p14:creationId xmlns:p14="http://schemas.microsoft.com/office/powerpoint/2010/main" val="2237369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agile methodology not work</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 y="990601"/>
            <a:ext cx="3765485" cy="257556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3512" y="990601"/>
            <a:ext cx="3757893" cy="2570367"/>
          </a:xfrm>
          <a:prstGeom prst="rect">
            <a:avLst/>
          </a:prstGeom>
        </p:spPr>
      </p:pic>
      <p:cxnSp>
        <p:nvCxnSpPr>
          <p:cNvPr id="7" name="Straight Connector 6"/>
          <p:cNvCxnSpPr/>
          <p:nvPr/>
        </p:nvCxnSpPr>
        <p:spPr>
          <a:xfrm>
            <a:off x="4076685" y="999187"/>
            <a:ext cx="0" cy="5333999"/>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5798" y="990601"/>
            <a:ext cx="3752932" cy="2566974"/>
          </a:xfrm>
          <a:prstGeom prst="rect">
            <a:avLst/>
          </a:prstGeom>
        </p:spPr>
      </p:pic>
      <p:cxnSp>
        <p:nvCxnSpPr>
          <p:cNvPr id="12" name="Straight Connector 11"/>
          <p:cNvCxnSpPr/>
          <p:nvPr/>
        </p:nvCxnSpPr>
        <p:spPr>
          <a:xfrm>
            <a:off x="8108753" y="990601"/>
            <a:ext cx="0" cy="5333999"/>
          </a:xfrm>
          <a:prstGeom prst="line">
            <a:avLst/>
          </a:prstGeom>
        </p:spPr>
        <p:style>
          <a:lnRef idx="1">
            <a:schemeClr val="accent1"/>
          </a:lnRef>
          <a:fillRef idx="0">
            <a:schemeClr val="accent1"/>
          </a:fillRef>
          <a:effectRef idx="0">
            <a:schemeClr val="accent1"/>
          </a:effectRef>
          <a:fontRef idx="minor">
            <a:schemeClr val="tx1"/>
          </a:fontRef>
        </p:style>
      </p:cxnSp>
      <p:sp>
        <p:nvSpPr>
          <p:cNvPr id="13" name="Rounded Rectangular Callout 12"/>
          <p:cNvSpPr/>
          <p:nvPr/>
        </p:nvSpPr>
        <p:spPr>
          <a:xfrm>
            <a:off x="300446" y="4078178"/>
            <a:ext cx="3553097" cy="1682541"/>
          </a:xfrm>
          <a:prstGeom prst="wedgeRoundRectCallout">
            <a:avLst>
              <a:gd name="adj1" fmla="val -36642"/>
              <a:gd name="adj2" fmla="val -95545"/>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Project plan &amp; requirements are clear &amp; unlikely to </a:t>
            </a:r>
            <a:r>
              <a:rPr lang="en-US" sz="2800" dirty="0" smtClean="0"/>
              <a:t>change</a:t>
            </a:r>
            <a:endParaRPr lang="en-US" sz="2800" dirty="0"/>
          </a:p>
        </p:txBody>
      </p:sp>
      <p:sp>
        <p:nvSpPr>
          <p:cNvPr id="14" name="Rounded Rectangular Callout 13"/>
          <p:cNvSpPr/>
          <p:nvPr/>
        </p:nvSpPr>
        <p:spPr>
          <a:xfrm>
            <a:off x="4320219" y="4078178"/>
            <a:ext cx="3553097" cy="1682541"/>
          </a:xfrm>
          <a:prstGeom prst="wedgeRoundRectCallout">
            <a:avLst>
              <a:gd name="adj1" fmla="val 13726"/>
              <a:gd name="adj2" fmla="val -8545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Unclear understanding of Agile Approach among Teams</a:t>
            </a:r>
          </a:p>
        </p:txBody>
      </p:sp>
      <p:sp>
        <p:nvSpPr>
          <p:cNvPr id="15" name="Rounded Rectangular Callout 14"/>
          <p:cNvSpPr/>
          <p:nvPr/>
        </p:nvSpPr>
        <p:spPr>
          <a:xfrm>
            <a:off x="8472219" y="4078179"/>
            <a:ext cx="3553097" cy="1682541"/>
          </a:xfrm>
          <a:prstGeom prst="wedgeRoundRectCallout">
            <a:avLst>
              <a:gd name="adj1" fmla="val 1226"/>
              <a:gd name="adj2" fmla="val -93215"/>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Big Enterprises where team collaboration is tough</a:t>
            </a:r>
          </a:p>
        </p:txBody>
      </p:sp>
    </p:spTree>
    <p:extLst>
      <p:ext uri="{BB962C8B-B14F-4D97-AF65-F5344CB8AC3E}">
        <p14:creationId xmlns:p14="http://schemas.microsoft.com/office/powerpoint/2010/main" val="3983837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22" presetClass="entr" presetSubtype="1"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wipe(up)">
                                      <p:cBhvr>
                                        <p:cTn id="9" dur="500"/>
                                        <p:tgtEl>
                                          <p:spTgt spid="13"/>
                                        </p:tgtEl>
                                      </p:cBhvr>
                                    </p:animEffect>
                                  </p:childTnLst>
                                </p:cTn>
                              </p:par>
                              <p:par>
                                <p:cTn id="10" presetID="1"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22" presetClass="entr" presetSubtype="1"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22" presetClass="entr" presetSubtype="1"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Agile Process Models</a:t>
            </a:r>
            <a:endParaRPr lang="en-US" dirty="0"/>
          </a:p>
        </p:txBody>
      </p:sp>
      <p:sp>
        <p:nvSpPr>
          <p:cNvPr id="4" name="Rectangle 3"/>
          <p:cNvSpPr/>
          <p:nvPr/>
        </p:nvSpPr>
        <p:spPr>
          <a:xfrm>
            <a:off x="350703" y="1052464"/>
            <a:ext cx="8376439"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Extreme Programming (XP)</a:t>
            </a:r>
          </a:p>
        </p:txBody>
      </p:sp>
      <p:sp>
        <p:nvSpPr>
          <p:cNvPr id="5" name="Rectangle 4"/>
          <p:cNvSpPr/>
          <p:nvPr/>
        </p:nvSpPr>
        <p:spPr>
          <a:xfrm>
            <a:off x="350702" y="1704796"/>
            <a:ext cx="8376439"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Adaptive Software Development (ASD)</a:t>
            </a:r>
          </a:p>
        </p:txBody>
      </p:sp>
      <p:sp>
        <p:nvSpPr>
          <p:cNvPr id="6" name="Rectangle 5"/>
          <p:cNvSpPr/>
          <p:nvPr/>
        </p:nvSpPr>
        <p:spPr>
          <a:xfrm>
            <a:off x="350702" y="2357128"/>
            <a:ext cx="8376439"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Dynamic Systems Development Method (DSDM)</a:t>
            </a:r>
          </a:p>
        </p:txBody>
      </p:sp>
      <p:sp>
        <p:nvSpPr>
          <p:cNvPr id="7" name="Rectangle 6"/>
          <p:cNvSpPr/>
          <p:nvPr/>
        </p:nvSpPr>
        <p:spPr>
          <a:xfrm>
            <a:off x="350702" y="3009460"/>
            <a:ext cx="8376439"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Feature Driven Development (FDD)</a:t>
            </a:r>
          </a:p>
        </p:txBody>
      </p:sp>
      <p:sp>
        <p:nvSpPr>
          <p:cNvPr id="8" name="Rectangle 7"/>
          <p:cNvSpPr/>
          <p:nvPr/>
        </p:nvSpPr>
        <p:spPr>
          <a:xfrm>
            <a:off x="350702" y="3661792"/>
            <a:ext cx="8376439"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Crystal</a:t>
            </a:r>
          </a:p>
        </p:txBody>
      </p:sp>
      <p:sp>
        <p:nvSpPr>
          <p:cNvPr id="9" name="Rectangle 8"/>
          <p:cNvSpPr/>
          <p:nvPr/>
        </p:nvSpPr>
        <p:spPr>
          <a:xfrm>
            <a:off x="350702" y="4314123"/>
            <a:ext cx="8376439"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Agile Modelling (AM)</a:t>
            </a:r>
          </a:p>
        </p:txBody>
      </p:sp>
      <p:pic>
        <p:nvPicPr>
          <p:cNvPr id="10" name="Picture 9"/>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0150120" y="3708632"/>
            <a:ext cx="1155091" cy="1210982"/>
          </a:xfrm>
          <a:prstGeom prst="rect">
            <a:avLst/>
          </a:prstGeom>
        </p:spPr>
      </p:pic>
      <p:pic>
        <p:nvPicPr>
          <p:cNvPr id="11" name="Picture 10"/>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819833" y="1326647"/>
            <a:ext cx="1485378" cy="1030481"/>
          </a:xfrm>
          <a:prstGeom prst="rect">
            <a:avLst/>
          </a:prstGeom>
        </p:spPr>
      </p:pic>
      <p:pic>
        <p:nvPicPr>
          <p:cNvPr id="12" name="Picture 11"/>
          <p:cNvPicPr>
            <a:picLocks noChangeAspect="1"/>
          </p:cNvPicPr>
          <p:nvPr/>
        </p:nvPicPr>
        <p:blipFill rotWithShape="1">
          <a:blip r:embed="rId4">
            <a:duotone>
              <a:schemeClr val="accent6">
                <a:shade val="45000"/>
                <a:satMod val="135000"/>
              </a:schemeClr>
              <a:prstClr val="white"/>
            </a:duotone>
            <a:extLst>
              <a:ext uri="{28A0092B-C50C-407E-A947-70E740481C1C}">
                <a14:useLocalDpi xmlns:a14="http://schemas.microsoft.com/office/drawing/2010/main" val="0"/>
              </a:ext>
            </a:extLst>
          </a:blip>
          <a:srcRect t="12331" b="9584"/>
          <a:stretch/>
        </p:blipFill>
        <p:spPr>
          <a:xfrm>
            <a:off x="4637119" y="5074030"/>
            <a:ext cx="1595818" cy="1246087"/>
          </a:xfrm>
          <a:prstGeom prst="rect">
            <a:avLst/>
          </a:prstGeom>
        </p:spPr>
      </p:pic>
      <p:pic>
        <p:nvPicPr>
          <p:cNvPr id="13" name="Picture 12"/>
          <p:cNvPicPr>
            <a:picLocks noChangeAspect="1"/>
          </p:cNvPicPr>
          <p:nvPr/>
        </p:nvPicPr>
        <p:blipFill>
          <a:blip r:embed="rId5"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2091243" y="5181598"/>
            <a:ext cx="1030952" cy="1030952"/>
          </a:xfrm>
          <a:prstGeom prst="rect">
            <a:avLst/>
          </a:prstGeom>
        </p:spPr>
      </p:pic>
    </p:spTree>
    <p:extLst>
      <p:ext uri="{BB962C8B-B14F-4D97-AF65-F5344CB8AC3E}">
        <p14:creationId xmlns:p14="http://schemas.microsoft.com/office/powerpoint/2010/main" val="959268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Extreme Programming (XP)</a:t>
            </a:r>
            <a:endParaRPr lang="en-US" dirty="0"/>
          </a:p>
        </p:txBody>
      </p:sp>
      <p:sp>
        <p:nvSpPr>
          <p:cNvPr id="4" name="Content Placeholder 2"/>
          <p:cNvSpPr>
            <a:spLocks noGrp="1"/>
          </p:cNvSpPr>
          <p:nvPr>
            <p:ph idx="1"/>
          </p:nvPr>
        </p:nvSpPr>
        <p:spPr>
          <a:xfrm>
            <a:off x="190499" y="802343"/>
            <a:ext cx="11737041" cy="1710018"/>
          </a:xfrm>
        </p:spPr>
        <p:txBody>
          <a:bodyPr>
            <a:normAutofit/>
          </a:bodyPr>
          <a:lstStyle/>
          <a:p>
            <a:r>
              <a:rPr lang="en-US" dirty="0"/>
              <a:t>The most widely used </a:t>
            </a:r>
            <a:r>
              <a:rPr lang="en-US" dirty="0" smtClean="0"/>
              <a:t>approach to agile software development</a:t>
            </a:r>
          </a:p>
          <a:p>
            <a:r>
              <a:rPr lang="en-US" dirty="0" smtClean="0"/>
              <a:t>A variant of XP called </a:t>
            </a:r>
            <a:r>
              <a:rPr lang="en-US" b="1" dirty="0" smtClean="0">
                <a:solidFill>
                  <a:srgbClr val="C00000"/>
                </a:solidFill>
              </a:rPr>
              <a:t>Industrial XP (IXP) </a:t>
            </a:r>
            <a:r>
              <a:rPr lang="en-US" dirty="0" smtClean="0"/>
              <a:t>has been proposed to target process for large organizations</a:t>
            </a:r>
          </a:p>
          <a:p>
            <a:r>
              <a:rPr lang="en-US" dirty="0" smtClean="0"/>
              <a:t>It uses </a:t>
            </a:r>
            <a:r>
              <a:rPr lang="en-US" b="1" dirty="0" smtClean="0">
                <a:solidFill>
                  <a:srgbClr val="C00000"/>
                </a:solidFill>
              </a:rPr>
              <a:t>object oriented approach </a:t>
            </a:r>
            <a:r>
              <a:rPr lang="en-US" dirty="0" smtClean="0"/>
              <a:t>as its preferred development model</a:t>
            </a:r>
          </a:p>
          <a:p>
            <a:endParaRPr lang="en-US" dirty="0"/>
          </a:p>
          <a:p>
            <a:endParaRPr lang="en-US" dirty="0"/>
          </a:p>
        </p:txBody>
      </p:sp>
      <p:sp>
        <p:nvSpPr>
          <p:cNvPr id="5" name="Rectangle 4"/>
          <p:cNvSpPr/>
          <p:nvPr/>
        </p:nvSpPr>
        <p:spPr>
          <a:xfrm>
            <a:off x="286474" y="2611294"/>
            <a:ext cx="1832611"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smtClean="0">
                <a:solidFill>
                  <a:schemeClr val="bg1"/>
                </a:solidFill>
              </a:rPr>
              <a:t>XP Values</a:t>
            </a:r>
            <a:endParaRPr lang="en-US" sz="2400" b="1" dirty="0">
              <a:solidFill>
                <a:schemeClr val="bg1"/>
              </a:solidFill>
            </a:endParaRPr>
          </a:p>
        </p:txBody>
      </p:sp>
      <p:cxnSp>
        <p:nvCxnSpPr>
          <p:cNvPr id="6" name="Straight Connector 5"/>
          <p:cNvCxnSpPr/>
          <p:nvPr/>
        </p:nvCxnSpPr>
        <p:spPr>
          <a:xfrm>
            <a:off x="2107567" y="3072959"/>
            <a:ext cx="9819973" cy="0"/>
          </a:xfrm>
          <a:prstGeom prst="line">
            <a:avLst/>
          </a:prstGeom>
        </p:spPr>
        <p:style>
          <a:lnRef idx="2">
            <a:schemeClr val="accent6"/>
          </a:lnRef>
          <a:fillRef idx="0">
            <a:schemeClr val="accent6"/>
          </a:fillRef>
          <a:effectRef idx="1">
            <a:schemeClr val="accent6"/>
          </a:effectRef>
          <a:fontRef idx="minor">
            <a:schemeClr val="tx1"/>
          </a:fontRef>
        </p:style>
      </p:cxnSp>
      <p:sp>
        <p:nvSpPr>
          <p:cNvPr id="8" name="Content Placeholder 2"/>
          <p:cNvSpPr txBox="1">
            <a:spLocks/>
          </p:cNvSpPr>
          <p:nvPr/>
        </p:nvSpPr>
        <p:spPr>
          <a:xfrm>
            <a:off x="190499" y="3171893"/>
            <a:ext cx="11737040" cy="3366247"/>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smtClean="0"/>
              <a:t>Communication: </a:t>
            </a:r>
            <a:r>
              <a:rPr lang="en-US" dirty="0" smtClean="0"/>
              <a:t>To achieve effective communication, it </a:t>
            </a:r>
            <a:r>
              <a:rPr lang="en-US" b="1" dirty="0" smtClean="0">
                <a:solidFill>
                  <a:schemeClr val="accent6"/>
                </a:solidFill>
              </a:rPr>
              <a:t>emphasized close &amp; informal (verbal) collaboration</a:t>
            </a:r>
            <a:r>
              <a:rPr lang="en-US" b="1" dirty="0" smtClean="0">
                <a:solidFill>
                  <a:schemeClr val="accent2"/>
                </a:solidFill>
              </a:rPr>
              <a:t> </a:t>
            </a:r>
            <a:r>
              <a:rPr lang="en-US" dirty="0" smtClean="0"/>
              <a:t>between customers and developers</a:t>
            </a:r>
          </a:p>
          <a:p>
            <a:r>
              <a:rPr lang="en-US" b="1" dirty="0" smtClean="0"/>
              <a:t>Simplicity: </a:t>
            </a:r>
            <a:r>
              <a:rPr lang="en-US" dirty="0" smtClean="0"/>
              <a:t>It restricts developers to </a:t>
            </a:r>
            <a:r>
              <a:rPr lang="en-US" b="1" dirty="0" smtClean="0">
                <a:solidFill>
                  <a:schemeClr val="accent6"/>
                </a:solidFill>
              </a:rPr>
              <a:t>design</a:t>
            </a:r>
            <a:r>
              <a:rPr lang="en-US" dirty="0" smtClean="0"/>
              <a:t> for </a:t>
            </a:r>
            <a:r>
              <a:rPr lang="en-US" b="1" dirty="0" smtClean="0">
                <a:solidFill>
                  <a:schemeClr val="accent6"/>
                </a:solidFill>
              </a:rPr>
              <a:t>immediate needs</a:t>
            </a:r>
            <a:r>
              <a:rPr lang="en-US" dirty="0" smtClean="0">
                <a:solidFill>
                  <a:schemeClr val="accent6"/>
                </a:solidFill>
              </a:rPr>
              <a:t> </a:t>
            </a:r>
            <a:r>
              <a:rPr lang="en-US" b="1" dirty="0" smtClean="0">
                <a:solidFill>
                  <a:schemeClr val="accent6"/>
                </a:solidFill>
              </a:rPr>
              <a:t>not</a:t>
            </a:r>
            <a:r>
              <a:rPr lang="en-US" dirty="0" smtClean="0"/>
              <a:t> for </a:t>
            </a:r>
            <a:r>
              <a:rPr lang="en-US" b="1" dirty="0" smtClean="0">
                <a:solidFill>
                  <a:schemeClr val="accent6"/>
                </a:solidFill>
              </a:rPr>
              <a:t>future needs</a:t>
            </a:r>
          </a:p>
          <a:p>
            <a:r>
              <a:rPr lang="en-US" b="1" dirty="0" smtClean="0"/>
              <a:t>Feedback: </a:t>
            </a:r>
            <a:r>
              <a:rPr lang="en-US" dirty="0" smtClean="0"/>
              <a:t>It is derived </a:t>
            </a:r>
            <a:r>
              <a:rPr lang="en-US" b="1" dirty="0" smtClean="0">
                <a:solidFill>
                  <a:schemeClr val="accent6"/>
                </a:solidFill>
              </a:rPr>
              <a:t>from</a:t>
            </a:r>
            <a:r>
              <a:rPr lang="en-US" dirty="0" smtClean="0">
                <a:solidFill>
                  <a:schemeClr val="accent2"/>
                </a:solidFill>
              </a:rPr>
              <a:t> </a:t>
            </a:r>
            <a:r>
              <a:rPr lang="en-US" dirty="0" smtClean="0"/>
              <a:t>three sources the </a:t>
            </a:r>
            <a:r>
              <a:rPr lang="en-US" b="1" dirty="0" smtClean="0">
                <a:solidFill>
                  <a:schemeClr val="accent6"/>
                </a:solidFill>
              </a:rPr>
              <a:t>implemented software</a:t>
            </a:r>
            <a:r>
              <a:rPr lang="en-US" dirty="0" smtClean="0"/>
              <a:t>, the </a:t>
            </a:r>
            <a:r>
              <a:rPr lang="en-US" b="1" dirty="0" smtClean="0">
                <a:solidFill>
                  <a:schemeClr val="accent6"/>
                </a:solidFill>
              </a:rPr>
              <a:t>customer</a:t>
            </a:r>
            <a:r>
              <a:rPr lang="en-US" dirty="0" smtClean="0">
                <a:solidFill>
                  <a:schemeClr val="accent2"/>
                </a:solidFill>
              </a:rPr>
              <a:t> </a:t>
            </a:r>
            <a:r>
              <a:rPr lang="en-US" dirty="0" smtClean="0"/>
              <a:t>and </a:t>
            </a:r>
            <a:r>
              <a:rPr lang="en-US" b="1" dirty="0" smtClean="0">
                <a:solidFill>
                  <a:schemeClr val="accent6"/>
                </a:solidFill>
              </a:rPr>
              <a:t>other</a:t>
            </a:r>
            <a:r>
              <a:rPr lang="en-US" b="1" dirty="0" smtClean="0">
                <a:solidFill>
                  <a:schemeClr val="accent2"/>
                </a:solidFill>
              </a:rPr>
              <a:t> </a:t>
            </a:r>
            <a:r>
              <a:rPr lang="en-US" b="1" dirty="0" smtClean="0">
                <a:solidFill>
                  <a:schemeClr val="accent6"/>
                </a:solidFill>
              </a:rPr>
              <a:t>software team members</a:t>
            </a:r>
            <a:r>
              <a:rPr lang="en-US" dirty="0" smtClean="0"/>
              <a:t>, it uses </a:t>
            </a:r>
            <a:r>
              <a:rPr lang="en-US" b="1" dirty="0" smtClean="0">
                <a:solidFill>
                  <a:schemeClr val="accent6"/>
                </a:solidFill>
              </a:rPr>
              <a:t>Unit testing</a:t>
            </a:r>
            <a:r>
              <a:rPr lang="en-US" b="1" dirty="0" smtClean="0">
                <a:solidFill>
                  <a:schemeClr val="accent2"/>
                </a:solidFill>
              </a:rPr>
              <a:t> </a:t>
            </a:r>
            <a:r>
              <a:rPr lang="en-US" dirty="0" smtClean="0"/>
              <a:t>as primary testing</a:t>
            </a:r>
          </a:p>
          <a:p>
            <a:r>
              <a:rPr lang="en-US" b="1" dirty="0" smtClean="0"/>
              <a:t>Courage: </a:t>
            </a:r>
            <a:r>
              <a:rPr lang="en-US" dirty="0" smtClean="0"/>
              <a:t>It demands courage (discipline), there is often significant pressure to design for future requirements, XP team </a:t>
            </a:r>
            <a:r>
              <a:rPr lang="en-US" b="1" dirty="0" smtClean="0">
                <a:solidFill>
                  <a:schemeClr val="accent6"/>
                </a:solidFill>
              </a:rPr>
              <a:t>must have the discipline (courage) to design for today</a:t>
            </a:r>
          </a:p>
          <a:p>
            <a:r>
              <a:rPr lang="en-US" b="1" dirty="0" smtClean="0"/>
              <a:t>Respect: </a:t>
            </a:r>
            <a:r>
              <a:rPr lang="en-US" dirty="0" smtClean="0"/>
              <a:t>XP team </a:t>
            </a:r>
            <a:r>
              <a:rPr lang="en-US" b="1" dirty="0" smtClean="0">
                <a:solidFill>
                  <a:schemeClr val="accent6"/>
                </a:solidFill>
              </a:rPr>
              <a:t>respect</a:t>
            </a:r>
            <a:r>
              <a:rPr lang="en-US" dirty="0" smtClean="0"/>
              <a:t> among </a:t>
            </a:r>
            <a:r>
              <a:rPr lang="en-US" b="1" dirty="0" smtClean="0">
                <a:solidFill>
                  <a:schemeClr val="accent6"/>
                </a:solidFill>
              </a:rPr>
              <a:t>members</a:t>
            </a:r>
            <a:endParaRPr lang="en-US" b="1" dirty="0">
              <a:solidFill>
                <a:schemeClr val="accent6"/>
              </a:solidFill>
            </a:endParaRPr>
          </a:p>
        </p:txBody>
      </p:sp>
    </p:spTree>
    <p:extLst>
      <p:ext uri="{BB962C8B-B14F-4D97-AF65-F5344CB8AC3E}">
        <p14:creationId xmlns:p14="http://schemas.microsoft.com/office/powerpoint/2010/main" val="98156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XP Process</a:t>
            </a:r>
          </a:p>
        </p:txBody>
      </p:sp>
      <p:pic>
        <p:nvPicPr>
          <p:cNvPr id="4" name="Picture 2"/>
          <p:cNvPicPr>
            <a:picLocks noChangeAspect="1" noChangeArrowheads="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64458" y="1985679"/>
            <a:ext cx="5684645" cy="4509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0" y="784295"/>
            <a:ext cx="6200349" cy="415498"/>
          </a:xfrm>
          <a:prstGeom prst="rect">
            <a:avLst/>
          </a:prstGeom>
          <a:noFill/>
        </p:spPr>
        <p:txBody>
          <a:bodyPr wrap="square" rtlCol="0">
            <a:spAutoFit/>
          </a:bodyPr>
          <a:lstStyle/>
          <a:p>
            <a:pPr algn="ctr"/>
            <a:r>
              <a:rPr lang="en-US" sz="2000" dirty="0"/>
              <a:t>It considers four framework </a:t>
            </a:r>
            <a:r>
              <a:rPr lang="en-US" sz="2000" dirty="0" smtClean="0"/>
              <a:t>activities</a:t>
            </a:r>
            <a:endParaRPr lang="en-US" sz="2000" dirty="0"/>
          </a:p>
        </p:txBody>
      </p:sp>
      <p:sp>
        <p:nvSpPr>
          <p:cNvPr id="6" name="TextBox 5"/>
          <p:cNvSpPr txBox="1"/>
          <p:nvPr/>
        </p:nvSpPr>
        <p:spPr>
          <a:xfrm>
            <a:off x="-13446" y="1254334"/>
            <a:ext cx="6269120" cy="461665"/>
          </a:xfrm>
          <a:prstGeom prst="rect">
            <a:avLst/>
          </a:prstGeom>
          <a:noFill/>
        </p:spPr>
        <p:txBody>
          <a:bodyPr wrap="square" rtlCol="0">
            <a:spAutoFit/>
          </a:bodyPr>
          <a:lstStyle/>
          <a:p>
            <a:pPr algn="ctr"/>
            <a:r>
              <a:rPr lang="en-US" sz="2400" b="1" dirty="0" smtClean="0">
                <a:solidFill>
                  <a:schemeClr val="accent6"/>
                </a:solidFill>
              </a:rPr>
              <a:t>1.</a:t>
            </a:r>
            <a:r>
              <a:rPr lang="en-US" sz="2400" dirty="0" smtClean="0"/>
              <a:t> Planning </a:t>
            </a:r>
            <a:r>
              <a:rPr lang="en-US" sz="2400" dirty="0">
                <a:solidFill>
                  <a:srgbClr val="BF2323"/>
                </a:solidFill>
                <a:latin typeface="Wingdings" panose="05000000000000000000" pitchFamily="2" charset="2"/>
                <a:ea typeface="Roboto Condensed Light" panose="02000000000000000000" pitchFamily="2" charset="0"/>
              </a:rPr>
              <a:t></a:t>
            </a:r>
            <a:r>
              <a:rPr lang="en-US" sz="2400" dirty="0" smtClean="0"/>
              <a:t> </a:t>
            </a:r>
            <a:r>
              <a:rPr lang="en-US" sz="2400" b="1" dirty="0" smtClean="0">
                <a:solidFill>
                  <a:schemeClr val="accent6"/>
                </a:solidFill>
              </a:rPr>
              <a:t>2.</a:t>
            </a:r>
            <a:r>
              <a:rPr lang="en-US" sz="2400" dirty="0" smtClean="0"/>
              <a:t> Design </a:t>
            </a:r>
            <a:r>
              <a:rPr lang="en-US" sz="2400" dirty="0">
                <a:solidFill>
                  <a:srgbClr val="BF2323"/>
                </a:solidFill>
                <a:latin typeface="Wingdings" panose="05000000000000000000" pitchFamily="2" charset="2"/>
                <a:ea typeface="Roboto Condensed Light" panose="02000000000000000000" pitchFamily="2" charset="0"/>
              </a:rPr>
              <a:t></a:t>
            </a:r>
            <a:r>
              <a:rPr lang="en-US" sz="2400" dirty="0" smtClean="0"/>
              <a:t> </a:t>
            </a:r>
            <a:r>
              <a:rPr lang="en-US" sz="2400" b="1" dirty="0" smtClean="0">
                <a:solidFill>
                  <a:schemeClr val="accent6"/>
                </a:solidFill>
              </a:rPr>
              <a:t>3.</a:t>
            </a:r>
            <a:r>
              <a:rPr lang="en-US" sz="2400" dirty="0" smtClean="0"/>
              <a:t> Coding </a:t>
            </a:r>
            <a:r>
              <a:rPr lang="en-US" sz="2400" dirty="0">
                <a:solidFill>
                  <a:srgbClr val="BF2323"/>
                </a:solidFill>
                <a:latin typeface="Wingdings" panose="05000000000000000000" pitchFamily="2" charset="2"/>
                <a:ea typeface="Roboto Condensed Light" panose="02000000000000000000" pitchFamily="2" charset="0"/>
              </a:rPr>
              <a:t></a:t>
            </a:r>
            <a:r>
              <a:rPr lang="en-US" sz="2400" dirty="0" smtClean="0"/>
              <a:t> </a:t>
            </a:r>
            <a:r>
              <a:rPr lang="en-US" sz="2400" b="1" dirty="0" smtClean="0">
                <a:solidFill>
                  <a:schemeClr val="accent6"/>
                </a:solidFill>
              </a:rPr>
              <a:t>4.</a:t>
            </a:r>
            <a:r>
              <a:rPr lang="en-US" sz="2400" dirty="0" smtClean="0"/>
              <a:t> Testing</a:t>
            </a:r>
            <a:endParaRPr lang="en-US" sz="2400" dirty="0"/>
          </a:p>
        </p:txBody>
      </p:sp>
      <p:cxnSp>
        <p:nvCxnSpPr>
          <p:cNvPr id="8" name="Straight Connector 7"/>
          <p:cNvCxnSpPr/>
          <p:nvPr/>
        </p:nvCxnSpPr>
        <p:spPr>
          <a:xfrm>
            <a:off x="6200349" y="711201"/>
            <a:ext cx="68771" cy="58928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6451595" y="862676"/>
            <a:ext cx="5422541" cy="552568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Rectangle 9"/>
          <p:cNvSpPr/>
          <p:nvPr/>
        </p:nvSpPr>
        <p:spPr>
          <a:xfrm>
            <a:off x="6451594" y="862675"/>
            <a:ext cx="5422541" cy="457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sz="2400" b="1" dirty="0" smtClean="0"/>
              <a:t>Planning</a:t>
            </a:r>
            <a:endParaRPr lang="en-US" sz="2400" b="1" dirty="0"/>
          </a:p>
        </p:txBody>
      </p:sp>
      <p:sp>
        <p:nvSpPr>
          <p:cNvPr id="11" name="TextBox 10"/>
          <p:cNvSpPr txBox="1"/>
          <p:nvPr/>
        </p:nvSpPr>
        <p:spPr>
          <a:xfrm>
            <a:off x="6520365" y="1392973"/>
            <a:ext cx="5353769" cy="2923877"/>
          </a:xfrm>
          <a:prstGeom prst="rect">
            <a:avLst/>
          </a:prstGeom>
          <a:noFill/>
        </p:spPr>
        <p:txBody>
          <a:bodyPr wrap="square" rtlCol="0">
            <a:spAutoFit/>
          </a:bodyPr>
          <a:lstStyle/>
          <a:p>
            <a:r>
              <a:rPr lang="en-US" sz="2400" dirty="0"/>
              <a:t>User </a:t>
            </a:r>
            <a:r>
              <a:rPr lang="en-US" sz="2400" dirty="0" smtClean="0"/>
              <a:t>Stories</a:t>
            </a:r>
          </a:p>
          <a:p>
            <a:pPr marL="342900" indent="-342900">
              <a:buClr>
                <a:schemeClr val="tx1"/>
              </a:buClr>
              <a:buFont typeface="Arial" panose="020B0604020202020204" pitchFamily="34" charset="0"/>
              <a:buChar char="•"/>
            </a:pPr>
            <a:r>
              <a:rPr lang="en-US" sz="2000" b="1" dirty="0">
                <a:solidFill>
                  <a:srgbClr val="C00000"/>
                </a:solidFill>
              </a:rPr>
              <a:t>Customers assigns value </a:t>
            </a:r>
            <a:r>
              <a:rPr lang="en-US" sz="2000" dirty="0"/>
              <a:t>(priority)</a:t>
            </a:r>
          </a:p>
          <a:p>
            <a:pPr marL="342900" indent="-342900">
              <a:buClr>
                <a:schemeClr val="tx1"/>
              </a:buClr>
              <a:buFont typeface="Arial" panose="020B0604020202020204" pitchFamily="34" charset="0"/>
              <a:buChar char="•"/>
            </a:pPr>
            <a:r>
              <a:rPr lang="en-US" b="1" dirty="0">
                <a:solidFill>
                  <a:srgbClr val="C00000"/>
                </a:solidFill>
              </a:rPr>
              <a:t>Developers assigns cost </a:t>
            </a:r>
            <a:r>
              <a:rPr lang="en-US" dirty="0"/>
              <a:t>(number of development weeks</a:t>
            </a:r>
            <a:r>
              <a:rPr lang="en-US" dirty="0" smtClean="0"/>
              <a:t>)</a:t>
            </a:r>
          </a:p>
          <a:p>
            <a:r>
              <a:rPr lang="en-US" sz="2400" dirty="0"/>
              <a:t>Project velocity</a:t>
            </a:r>
          </a:p>
          <a:p>
            <a:pPr marL="342900" indent="-342900">
              <a:buClr>
                <a:schemeClr val="tx1"/>
              </a:buClr>
              <a:buFont typeface="Arial" panose="020B0604020202020204" pitchFamily="34" charset="0"/>
              <a:buChar char="•"/>
            </a:pPr>
            <a:r>
              <a:rPr lang="en-US" sz="2000" dirty="0"/>
              <a:t>Computed at the end of first release</a:t>
            </a:r>
          </a:p>
          <a:p>
            <a:pPr marL="342900" indent="-342900">
              <a:buClr>
                <a:schemeClr val="tx1"/>
              </a:buClr>
              <a:buFont typeface="Arial" panose="020B0604020202020204" pitchFamily="34" charset="0"/>
              <a:buChar char="•"/>
            </a:pPr>
            <a:r>
              <a:rPr lang="en-US" sz="2000" b="1" dirty="0">
                <a:solidFill>
                  <a:srgbClr val="C00000"/>
                </a:solidFill>
              </a:rPr>
              <a:t>Number of stories implemented in first release</a:t>
            </a:r>
          </a:p>
          <a:p>
            <a:pPr marL="342900" indent="-342900">
              <a:buClr>
                <a:schemeClr val="tx1"/>
              </a:buClr>
              <a:buFont typeface="Arial" panose="020B0604020202020204" pitchFamily="34" charset="0"/>
              <a:buChar char="•"/>
            </a:pPr>
            <a:r>
              <a:rPr lang="en-US" sz="2000" dirty="0"/>
              <a:t>Estimates for future release</a:t>
            </a:r>
          </a:p>
          <a:p>
            <a:pPr marL="342900" indent="-342900">
              <a:buClr>
                <a:schemeClr val="tx1"/>
              </a:buClr>
              <a:buFont typeface="Arial" panose="020B0604020202020204" pitchFamily="34" charset="0"/>
              <a:buChar char="•"/>
            </a:pPr>
            <a:r>
              <a:rPr lang="en-US" sz="2000" b="1" dirty="0">
                <a:solidFill>
                  <a:srgbClr val="C00000"/>
                </a:solidFill>
              </a:rPr>
              <a:t>Guard against </a:t>
            </a:r>
            <a:r>
              <a:rPr lang="en-US" sz="2000" b="1" dirty="0" smtClean="0">
                <a:solidFill>
                  <a:srgbClr val="C00000"/>
                </a:solidFill>
              </a:rPr>
              <a:t>over-commitment</a:t>
            </a:r>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81561" y="4400179"/>
            <a:ext cx="2632256" cy="1826128"/>
          </a:xfrm>
          <a:prstGeom prst="rect">
            <a:avLst/>
          </a:prstGeom>
        </p:spPr>
      </p:pic>
    </p:spTree>
    <p:extLst>
      <p:ext uri="{BB962C8B-B14F-4D97-AF65-F5344CB8AC3E}">
        <p14:creationId xmlns:p14="http://schemas.microsoft.com/office/powerpoint/2010/main" val="933408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1">
                                            <p:txEl>
                                              <p:pRg st="1" end="1"/>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1">
                                            <p:txEl>
                                              <p:pRg st="3" end="3"/>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1">
                                            <p:txEl>
                                              <p:pRg st="4" end="4"/>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1">
                                            <p:txEl>
                                              <p:pRg st="5" end="5"/>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1">
                                            <p:txEl>
                                              <p:pRg st="6" end="6"/>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XP Process cont.</a:t>
            </a:r>
          </a:p>
        </p:txBody>
      </p:sp>
      <p:sp>
        <p:nvSpPr>
          <p:cNvPr id="4" name="Rectangle 3"/>
          <p:cNvSpPr/>
          <p:nvPr/>
        </p:nvSpPr>
        <p:spPr>
          <a:xfrm>
            <a:off x="177114" y="787400"/>
            <a:ext cx="11805336" cy="2387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 name="TextBox 4"/>
          <p:cNvSpPr txBox="1"/>
          <p:nvPr/>
        </p:nvSpPr>
        <p:spPr>
          <a:xfrm>
            <a:off x="3006556" y="870104"/>
            <a:ext cx="8398044" cy="2246769"/>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n-US" sz="2000" b="1" dirty="0">
                <a:solidFill>
                  <a:srgbClr val="C00000"/>
                </a:solidFill>
              </a:rPr>
              <a:t>Keep-it-Simple</a:t>
            </a:r>
            <a:r>
              <a:rPr lang="en-US" sz="2000" dirty="0"/>
              <a:t> (Design of extra functionality is discouraged)</a:t>
            </a:r>
          </a:p>
          <a:p>
            <a:pPr marL="342900" indent="-342900">
              <a:buClr>
                <a:schemeClr val="tx1"/>
              </a:buClr>
              <a:buFont typeface="Arial" panose="020B0604020202020204" pitchFamily="34" charset="0"/>
              <a:buChar char="•"/>
            </a:pPr>
            <a:r>
              <a:rPr lang="en-US" sz="2000" b="1" dirty="0">
                <a:solidFill>
                  <a:srgbClr val="C00000"/>
                </a:solidFill>
              </a:rPr>
              <a:t>Preparation of CRC card </a:t>
            </a:r>
            <a:r>
              <a:rPr lang="en-US" sz="2000" dirty="0"/>
              <a:t>is work project</a:t>
            </a:r>
          </a:p>
          <a:p>
            <a:pPr marL="800100" lvl="1" indent="-342900">
              <a:buClr>
                <a:schemeClr val="tx1"/>
              </a:buClr>
              <a:buFont typeface="Arial" panose="020B0604020202020204" pitchFamily="34" charset="0"/>
              <a:buChar char="•"/>
            </a:pPr>
            <a:r>
              <a:rPr lang="en-US" sz="2000" dirty="0"/>
              <a:t>CRC cards identify and organize object oriented classes</a:t>
            </a:r>
          </a:p>
          <a:p>
            <a:pPr marL="342900" indent="-342900">
              <a:buClr>
                <a:schemeClr val="tx1"/>
              </a:buClr>
              <a:buFont typeface="Arial" panose="020B0604020202020204" pitchFamily="34" charset="0"/>
              <a:buChar char="•"/>
            </a:pPr>
            <a:r>
              <a:rPr lang="en-US" sz="2000" b="1" dirty="0">
                <a:solidFill>
                  <a:srgbClr val="C00000"/>
                </a:solidFill>
              </a:rPr>
              <a:t>Spike </a:t>
            </a:r>
            <a:r>
              <a:rPr lang="en-US" sz="2000" b="1" dirty="0" smtClean="0">
                <a:solidFill>
                  <a:srgbClr val="C00000"/>
                </a:solidFill>
              </a:rPr>
              <a:t>Solutions (</a:t>
            </a:r>
            <a:r>
              <a:rPr lang="en-US" sz="2000" dirty="0">
                <a:solidFill>
                  <a:srgbClr val="C00000"/>
                </a:solidFill>
              </a:rPr>
              <a:t>in case of difficult design problem is encountered</a:t>
            </a:r>
            <a:r>
              <a:rPr lang="en-US" sz="2000" b="1" dirty="0" smtClean="0">
                <a:solidFill>
                  <a:srgbClr val="C00000"/>
                </a:solidFill>
              </a:rPr>
              <a:t>)</a:t>
            </a:r>
            <a:endParaRPr lang="en-US" sz="2000" b="1" dirty="0">
              <a:solidFill>
                <a:srgbClr val="C00000"/>
              </a:solidFill>
            </a:endParaRPr>
          </a:p>
          <a:p>
            <a:pPr marL="800100" lvl="1" indent="-342900">
              <a:buClr>
                <a:schemeClr val="tx1"/>
              </a:buClr>
              <a:buFont typeface="Arial" panose="020B0604020202020204" pitchFamily="34" charset="0"/>
              <a:buChar char="•"/>
            </a:pPr>
            <a:r>
              <a:rPr lang="en-US" sz="2000" dirty="0"/>
              <a:t>Operational prototype intended to clear </a:t>
            </a:r>
            <a:r>
              <a:rPr lang="en-US" sz="2000" dirty="0" smtClean="0"/>
              <a:t>confusion</a:t>
            </a:r>
            <a:endParaRPr lang="en-US" sz="2000" dirty="0"/>
          </a:p>
          <a:p>
            <a:pPr marL="342900" indent="-342900">
              <a:buClr>
                <a:schemeClr val="tx1"/>
              </a:buClr>
              <a:buFont typeface="Arial" panose="020B0604020202020204" pitchFamily="34" charset="0"/>
              <a:buChar char="•"/>
            </a:pPr>
            <a:r>
              <a:rPr lang="en-US" sz="2000" dirty="0"/>
              <a:t>Refactoring</a:t>
            </a:r>
          </a:p>
          <a:p>
            <a:pPr marL="342900" indent="-342900">
              <a:buClr>
                <a:schemeClr val="tx1"/>
              </a:buClr>
              <a:buFont typeface="Arial" panose="020B0604020202020204" pitchFamily="34" charset="0"/>
              <a:buChar char="•"/>
            </a:pPr>
            <a:r>
              <a:rPr lang="en-US" sz="2000" dirty="0"/>
              <a:t>Modify internals of code, No observable change</a:t>
            </a:r>
            <a:endParaRPr lang="en-US" sz="2000" dirty="0" smtClean="0"/>
          </a:p>
        </p:txBody>
      </p:sp>
      <p:sp>
        <p:nvSpPr>
          <p:cNvPr id="6" name="Rectangle 5"/>
          <p:cNvSpPr/>
          <p:nvPr/>
        </p:nvSpPr>
        <p:spPr>
          <a:xfrm>
            <a:off x="177114" y="787400"/>
            <a:ext cx="546786" cy="2387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400" b="1" dirty="0" smtClean="0"/>
              <a:t>Design</a:t>
            </a:r>
            <a:endParaRPr lang="en-US" sz="2400" b="1"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063" y="1575091"/>
            <a:ext cx="2045199" cy="1171286"/>
          </a:xfrm>
          <a:prstGeom prst="rect">
            <a:avLst/>
          </a:prstGeom>
        </p:spPr>
      </p:pic>
      <p:sp>
        <p:nvSpPr>
          <p:cNvPr id="8" name="TextBox 7"/>
          <p:cNvSpPr txBox="1"/>
          <p:nvPr/>
        </p:nvSpPr>
        <p:spPr>
          <a:xfrm>
            <a:off x="1065128" y="828752"/>
            <a:ext cx="1600200" cy="461665"/>
          </a:xfrm>
          <a:prstGeom prst="rect">
            <a:avLst/>
          </a:prstGeom>
          <a:noFill/>
        </p:spPr>
        <p:txBody>
          <a:bodyPr wrap="square" rtlCol="0">
            <a:spAutoFit/>
          </a:bodyPr>
          <a:lstStyle/>
          <a:p>
            <a:pPr algn="ctr"/>
            <a:r>
              <a:rPr lang="en-US" sz="2400" b="1" dirty="0"/>
              <a:t>CRC card</a:t>
            </a:r>
          </a:p>
        </p:txBody>
      </p:sp>
      <p:sp>
        <p:nvSpPr>
          <p:cNvPr id="9" name="Rectangle 8"/>
          <p:cNvSpPr/>
          <p:nvPr/>
        </p:nvSpPr>
        <p:spPr>
          <a:xfrm>
            <a:off x="171188" y="3225799"/>
            <a:ext cx="11811262" cy="200797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Rectangle 9"/>
          <p:cNvSpPr/>
          <p:nvPr/>
        </p:nvSpPr>
        <p:spPr>
          <a:xfrm>
            <a:off x="171188" y="3225799"/>
            <a:ext cx="552712" cy="20079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400" b="1" dirty="0"/>
              <a:t>Coding</a:t>
            </a:r>
          </a:p>
        </p:txBody>
      </p:sp>
      <p:sp>
        <p:nvSpPr>
          <p:cNvPr id="11" name="TextBox 10"/>
          <p:cNvSpPr txBox="1"/>
          <p:nvPr/>
        </p:nvSpPr>
        <p:spPr>
          <a:xfrm>
            <a:off x="2962406" y="3263900"/>
            <a:ext cx="9020044" cy="1938992"/>
          </a:xfrm>
          <a:prstGeom prst="rect">
            <a:avLst/>
          </a:prstGeom>
          <a:noFill/>
        </p:spPr>
        <p:txBody>
          <a:bodyPr wrap="square" rtlCol="0">
            <a:spAutoFit/>
          </a:bodyPr>
          <a:lstStyle/>
          <a:p>
            <a:pPr marL="342900" indent="-342900" algn="just">
              <a:buClr>
                <a:schemeClr val="tx1"/>
              </a:buClr>
              <a:buFont typeface="Arial" panose="020B0604020202020204" pitchFamily="34" charset="0"/>
              <a:buChar char="•"/>
            </a:pPr>
            <a:r>
              <a:rPr lang="en-US" sz="2000" b="1" dirty="0">
                <a:solidFill>
                  <a:srgbClr val="C00000"/>
                </a:solidFill>
              </a:rPr>
              <a:t>Develops</a:t>
            </a:r>
            <a:r>
              <a:rPr lang="en-US" sz="2000" dirty="0">
                <a:solidFill>
                  <a:srgbClr val="C00000"/>
                </a:solidFill>
              </a:rPr>
              <a:t> </a:t>
            </a:r>
            <a:r>
              <a:rPr lang="en-US" sz="2000" dirty="0"/>
              <a:t>a series of </a:t>
            </a:r>
            <a:r>
              <a:rPr lang="en-US" sz="2000" b="1" dirty="0">
                <a:solidFill>
                  <a:srgbClr val="C00000"/>
                </a:solidFill>
              </a:rPr>
              <a:t>Unit test </a:t>
            </a:r>
            <a:r>
              <a:rPr lang="en-US" sz="2000" dirty="0"/>
              <a:t>for stories included in current release</a:t>
            </a:r>
          </a:p>
          <a:p>
            <a:pPr marL="342900" indent="-342900" algn="just">
              <a:buClr>
                <a:schemeClr val="tx1"/>
              </a:buClr>
              <a:buFont typeface="Arial" panose="020B0604020202020204" pitchFamily="34" charset="0"/>
              <a:buChar char="•"/>
            </a:pPr>
            <a:r>
              <a:rPr lang="en-US" sz="2000" b="1" dirty="0"/>
              <a:t>Complete code </a:t>
            </a:r>
            <a:r>
              <a:rPr lang="en-US" sz="2000" dirty="0"/>
              <a:t>perform </a:t>
            </a:r>
            <a:r>
              <a:rPr lang="en-US" sz="2000" b="1" dirty="0">
                <a:solidFill>
                  <a:srgbClr val="C00000"/>
                </a:solidFill>
              </a:rPr>
              <a:t>unit-test</a:t>
            </a:r>
            <a:r>
              <a:rPr lang="en-US" sz="2000" dirty="0"/>
              <a:t> to get immediate feedback</a:t>
            </a:r>
          </a:p>
          <a:p>
            <a:pPr marL="342900" indent="-342900" algn="just">
              <a:buClr>
                <a:schemeClr val="tx1"/>
              </a:buClr>
              <a:buFont typeface="Arial" panose="020B0604020202020204" pitchFamily="34" charset="0"/>
              <a:buChar char="•"/>
            </a:pPr>
            <a:r>
              <a:rPr lang="en-US" sz="2000" dirty="0"/>
              <a:t>XP recommend </a:t>
            </a:r>
            <a:r>
              <a:rPr lang="en-US" sz="2000" b="1" dirty="0">
                <a:solidFill>
                  <a:srgbClr val="C00000"/>
                </a:solidFill>
              </a:rPr>
              <a:t>pair-programming</a:t>
            </a:r>
            <a:r>
              <a:rPr lang="en-US" sz="2000" dirty="0"/>
              <a:t>, </a:t>
            </a:r>
            <a:r>
              <a:rPr lang="en-US" sz="2000" b="1" dirty="0">
                <a:solidFill>
                  <a:srgbClr val="C00000"/>
                </a:solidFill>
              </a:rPr>
              <a:t>“Two heads are better than one</a:t>
            </a:r>
            <a:r>
              <a:rPr lang="en-US" sz="2000" b="1" dirty="0" smtClean="0">
                <a:solidFill>
                  <a:srgbClr val="C00000"/>
                </a:solidFill>
              </a:rPr>
              <a:t>”</a:t>
            </a:r>
          </a:p>
          <a:p>
            <a:pPr marL="342900" indent="-342900" algn="just">
              <a:buClr>
                <a:schemeClr val="tx1"/>
              </a:buClr>
              <a:buFont typeface="Arial" panose="020B0604020202020204" pitchFamily="34" charset="0"/>
              <a:buChar char="•"/>
            </a:pPr>
            <a:r>
              <a:rPr lang="en-US" sz="2000" b="1" dirty="0">
                <a:solidFill>
                  <a:srgbClr val="C00000"/>
                </a:solidFill>
              </a:rPr>
              <a:t>Integrate code </a:t>
            </a:r>
            <a:r>
              <a:rPr lang="en-US" sz="2000" dirty="0"/>
              <a:t>with other team members, this </a:t>
            </a:r>
            <a:r>
              <a:rPr lang="en-US" sz="2000" b="1" dirty="0">
                <a:solidFill>
                  <a:srgbClr val="C00000"/>
                </a:solidFill>
              </a:rPr>
              <a:t>“continuous integration”</a:t>
            </a:r>
            <a:r>
              <a:rPr lang="en-US" sz="2000" dirty="0"/>
              <a:t> helps to avoid compatibility &amp; interfacing problems, </a:t>
            </a:r>
            <a:r>
              <a:rPr lang="en-US" sz="2000" b="1" dirty="0">
                <a:solidFill>
                  <a:srgbClr val="C00000"/>
                </a:solidFill>
              </a:rPr>
              <a:t>“smoke testing”</a:t>
            </a:r>
            <a:r>
              <a:rPr lang="en-US" sz="2000" dirty="0"/>
              <a:t> environment to uncover errors </a:t>
            </a:r>
            <a:r>
              <a:rPr lang="en-US" sz="2000" dirty="0" smtClean="0"/>
              <a:t>early</a:t>
            </a:r>
            <a:endParaRPr lang="en-US" sz="20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128" y="3380296"/>
            <a:ext cx="1600200" cy="1677629"/>
          </a:xfrm>
          <a:prstGeom prst="rect">
            <a:avLst/>
          </a:prstGeom>
        </p:spPr>
      </p:pic>
      <p:sp>
        <p:nvSpPr>
          <p:cNvPr id="14" name="Rectangle 13"/>
          <p:cNvSpPr/>
          <p:nvPr/>
        </p:nvSpPr>
        <p:spPr>
          <a:xfrm>
            <a:off x="171188" y="5338339"/>
            <a:ext cx="9372862" cy="1093811"/>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5" name="TextBox 14"/>
          <p:cNvSpPr txBox="1"/>
          <p:nvPr/>
        </p:nvSpPr>
        <p:spPr>
          <a:xfrm>
            <a:off x="1771642" y="5391769"/>
            <a:ext cx="7772408" cy="1015663"/>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n-US" sz="2000" b="1" dirty="0">
                <a:solidFill>
                  <a:srgbClr val="C00000"/>
                </a:solidFill>
              </a:rPr>
              <a:t>Unit test </a:t>
            </a:r>
            <a:r>
              <a:rPr lang="en-US" sz="2000" dirty="0"/>
              <a:t>by </a:t>
            </a:r>
            <a:r>
              <a:rPr lang="en-US" sz="2000" b="1" dirty="0">
                <a:solidFill>
                  <a:srgbClr val="C00000"/>
                </a:solidFill>
              </a:rPr>
              <a:t>developers</a:t>
            </a:r>
            <a:r>
              <a:rPr lang="en-US" sz="2000" dirty="0">
                <a:solidFill>
                  <a:srgbClr val="C00000"/>
                </a:solidFill>
              </a:rPr>
              <a:t> </a:t>
            </a:r>
            <a:r>
              <a:rPr lang="en-US" sz="2000" dirty="0"/>
              <a:t>&amp; fix small problems</a:t>
            </a:r>
          </a:p>
          <a:p>
            <a:pPr marL="342900" indent="-342900">
              <a:buClr>
                <a:schemeClr val="tx1"/>
              </a:buClr>
              <a:buFont typeface="Arial" panose="020B0604020202020204" pitchFamily="34" charset="0"/>
              <a:buChar char="•"/>
            </a:pPr>
            <a:r>
              <a:rPr lang="en-US" sz="2000" b="1" dirty="0">
                <a:solidFill>
                  <a:srgbClr val="C00000"/>
                </a:solidFill>
              </a:rPr>
              <a:t>Acceptance tests </a:t>
            </a:r>
            <a:r>
              <a:rPr lang="en-US" sz="2000" dirty="0"/>
              <a:t>- Specified by </a:t>
            </a:r>
            <a:r>
              <a:rPr lang="en-US" sz="2000" b="1" dirty="0" smtClean="0">
                <a:solidFill>
                  <a:srgbClr val="C00000"/>
                </a:solidFill>
              </a:rPr>
              <a:t>customer</a:t>
            </a:r>
          </a:p>
          <a:p>
            <a:pPr marL="342900" indent="-342900">
              <a:buClr>
                <a:schemeClr val="tx1"/>
              </a:buClr>
              <a:buFont typeface="Arial" panose="020B0604020202020204" pitchFamily="34" charset="0"/>
              <a:buChar char="•"/>
            </a:pPr>
            <a:r>
              <a:rPr lang="en-US" sz="2000" dirty="0" smtClean="0"/>
              <a:t>This encourages regression testing strategy  whenever code is modified</a:t>
            </a:r>
          </a:p>
        </p:txBody>
      </p:sp>
      <p:sp>
        <p:nvSpPr>
          <p:cNvPr id="16" name="Rectangle 15"/>
          <p:cNvSpPr/>
          <p:nvPr/>
        </p:nvSpPr>
        <p:spPr>
          <a:xfrm>
            <a:off x="177195" y="5338339"/>
            <a:ext cx="546705" cy="10938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b="1" dirty="0" smtClean="0"/>
              <a:t>Testing</a:t>
            </a:r>
            <a:endParaRPr lang="en-US" sz="2000" b="1" dirty="0"/>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7467" y="5439399"/>
            <a:ext cx="907023" cy="907023"/>
          </a:xfrm>
          <a:prstGeom prst="rect">
            <a:avLst/>
          </a:prstGeom>
        </p:spPr>
      </p:pic>
    </p:spTree>
    <p:extLst>
      <p:ext uri="{BB962C8B-B14F-4D97-AF65-F5344CB8AC3E}">
        <p14:creationId xmlns:p14="http://schemas.microsoft.com/office/powerpoint/2010/main" val="43235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8" grpId="0"/>
      <p:bldP spid="9" grpId="0" animBg="1"/>
      <p:bldP spid="10" grpId="0" animBg="1"/>
      <p:bldP spid="11" grpId="0"/>
      <p:bldP spid="14" grpId="0" animBg="1"/>
      <p:bldP spid="15" grpId="0"/>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t>
            </a:r>
            <a:r>
              <a:rPr lang="en-IN" dirty="0"/>
              <a:t>Scrum?</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20696"/>
          <a:stretch/>
        </p:blipFill>
        <p:spPr>
          <a:xfrm>
            <a:off x="183569" y="862249"/>
            <a:ext cx="4681538" cy="27844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Rounded Rectangular Callout 4"/>
          <p:cNvSpPr/>
          <p:nvPr/>
        </p:nvSpPr>
        <p:spPr>
          <a:xfrm>
            <a:off x="133350" y="3785657"/>
            <a:ext cx="4681538" cy="2316563"/>
          </a:xfrm>
          <a:prstGeom prst="wedgeRoundRectCallout">
            <a:avLst>
              <a:gd name="adj1" fmla="val -28"/>
              <a:gd name="adj2" fmla="val -7119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A scrum is a method of restarting play in rugby that involves players packing closely together with their heads down and attempting to gain possession of the ball</a:t>
            </a:r>
            <a:r>
              <a:rPr lang="en-US" sz="2400" dirty="0" smtClean="0"/>
              <a:t>.</a:t>
            </a:r>
            <a:endParaRPr lang="en-US" sz="2400" dirty="0"/>
          </a:p>
        </p:txBody>
      </p:sp>
      <p:sp>
        <p:nvSpPr>
          <p:cNvPr id="12" name="Rounded Rectangle 11"/>
          <p:cNvSpPr/>
          <p:nvPr/>
        </p:nvSpPr>
        <p:spPr>
          <a:xfrm>
            <a:off x="5095093" y="862249"/>
            <a:ext cx="6849257" cy="4522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lvl="0" algn="ctr"/>
            <a:r>
              <a:rPr lang="en-IN" sz="2400" dirty="0"/>
              <a:t>It is a </a:t>
            </a:r>
            <a:r>
              <a:rPr lang="en-IN" sz="2400" b="1" dirty="0">
                <a:solidFill>
                  <a:srgbClr val="C00000"/>
                </a:solidFill>
              </a:rPr>
              <a:t>lightweight process framework</a:t>
            </a:r>
            <a:r>
              <a:rPr lang="en-IN" sz="2400" dirty="0"/>
              <a:t>.</a:t>
            </a:r>
          </a:p>
        </p:txBody>
      </p:sp>
      <p:sp>
        <p:nvSpPr>
          <p:cNvPr id="13" name="Rounded Rectangle 12"/>
          <p:cNvSpPr/>
          <p:nvPr/>
        </p:nvSpPr>
        <p:spPr>
          <a:xfrm>
            <a:off x="5083350" y="1395064"/>
            <a:ext cx="6861000" cy="8052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lvl="0" algn="ctr"/>
            <a:r>
              <a:rPr lang="en-IN" sz="2200" dirty="0"/>
              <a:t>Lightweight means the </a:t>
            </a:r>
            <a:r>
              <a:rPr lang="en-IN" sz="2200" b="1" dirty="0">
                <a:solidFill>
                  <a:srgbClr val="C00000"/>
                </a:solidFill>
              </a:rPr>
              <a:t>overhead of the process is kept as small </a:t>
            </a:r>
            <a:r>
              <a:rPr lang="en-IN" sz="2200" dirty="0"/>
              <a:t>as possible in order to maximize the productivity.</a:t>
            </a:r>
          </a:p>
        </p:txBody>
      </p:sp>
      <p:sp>
        <p:nvSpPr>
          <p:cNvPr id="14" name="Rectangle 13"/>
          <p:cNvSpPr/>
          <p:nvPr/>
        </p:nvSpPr>
        <p:spPr>
          <a:xfrm>
            <a:off x="5454830" y="2678665"/>
            <a:ext cx="1747807" cy="110699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34794" y="2869453"/>
            <a:ext cx="1029056" cy="803950"/>
          </a:xfrm>
          <a:prstGeom prst="rect">
            <a:avLst/>
          </a:prstGeom>
        </p:spPr>
      </p:pic>
      <p:sp>
        <p:nvSpPr>
          <p:cNvPr id="16" name="Rectangle 15"/>
          <p:cNvSpPr/>
          <p:nvPr/>
        </p:nvSpPr>
        <p:spPr>
          <a:xfrm>
            <a:off x="7315829" y="2720430"/>
            <a:ext cx="1747807" cy="10652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75802" y="2803375"/>
            <a:ext cx="827859" cy="870028"/>
          </a:xfrm>
          <a:prstGeom prst="rect">
            <a:avLst/>
          </a:prstGeom>
        </p:spPr>
      </p:pic>
      <p:sp>
        <p:nvSpPr>
          <p:cNvPr id="18" name="Rectangle 17"/>
          <p:cNvSpPr/>
          <p:nvPr/>
        </p:nvSpPr>
        <p:spPr>
          <a:xfrm>
            <a:off x="9588027" y="3924298"/>
            <a:ext cx="2022050" cy="14478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19" name="Picture 18"/>
          <p:cNvPicPr>
            <a:picLocks noChangeAspect="1"/>
          </p:cNvPicPr>
          <p:nvPr/>
        </p:nvPicPr>
        <p:blipFill rotWithShape="1">
          <a:blip r:embed="rId5">
            <a:duotone>
              <a:schemeClr val="accent1">
                <a:shade val="45000"/>
                <a:satMod val="135000"/>
              </a:schemeClr>
              <a:prstClr val="white"/>
            </a:duotone>
            <a:extLst>
              <a:ext uri="{28A0092B-C50C-407E-A947-70E740481C1C}">
                <a14:useLocalDpi xmlns:a14="http://schemas.microsoft.com/office/drawing/2010/main" val="0"/>
              </a:ext>
            </a:extLst>
          </a:blip>
          <a:srcRect t="12331" b="9584"/>
          <a:stretch/>
        </p:blipFill>
        <p:spPr>
          <a:xfrm>
            <a:off x="9707119" y="3924298"/>
            <a:ext cx="1854144" cy="1447800"/>
          </a:xfrm>
          <a:prstGeom prst="rect">
            <a:avLst/>
          </a:prstGeom>
        </p:spPr>
      </p:pic>
      <p:sp>
        <p:nvSpPr>
          <p:cNvPr id="20" name="Rectangle 19"/>
          <p:cNvSpPr/>
          <p:nvPr/>
        </p:nvSpPr>
        <p:spPr>
          <a:xfrm>
            <a:off x="9170555" y="3924298"/>
            <a:ext cx="414308"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400" b="1" dirty="0" smtClean="0"/>
              <a:t>Sprint</a:t>
            </a:r>
            <a:endParaRPr lang="en-US" sz="2400" b="1" dirty="0"/>
          </a:p>
        </p:txBody>
      </p:sp>
      <p:sp>
        <p:nvSpPr>
          <p:cNvPr id="21" name="Rectangle 20"/>
          <p:cNvSpPr/>
          <p:nvPr/>
        </p:nvSpPr>
        <p:spPr>
          <a:xfrm>
            <a:off x="9594300" y="2378684"/>
            <a:ext cx="2022050" cy="14478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2" name="Rectangle 21"/>
          <p:cNvSpPr/>
          <p:nvPr/>
        </p:nvSpPr>
        <p:spPr>
          <a:xfrm>
            <a:off x="9176828" y="2378684"/>
            <a:ext cx="414308"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400" b="1" dirty="0" smtClean="0"/>
              <a:t>Product</a:t>
            </a:r>
            <a:endParaRPr lang="en-US" sz="2400" b="1" dirty="0"/>
          </a:p>
        </p:txBody>
      </p:sp>
      <p:pic>
        <p:nvPicPr>
          <p:cNvPr id="23" name="Picture 22"/>
          <p:cNvPicPr>
            <a:picLocks noChangeAspect="1"/>
          </p:cNvPicPr>
          <p:nvPr/>
        </p:nvPicPr>
        <p:blipFill rotWithShape="1">
          <a:blip r:embed="rId6">
            <a:extLst>
              <a:ext uri="{28A0092B-C50C-407E-A947-70E740481C1C}">
                <a14:useLocalDpi xmlns:a14="http://schemas.microsoft.com/office/drawing/2010/main" val="0"/>
              </a:ext>
            </a:extLst>
          </a:blip>
          <a:srcRect l="10234" t="9556" r="11779" b="9941"/>
          <a:stretch/>
        </p:blipFill>
        <p:spPr>
          <a:xfrm>
            <a:off x="9642517" y="2572436"/>
            <a:ext cx="1919288" cy="990600"/>
          </a:xfrm>
          <a:prstGeom prst="rect">
            <a:avLst/>
          </a:prstGeom>
        </p:spPr>
      </p:pic>
      <p:sp>
        <p:nvSpPr>
          <p:cNvPr id="24" name="Rectangle 23"/>
          <p:cNvSpPr/>
          <p:nvPr/>
        </p:nvSpPr>
        <p:spPr>
          <a:xfrm>
            <a:off x="5454830" y="2378684"/>
            <a:ext cx="1747807" cy="341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Product Backlog</a:t>
            </a:r>
            <a:endParaRPr lang="en-US" b="1" dirty="0"/>
          </a:p>
        </p:txBody>
      </p:sp>
      <p:sp>
        <p:nvSpPr>
          <p:cNvPr id="25" name="Rectangle 24"/>
          <p:cNvSpPr/>
          <p:nvPr/>
        </p:nvSpPr>
        <p:spPr>
          <a:xfrm>
            <a:off x="7315829" y="2378684"/>
            <a:ext cx="1747807" cy="341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Product Owner</a:t>
            </a:r>
            <a:endParaRPr lang="en-US" b="1" dirty="0"/>
          </a:p>
        </p:txBody>
      </p:sp>
      <p:sp>
        <p:nvSpPr>
          <p:cNvPr id="7" name="Rectangle 6"/>
          <p:cNvSpPr/>
          <p:nvPr/>
        </p:nvSpPr>
        <p:spPr>
          <a:xfrm>
            <a:off x="3425969" y="336944"/>
            <a:ext cx="8758237" cy="369332"/>
          </a:xfrm>
          <a:prstGeom prst="rect">
            <a:avLst/>
          </a:prstGeom>
        </p:spPr>
        <p:txBody>
          <a:bodyPr wrap="square">
            <a:spAutoFit/>
          </a:bodyPr>
          <a:lstStyle/>
          <a:p>
            <a:pPr algn="r"/>
            <a:r>
              <a:rPr lang="en-US" b="1" dirty="0">
                <a:solidFill>
                  <a:srgbClr val="C00000"/>
                </a:solidFill>
              </a:rPr>
              <a:t>Scrum</a:t>
            </a:r>
            <a:r>
              <a:rPr lang="en-US" dirty="0">
                <a:solidFill>
                  <a:srgbClr val="C00000"/>
                </a:solidFill>
              </a:rPr>
              <a:t> </a:t>
            </a:r>
            <a:r>
              <a:rPr lang="en-IN" dirty="0"/>
              <a:t>is an agile process model which is used for </a:t>
            </a:r>
            <a:r>
              <a:rPr lang="en-IN" b="1" dirty="0">
                <a:solidFill>
                  <a:srgbClr val="C00000"/>
                </a:solidFill>
              </a:rPr>
              <a:t>developing</a:t>
            </a:r>
            <a:r>
              <a:rPr lang="en-IN" dirty="0">
                <a:solidFill>
                  <a:srgbClr val="C00000"/>
                </a:solidFill>
              </a:rPr>
              <a:t> </a:t>
            </a:r>
            <a:r>
              <a:rPr lang="en-IN" dirty="0"/>
              <a:t>the </a:t>
            </a:r>
            <a:r>
              <a:rPr lang="en-IN" b="1" dirty="0">
                <a:solidFill>
                  <a:srgbClr val="C00000"/>
                </a:solidFill>
              </a:rPr>
              <a:t>complex software</a:t>
            </a:r>
            <a:r>
              <a:rPr lang="en-IN" dirty="0"/>
              <a:t> systems.</a:t>
            </a:r>
          </a:p>
        </p:txBody>
      </p:sp>
      <p:sp>
        <p:nvSpPr>
          <p:cNvPr id="26" name="Rectangle 25"/>
          <p:cNvSpPr/>
          <p:nvPr/>
        </p:nvSpPr>
        <p:spPr>
          <a:xfrm>
            <a:off x="5955708" y="3924298"/>
            <a:ext cx="3080611" cy="25345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27" name="Picture 2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57503" y="4075176"/>
            <a:ext cx="2720137" cy="2349209"/>
          </a:xfrm>
          <a:prstGeom prst="rect">
            <a:avLst/>
          </a:prstGeom>
        </p:spPr>
      </p:pic>
      <p:sp>
        <p:nvSpPr>
          <p:cNvPr id="28" name="Rectangle 27"/>
          <p:cNvSpPr/>
          <p:nvPr/>
        </p:nvSpPr>
        <p:spPr>
          <a:xfrm>
            <a:off x="5466573" y="3924298"/>
            <a:ext cx="489487" cy="25345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b="1" dirty="0" smtClean="0"/>
              <a:t>Daily Scrum Meeting</a:t>
            </a:r>
            <a:endParaRPr lang="en-US" b="1" dirty="0"/>
          </a:p>
        </p:txBody>
      </p:sp>
    </p:spTree>
    <p:extLst>
      <p:ext uri="{BB962C8B-B14F-4D97-AF65-F5344CB8AC3E}">
        <p14:creationId xmlns:p14="http://schemas.microsoft.com/office/powerpoint/2010/main" val="203848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P spid="13" grpId="0" animBg="1"/>
      <p:bldP spid="14" grpId="0" animBg="1"/>
      <p:bldP spid="16" grpId="0" animBg="1"/>
      <p:bldP spid="18" grpId="0" animBg="1"/>
      <p:bldP spid="20" grpId="0" animBg="1"/>
      <p:bldP spid="21" grpId="0" animBg="1"/>
      <p:bldP spid="22" grpId="0" animBg="1"/>
      <p:bldP spid="24" grpId="0" animBg="1"/>
      <p:bldP spid="25" grpId="0" animBg="1"/>
      <p:bldP spid="26" grpId="0" animBg="1"/>
      <p:bldP spid="2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Scrum framework at a glance</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0730" y="2995089"/>
            <a:ext cx="924786" cy="924786"/>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1712" y="2514600"/>
            <a:ext cx="914400" cy="960978"/>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511" y="4036119"/>
            <a:ext cx="1029056" cy="803950"/>
          </a:xfrm>
          <a:prstGeom prst="rect">
            <a:avLst/>
          </a:prstGeom>
        </p:spPr>
      </p:pic>
      <p:pic>
        <p:nvPicPr>
          <p:cNvPr id="7" name="Picture 6"/>
          <p:cNvPicPr>
            <a:picLocks noChangeAspect="1"/>
          </p:cNvPicPr>
          <p:nvPr/>
        </p:nvPicPr>
        <p:blipFill rotWithShape="1">
          <a:blip r:embed="rId5" cstate="print">
            <a:extLst>
              <a:ext uri="{28A0092B-C50C-407E-A947-70E740481C1C}">
                <a14:useLocalDpi xmlns:a14="http://schemas.microsoft.com/office/drawing/2010/main" val="0"/>
              </a:ext>
            </a:extLst>
          </a:blip>
          <a:srcRect l="6250" t="9374" r="4688" b="6251"/>
          <a:stretch/>
        </p:blipFill>
        <p:spPr>
          <a:xfrm>
            <a:off x="2664530" y="4036118"/>
            <a:ext cx="1076112" cy="803951"/>
          </a:xfrm>
          <a:prstGeom prst="rect">
            <a:avLst/>
          </a:prstGeom>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218125" y="789540"/>
            <a:ext cx="1030952" cy="1030952"/>
          </a:xfrm>
          <a:prstGeom prst="rect">
            <a:avLst/>
          </a:prstGeom>
        </p:spPr>
      </p:pic>
      <p:pic>
        <p:nvPicPr>
          <p:cNvPr id="9" name="Picture 8"/>
          <p:cNvPicPr>
            <a:picLocks noChangeAspect="1"/>
          </p:cNvPicPr>
          <p:nvPr/>
        </p:nvPicPr>
        <p:blipFill rotWithShape="1">
          <a:blip r:embed="rId7">
            <a:extLst>
              <a:ext uri="{28A0092B-C50C-407E-A947-70E740481C1C}">
                <a14:useLocalDpi xmlns:a14="http://schemas.microsoft.com/office/drawing/2010/main" val="0"/>
              </a:ext>
            </a:extLst>
          </a:blip>
          <a:srcRect l="10234" t="9556" r="11779" b="9941"/>
          <a:stretch/>
        </p:blipFill>
        <p:spPr>
          <a:xfrm>
            <a:off x="10405782" y="3547246"/>
            <a:ext cx="1078339" cy="556562"/>
          </a:xfrm>
          <a:prstGeom prst="rect">
            <a:avLst/>
          </a:prstGeom>
        </p:spPr>
      </p:pic>
      <p:pic>
        <p:nvPicPr>
          <p:cNvPr id="10" name="Picture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25920" y="910792"/>
            <a:ext cx="575720" cy="789449"/>
          </a:xfrm>
          <a:prstGeom prst="rect">
            <a:avLst/>
          </a:prstGeom>
        </p:spPr>
      </p:pic>
      <p:sp>
        <p:nvSpPr>
          <p:cNvPr id="11" name="Rectangle 10"/>
          <p:cNvSpPr/>
          <p:nvPr/>
        </p:nvSpPr>
        <p:spPr>
          <a:xfrm>
            <a:off x="75914" y="856300"/>
            <a:ext cx="2998836" cy="738664"/>
          </a:xfrm>
          <a:prstGeom prst="rect">
            <a:avLst/>
          </a:prstGeom>
        </p:spPr>
        <p:txBody>
          <a:bodyPr wrap="square">
            <a:spAutoFit/>
          </a:bodyPr>
          <a:lstStyle/>
          <a:p>
            <a:pPr algn="ctr"/>
            <a:r>
              <a:rPr lang="en-US" sz="2100" b="1" dirty="0"/>
              <a:t>Inputs from Customers, Team, Managers</a:t>
            </a:r>
          </a:p>
        </p:txBody>
      </p:sp>
      <p:sp>
        <p:nvSpPr>
          <p:cNvPr id="12" name="Down Arrow 11"/>
          <p:cNvSpPr/>
          <p:nvPr/>
        </p:nvSpPr>
        <p:spPr>
          <a:xfrm>
            <a:off x="1031967" y="1648599"/>
            <a:ext cx="381000" cy="617225"/>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3" name="Down Arrow 12"/>
          <p:cNvSpPr/>
          <p:nvPr/>
        </p:nvSpPr>
        <p:spPr>
          <a:xfrm>
            <a:off x="1184367" y="1676400"/>
            <a:ext cx="381000" cy="617225"/>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4" name="Down Arrow 13"/>
          <p:cNvSpPr/>
          <p:nvPr/>
        </p:nvSpPr>
        <p:spPr>
          <a:xfrm>
            <a:off x="1336767" y="1744975"/>
            <a:ext cx="381000" cy="617225"/>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5" name="Rectangle 14"/>
          <p:cNvSpPr/>
          <p:nvPr/>
        </p:nvSpPr>
        <p:spPr>
          <a:xfrm>
            <a:off x="650967" y="3440668"/>
            <a:ext cx="1634165" cy="369332"/>
          </a:xfrm>
          <a:prstGeom prst="rect">
            <a:avLst/>
          </a:prstGeom>
        </p:spPr>
        <p:txBody>
          <a:bodyPr wrap="none">
            <a:spAutoFit/>
          </a:bodyPr>
          <a:lstStyle/>
          <a:p>
            <a:pPr algn="ctr"/>
            <a:r>
              <a:rPr lang="en-US" b="1" dirty="0"/>
              <a:t>Product Owner</a:t>
            </a:r>
          </a:p>
        </p:txBody>
      </p:sp>
      <p:sp>
        <p:nvSpPr>
          <p:cNvPr id="16" name="Rectangle 15"/>
          <p:cNvSpPr/>
          <p:nvPr/>
        </p:nvSpPr>
        <p:spPr>
          <a:xfrm>
            <a:off x="970455" y="4876800"/>
            <a:ext cx="1128312" cy="646331"/>
          </a:xfrm>
          <a:prstGeom prst="rect">
            <a:avLst/>
          </a:prstGeom>
        </p:spPr>
        <p:txBody>
          <a:bodyPr wrap="square">
            <a:spAutoFit/>
          </a:bodyPr>
          <a:lstStyle/>
          <a:p>
            <a:pPr algn="ctr"/>
            <a:r>
              <a:rPr lang="en-US" b="1" dirty="0"/>
              <a:t>Product Backlog</a:t>
            </a:r>
          </a:p>
        </p:txBody>
      </p:sp>
      <p:sp>
        <p:nvSpPr>
          <p:cNvPr id="17" name="Rectangle 16"/>
          <p:cNvSpPr/>
          <p:nvPr/>
        </p:nvSpPr>
        <p:spPr>
          <a:xfrm>
            <a:off x="2403567" y="4867870"/>
            <a:ext cx="1632563" cy="646331"/>
          </a:xfrm>
          <a:prstGeom prst="rect">
            <a:avLst/>
          </a:prstGeom>
        </p:spPr>
        <p:txBody>
          <a:bodyPr wrap="square">
            <a:spAutoFit/>
          </a:bodyPr>
          <a:lstStyle/>
          <a:p>
            <a:pPr algn="ctr"/>
            <a:r>
              <a:rPr lang="en-US" b="1" dirty="0"/>
              <a:t>Sprint Planning Meeting</a:t>
            </a:r>
          </a:p>
        </p:txBody>
      </p:sp>
      <p:pic>
        <p:nvPicPr>
          <p:cNvPr id="18" name="Picture 1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413684" y="1627407"/>
            <a:ext cx="5382497" cy="3175407"/>
          </a:xfrm>
          <a:prstGeom prst="rect">
            <a:avLst/>
          </a:prstGeom>
        </p:spPr>
      </p:pic>
      <p:sp>
        <p:nvSpPr>
          <p:cNvPr id="19" name="Rectangle 18"/>
          <p:cNvSpPr/>
          <p:nvPr/>
        </p:nvSpPr>
        <p:spPr>
          <a:xfrm>
            <a:off x="4413519" y="4838546"/>
            <a:ext cx="1059049" cy="646331"/>
          </a:xfrm>
          <a:prstGeom prst="rect">
            <a:avLst/>
          </a:prstGeom>
        </p:spPr>
        <p:txBody>
          <a:bodyPr wrap="square">
            <a:spAutoFit/>
          </a:bodyPr>
          <a:lstStyle/>
          <a:p>
            <a:pPr algn="ctr"/>
            <a:r>
              <a:rPr lang="en-US" b="1" dirty="0"/>
              <a:t>Sprint Backlog</a:t>
            </a:r>
          </a:p>
        </p:txBody>
      </p:sp>
      <p:sp>
        <p:nvSpPr>
          <p:cNvPr id="20" name="Rectangle 19"/>
          <p:cNvSpPr/>
          <p:nvPr/>
        </p:nvSpPr>
        <p:spPr>
          <a:xfrm>
            <a:off x="6373520" y="1710421"/>
            <a:ext cx="938634" cy="523220"/>
          </a:xfrm>
          <a:prstGeom prst="rect">
            <a:avLst/>
          </a:prstGeom>
        </p:spPr>
        <p:txBody>
          <a:bodyPr wrap="square">
            <a:spAutoFit/>
          </a:bodyPr>
          <a:lstStyle/>
          <a:p>
            <a:pPr algn="ctr"/>
            <a:r>
              <a:rPr lang="en-US" sz="1400" b="1" dirty="0"/>
              <a:t>Scrum Master</a:t>
            </a:r>
          </a:p>
        </p:txBody>
      </p:sp>
      <p:sp>
        <p:nvSpPr>
          <p:cNvPr id="21" name="Rectangle 20"/>
          <p:cNvSpPr/>
          <p:nvPr/>
        </p:nvSpPr>
        <p:spPr>
          <a:xfrm>
            <a:off x="10196696" y="1807658"/>
            <a:ext cx="1091034" cy="523220"/>
          </a:xfrm>
          <a:prstGeom prst="rect">
            <a:avLst/>
          </a:prstGeom>
        </p:spPr>
        <p:txBody>
          <a:bodyPr wrap="square">
            <a:spAutoFit/>
          </a:bodyPr>
          <a:lstStyle/>
          <a:p>
            <a:pPr algn="ctr"/>
            <a:r>
              <a:rPr lang="en-US" sz="1400" b="1" dirty="0" smtClean="0"/>
              <a:t>Daily Scrum Meetings</a:t>
            </a:r>
            <a:endParaRPr lang="en-US" sz="1400" b="1" dirty="0"/>
          </a:p>
        </p:txBody>
      </p:sp>
      <p:pic>
        <p:nvPicPr>
          <p:cNvPr id="22" name="Picture 2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430334" y="2562177"/>
            <a:ext cx="818743" cy="342900"/>
          </a:xfrm>
          <a:prstGeom prst="rect">
            <a:avLst/>
          </a:prstGeom>
        </p:spPr>
      </p:pic>
      <p:sp>
        <p:nvSpPr>
          <p:cNvPr id="23" name="Rectangle 22"/>
          <p:cNvSpPr/>
          <p:nvPr/>
        </p:nvSpPr>
        <p:spPr>
          <a:xfrm>
            <a:off x="10066877" y="2943415"/>
            <a:ext cx="1500924" cy="369332"/>
          </a:xfrm>
          <a:prstGeom prst="rect">
            <a:avLst/>
          </a:prstGeom>
        </p:spPr>
        <p:txBody>
          <a:bodyPr wrap="none">
            <a:spAutoFit/>
          </a:bodyPr>
          <a:lstStyle/>
          <a:p>
            <a:pPr algn="ctr"/>
            <a:r>
              <a:rPr lang="en-US" b="1" dirty="0"/>
              <a:t>Sprint </a:t>
            </a:r>
            <a:r>
              <a:rPr lang="en-US" b="1" dirty="0" smtClean="0"/>
              <a:t>Review</a:t>
            </a:r>
            <a:endParaRPr lang="en-US" b="1" dirty="0"/>
          </a:p>
        </p:txBody>
      </p:sp>
      <p:sp>
        <p:nvSpPr>
          <p:cNvPr id="24" name="Rectangle 23"/>
          <p:cNvSpPr/>
          <p:nvPr/>
        </p:nvSpPr>
        <p:spPr>
          <a:xfrm>
            <a:off x="10139107" y="4110173"/>
            <a:ext cx="1549399" cy="369332"/>
          </a:xfrm>
          <a:prstGeom prst="rect">
            <a:avLst/>
          </a:prstGeom>
        </p:spPr>
        <p:txBody>
          <a:bodyPr wrap="none">
            <a:spAutoFit/>
          </a:bodyPr>
          <a:lstStyle/>
          <a:p>
            <a:pPr algn="ctr"/>
            <a:r>
              <a:rPr lang="en-US" b="1" dirty="0"/>
              <a:t>Finished </a:t>
            </a:r>
            <a:r>
              <a:rPr lang="en-US" b="1" dirty="0" smtClean="0"/>
              <a:t>Work</a:t>
            </a:r>
            <a:endParaRPr lang="en-US" b="1" dirty="0"/>
          </a:p>
        </p:txBody>
      </p:sp>
      <p:sp>
        <p:nvSpPr>
          <p:cNvPr id="25" name="Rectangle 24"/>
          <p:cNvSpPr/>
          <p:nvPr/>
        </p:nvSpPr>
        <p:spPr>
          <a:xfrm>
            <a:off x="9855279" y="5544961"/>
            <a:ext cx="2117054" cy="369332"/>
          </a:xfrm>
          <a:prstGeom prst="rect">
            <a:avLst/>
          </a:prstGeom>
        </p:spPr>
        <p:txBody>
          <a:bodyPr wrap="none">
            <a:spAutoFit/>
          </a:bodyPr>
          <a:lstStyle/>
          <a:p>
            <a:r>
              <a:rPr lang="en-US" b="1" dirty="0"/>
              <a:t>Sprint Retrospective</a:t>
            </a:r>
          </a:p>
        </p:txBody>
      </p:sp>
      <p:pic>
        <p:nvPicPr>
          <p:cNvPr id="26" name="Picture 25"/>
          <p:cNvPicPr>
            <a:picLocks noChangeAspect="1"/>
          </p:cNvPicPr>
          <p:nvPr/>
        </p:nvPicPr>
        <p:blipFill rotWithShape="1">
          <a:blip r:embed="rId11" cstate="print">
            <a:extLst>
              <a:ext uri="{28A0092B-C50C-407E-A947-70E740481C1C}">
                <a14:useLocalDpi xmlns:a14="http://schemas.microsoft.com/office/drawing/2010/main" val="0"/>
              </a:ext>
            </a:extLst>
          </a:blip>
          <a:srcRect b="42136"/>
          <a:stretch/>
        </p:blipFill>
        <p:spPr>
          <a:xfrm>
            <a:off x="10153053" y="4820098"/>
            <a:ext cx="1207061" cy="698457"/>
          </a:xfrm>
          <a:prstGeom prst="rect">
            <a:avLst/>
          </a:prstGeom>
        </p:spPr>
      </p:pic>
      <p:sp>
        <p:nvSpPr>
          <p:cNvPr id="27" name="Rounded Rectangular Callout 26"/>
          <p:cNvSpPr/>
          <p:nvPr/>
        </p:nvSpPr>
        <p:spPr>
          <a:xfrm>
            <a:off x="3181205" y="951820"/>
            <a:ext cx="3153662" cy="1511444"/>
          </a:xfrm>
          <a:prstGeom prst="wedgeRoundRectCallout">
            <a:avLst>
              <a:gd name="adj1" fmla="val -47585"/>
              <a:gd name="adj2" fmla="val 84651"/>
              <a:gd name="adj3" fmla="val 16667"/>
            </a:avLst>
          </a:prstGeom>
        </p:spPr>
        <p:style>
          <a:lnRef idx="2">
            <a:schemeClr val="accent6"/>
          </a:lnRef>
          <a:fillRef idx="1">
            <a:schemeClr val="lt1"/>
          </a:fillRef>
          <a:effectRef idx="0">
            <a:schemeClr val="accent6"/>
          </a:effectRef>
          <a:fontRef idx="minor">
            <a:schemeClr val="dk1"/>
          </a:fontRef>
        </p:style>
        <p:txBody>
          <a:bodyPr rtlCol="0" anchor="t"/>
          <a:lstStyle/>
          <a:p>
            <a:pPr algn="ctr"/>
            <a:r>
              <a:rPr lang="en-US" sz="2100" b="1" dirty="0"/>
              <a:t>Team Selects starting at top as much as it can commit to deliver by end of sprint</a:t>
            </a:r>
          </a:p>
          <a:p>
            <a:pPr algn="ctr"/>
            <a:endParaRPr lang="en-US" sz="2100" b="1" dirty="0"/>
          </a:p>
        </p:txBody>
      </p:sp>
      <p:sp>
        <p:nvSpPr>
          <p:cNvPr id="28" name="Rounded Rectangular Callout 27"/>
          <p:cNvSpPr/>
          <p:nvPr/>
        </p:nvSpPr>
        <p:spPr>
          <a:xfrm>
            <a:off x="333016" y="5754820"/>
            <a:ext cx="3904232" cy="757219"/>
          </a:xfrm>
          <a:prstGeom prst="wedgeRoundRectCallout">
            <a:avLst>
              <a:gd name="adj1" fmla="val -19458"/>
              <a:gd name="adj2" fmla="val -8234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100" b="1" dirty="0"/>
          </a:p>
          <a:p>
            <a:pPr algn="ctr"/>
            <a:r>
              <a:rPr lang="en-US" sz="2100" b="1" dirty="0"/>
              <a:t>Prioritized list of what is required: features, bugs to fix...</a:t>
            </a:r>
          </a:p>
          <a:p>
            <a:pPr algn="ctr"/>
            <a:endParaRPr lang="en-US" sz="2100" b="1" dirty="0"/>
          </a:p>
        </p:txBody>
      </p:sp>
      <p:sp>
        <p:nvSpPr>
          <p:cNvPr id="29" name="Rounded Rectangular Callout 28"/>
          <p:cNvSpPr/>
          <p:nvPr/>
        </p:nvSpPr>
        <p:spPr>
          <a:xfrm>
            <a:off x="6373520" y="5495002"/>
            <a:ext cx="3106656" cy="838582"/>
          </a:xfrm>
          <a:prstGeom prst="wedgeRoundRectCallout">
            <a:avLst>
              <a:gd name="adj1" fmla="val 22241"/>
              <a:gd name="adj2" fmla="val -143399"/>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100" b="1" dirty="0"/>
              <a:t>Sprint end date and team deliverable do not change</a:t>
            </a:r>
          </a:p>
        </p:txBody>
      </p:sp>
      <p:cxnSp>
        <p:nvCxnSpPr>
          <p:cNvPr id="30" name="Straight Arrow Connector 29"/>
          <p:cNvCxnSpPr>
            <a:stCxn id="18" idx="0"/>
          </p:cNvCxnSpPr>
          <p:nvPr/>
        </p:nvCxnSpPr>
        <p:spPr>
          <a:xfrm>
            <a:off x="7104933" y="1627407"/>
            <a:ext cx="720031" cy="3298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p:cNvCxnSpPr>
            <a:stCxn id="8" idx="1"/>
          </p:cNvCxnSpPr>
          <p:nvPr/>
        </p:nvCxnSpPr>
        <p:spPr>
          <a:xfrm flipH="1">
            <a:off x="8986766" y="1305016"/>
            <a:ext cx="1231359" cy="699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6682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up)">
                                      <p:cBhvr>
                                        <p:cTn id="14" dur="500"/>
                                        <p:tgtEl>
                                          <p:spTgt spid="13"/>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left)">
                                      <p:cBhvr>
                                        <p:cTn id="50" dur="500"/>
                                        <p:tgtEl>
                                          <p:spTgt spid="18"/>
                                        </p:tgtEl>
                                      </p:cBhvr>
                                    </p:animEffec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wipe(up)">
                                      <p:cBhvr>
                                        <p:cTn id="71" dur="500"/>
                                        <p:tgtEl>
                                          <p:spTgt spid="31"/>
                                        </p:tgtEl>
                                      </p:cBhvr>
                                    </p:animEffect>
                                  </p:childTnLst>
                                </p:cTn>
                              </p:par>
                              <p:par>
                                <p:cTn id="72" presetID="22" presetClass="entr" presetSubtype="1"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wipe(up)">
                                      <p:cBhvr>
                                        <p:cTn id="74" dur="500"/>
                                        <p:tgtEl>
                                          <p:spTgt spid="30"/>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animBg="1"/>
      <p:bldP spid="14" grpId="0" animBg="1"/>
      <p:bldP spid="15" grpId="0"/>
      <p:bldP spid="16" grpId="0"/>
      <p:bldP spid="17" grpId="0"/>
      <p:bldP spid="19" grpId="0"/>
      <p:bldP spid="20" grpId="0"/>
      <p:bldP spid="21" grpId="0"/>
      <p:bldP spid="23" grpId="0"/>
      <p:bldP spid="24" grpId="0"/>
      <p:bldP spid="25" grpId="0"/>
      <p:bldP spid="27" grpId="0" animBg="1"/>
      <p:bldP spid="28" grpId="0" animBg="1"/>
      <p:bldP spid="2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Scrum cont.</a:t>
            </a:r>
            <a:endParaRPr lang="en-US" dirty="0"/>
          </a:p>
        </p:txBody>
      </p:sp>
      <p:sp>
        <p:nvSpPr>
          <p:cNvPr id="4" name="Rectangle 3"/>
          <p:cNvSpPr/>
          <p:nvPr/>
        </p:nvSpPr>
        <p:spPr>
          <a:xfrm>
            <a:off x="172170" y="868214"/>
            <a:ext cx="1832611"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chemeClr val="bg1"/>
                </a:solidFill>
              </a:rPr>
              <a:t>Backlog</a:t>
            </a:r>
          </a:p>
        </p:txBody>
      </p:sp>
      <p:cxnSp>
        <p:nvCxnSpPr>
          <p:cNvPr id="5" name="Straight Connector 4"/>
          <p:cNvCxnSpPr/>
          <p:nvPr/>
        </p:nvCxnSpPr>
        <p:spPr>
          <a:xfrm>
            <a:off x="1993263" y="1329879"/>
            <a:ext cx="9934276" cy="0"/>
          </a:xfrm>
          <a:prstGeom prst="line">
            <a:avLst/>
          </a:prstGeom>
        </p:spPr>
        <p:style>
          <a:lnRef idx="2">
            <a:schemeClr val="accent6"/>
          </a:lnRef>
          <a:fillRef idx="0">
            <a:schemeClr val="accent6"/>
          </a:fillRef>
          <a:effectRef idx="1">
            <a:schemeClr val="accent6"/>
          </a:effectRef>
          <a:fontRef idx="minor">
            <a:schemeClr val="tx1"/>
          </a:fontRef>
        </p:style>
      </p:cxnSp>
      <p:sp>
        <p:nvSpPr>
          <p:cNvPr id="6" name="Content Placeholder 2"/>
          <p:cNvSpPr txBox="1">
            <a:spLocks/>
          </p:cNvSpPr>
          <p:nvPr/>
        </p:nvSpPr>
        <p:spPr>
          <a:xfrm>
            <a:off x="190499" y="1443094"/>
            <a:ext cx="11737040" cy="1743020"/>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It is a </a:t>
            </a:r>
            <a:r>
              <a:rPr lang="en-IN" b="1" dirty="0">
                <a:solidFill>
                  <a:srgbClr val="C00000"/>
                </a:solidFill>
              </a:rPr>
              <a:t>prioritized list of project requirements</a:t>
            </a:r>
            <a:r>
              <a:rPr lang="en-IN" dirty="0"/>
              <a:t> or features that must be provided to the customer.</a:t>
            </a:r>
          </a:p>
          <a:p>
            <a:r>
              <a:rPr lang="en-IN" dirty="0"/>
              <a:t>The </a:t>
            </a:r>
            <a:r>
              <a:rPr lang="en-IN" b="1" dirty="0">
                <a:solidFill>
                  <a:srgbClr val="C00000"/>
                </a:solidFill>
              </a:rPr>
              <a:t>items can be included </a:t>
            </a:r>
            <a:r>
              <a:rPr lang="en-IN" dirty="0"/>
              <a:t>in the backlog at </a:t>
            </a:r>
            <a:r>
              <a:rPr lang="en-IN" b="1" dirty="0">
                <a:solidFill>
                  <a:srgbClr val="C00000"/>
                </a:solidFill>
              </a:rPr>
              <a:t>any </a:t>
            </a:r>
            <a:r>
              <a:rPr lang="en-IN" b="1" dirty="0" smtClean="0">
                <a:solidFill>
                  <a:srgbClr val="C00000"/>
                </a:solidFill>
              </a:rPr>
              <a:t>time</a:t>
            </a:r>
            <a:r>
              <a:rPr lang="en-IN" dirty="0" smtClean="0"/>
              <a:t>.</a:t>
            </a:r>
          </a:p>
          <a:p>
            <a:r>
              <a:rPr lang="en-IN" dirty="0" smtClean="0"/>
              <a:t>The </a:t>
            </a:r>
            <a:r>
              <a:rPr lang="en-IN" b="1" dirty="0">
                <a:solidFill>
                  <a:srgbClr val="C00000"/>
                </a:solidFill>
              </a:rPr>
              <a:t>product manager analyses </a:t>
            </a:r>
            <a:r>
              <a:rPr lang="en-IN" dirty="0"/>
              <a:t>this </a:t>
            </a:r>
            <a:r>
              <a:rPr lang="en-IN" b="1" dirty="0">
                <a:solidFill>
                  <a:srgbClr val="C00000"/>
                </a:solidFill>
              </a:rPr>
              <a:t>list</a:t>
            </a:r>
            <a:r>
              <a:rPr lang="en-IN" dirty="0">
                <a:solidFill>
                  <a:srgbClr val="C00000"/>
                </a:solidFill>
              </a:rPr>
              <a:t> </a:t>
            </a:r>
            <a:r>
              <a:rPr lang="en-IN" dirty="0"/>
              <a:t>and </a:t>
            </a:r>
            <a:r>
              <a:rPr lang="en-IN" b="1" dirty="0">
                <a:solidFill>
                  <a:srgbClr val="C00000"/>
                </a:solidFill>
              </a:rPr>
              <a:t>updates</a:t>
            </a:r>
            <a:r>
              <a:rPr lang="en-IN" dirty="0">
                <a:solidFill>
                  <a:srgbClr val="C00000"/>
                </a:solidFill>
              </a:rPr>
              <a:t> </a:t>
            </a:r>
            <a:r>
              <a:rPr lang="en-IN" dirty="0"/>
              <a:t>the </a:t>
            </a:r>
            <a:r>
              <a:rPr lang="en-IN" b="1" dirty="0">
                <a:solidFill>
                  <a:srgbClr val="C00000"/>
                </a:solidFill>
              </a:rPr>
              <a:t>priorities</a:t>
            </a:r>
            <a:r>
              <a:rPr lang="en-IN" dirty="0">
                <a:solidFill>
                  <a:srgbClr val="C00000"/>
                </a:solidFill>
              </a:rPr>
              <a:t> </a:t>
            </a:r>
            <a:r>
              <a:rPr lang="en-IN" dirty="0"/>
              <a:t>as per the requirements.</a:t>
            </a:r>
          </a:p>
        </p:txBody>
      </p:sp>
      <p:sp>
        <p:nvSpPr>
          <p:cNvPr id="8" name="Rectangle 7"/>
          <p:cNvSpPr/>
          <p:nvPr/>
        </p:nvSpPr>
        <p:spPr>
          <a:xfrm>
            <a:off x="167402" y="3235181"/>
            <a:ext cx="1832611"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chemeClr val="bg1"/>
                </a:solidFill>
              </a:rPr>
              <a:t>Sprint</a:t>
            </a:r>
          </a:p>
        </p:txBody>
      </p:sp>
      <p:cxnSp>
        <p:nvCxnSpPr>
          <p:cNvPr id="9" name="Straight Connector 8"/>
          <p:cNvCxnSpPr/>
          <p:nvPr/>
        </p:nvCxnSpPr>
        <p:spPr>
          <a:xfrm>
            <a:off x="1988495" y="3696846"/>
            <a:ext cx="9934276" cy="0"/>
          </a:xfrm>
          <a:prstGeom prst="line">
            <a:avLst/>
          </a:prstGeom>
        </p:spPr>
        <p:style>
          <a:lnRef idx="2">
            <a:schemeClr val="accent6"/>
          </a:lnRef>
          <a:fillRef idx="0">
            <a:schemeClr val="accent6"/>
          </a:fillRef>
          <a:effectRef idx="1">
            <a:schemeClr val="accent6"/>
          </a:effectRef>
          <a:fontRef idx="minor">
            <a:schemeClr val="tx1"/>
          </a:fontRef>
        </p:style>
      </p:cxnSp>
      <p:sp>
        <p:nvSpPr>
          <p:cNvPr id="10" name="Content Placeholder 2"/>
          <p:cNvSpPr txBox="1">
            <a:spLocks/>
          </p:cNvSpPr>
          <p:nvPr/>
        </p:nvSpPr>
        <p:spPr>
          <a:xfrm>
            <a:off x="185731" y="3810061"/>
            <a:ext cx="11737040" cy="174302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These are the </a:t>
            </a:r>
            <a:r>
              <a:rPr lang="en-IN" b="1" dirty="0">
                <a:solidFill>
                  <a:srgbClr val="C00000"/>
                </a:solidFill>
              </a:rPr>
              <a:t>work units </a:t>
            </a:r>
            <a:r>
              <a:rPr lang="en-IN" dirty="0"/>
              <a:t>that are needed </a:t>
            </a:r>
            <a:r>
              <a:rPr lang="en-IN" b="1" dirty="0">
                <a:solidFill>
                  <a:srgbClr val="C00000"/>
                </a:solidFill>
              </a:rPr>
              <a:t>to achieve</a:t>
            </a:r>
            <a:r>
              <a:rPr lang="en-IN" dirty="0"/>
              <a:t> the requirements mentioned in the backlogs.</a:t>
            </a:r>
          </a:p>
          <a:p>
            <a:r>
              <a:rPr lang="en-IN" dirty="0"/>
              <a:t>Typically the sprints have </a:t>
            </a:r>
            <a:r>
              <a:rPr lang="en-IN" b="1" dirty="0">
                <a:solidFill>
                  <a:srgbClr val="C00000"/>
                </a:solidFill>
              </a:rPr>
              <a:t>fixed duration</a:t>
            </a:r>
            <a:r>
              <a:rPr lang="en-IN" dirty="0"/>
              <a:t> or time box (of </a:t>
            </a:r>
            <a:r>
              <a:rPr lang="en-IN" b="1" dirty="0">
                <a:solidFill>
                  <a:srgbClr val="C00000"/>
                </a:solidFill>
              </a:rPr>
              <a:t>2 to 4 weeks, 30 days</a:t>
            </a:r>
            <a:r>
              <a:rPr lang="en-IN" dirty="0"/>
              <a:t>).</a:t>
            </a:r>
          </a:p>
          <a:p>
            <a:r>
              <a:rPr lang="en-IN" b="1" dirty="0">
                <a:solidFill>
                  <a:srgbClr val="C00000"/>
                </a:solidFill>
              </a:rPr>
              <a:t>Change</a:t>
            </a:r>
            <a:r>
              <a:rPr lang="en-IN" dirty="0">
                <a:solidFill>
                  <a:srgbClr val="C00000"/>
                </a:solidFill>
              </a:rPr>
              <a:t> </a:t>
            </a:r>
            <a:r>
              <a:rPr lang="en-IN" dirty="0"/>
              <a:t>are </a:t>
            </a:r>
            <a:r>
              <a:rPr lang="en-IN" b="1" dirty="0">
                <a:solidFill>
                  <a:srgbClr val="C00000"/>
                </a:solidFill>
              </a:rPr>
              <a:t>not introduced </a:t>
            </a:r>
            <a:r>
              <a:rPr lang="en-IN" dirty="0"/>
              <a:t>during the </a:t>
            </a:r>
            <a:r>
              <a:rPr lang="en-IN" b="1" dirty="0">
                <a:solidFill>
                  <a:srgbClr val="C00000"/>
                </a:solidFill>
              </a:rPr>
              <a:t>sprint</a:t>
            </a:r>
            <a:r>
              <a:rPr lang="en-IN" dirty="0"/>
              <a:t>.</a:t>
            </a:r>
          </a:p>
          <a:p>
            <a:r>
              <a:rPr lang="en-IN" dirty="0"/>
              <a:t>Thus sprints allow the team </a:t>
            </a:r>
            <a:r>
              <a:rPr lang="en-IN" b="1" dirty="0">
                <a:solidFill>
                  <a:srgbClr val="C00000"/>
                </a:solidFill>
              </a:rPr>
              <a:t>members</a:t>
            </a:r>
            <a:r>
              <a:rPr lang="en-IN" dirty="0">
                <a:solidFill>
                  <a:srgbClr val="C00000"/>
                </a:solidFill>
              </a:rPr>
              <a:t> </a:t>
            </a:r>
            <a:r>
              <a:rPr lang="en-IN" dirty="0"/>
              <a:t>to </a:t>
            </a:r>
            <a:r>
              <a:rPr lang="en-IN" b="1" dirty="0">
                <a:solidFill>
                  <a:srgbClr val="C00000"/>
                </a:solidFill>
              </a:rPr>
              <a:t>work</a:t>
            </a:r>
            <a:r>
              <a:rPr lang="en-IN" dirty="0">
                <a:solidFill>
                  <a:srgbClr val="C00000"/>
                </a:solidFill>
              </a:rPr>
              <a:t> </a:t>
            </a:r>
            <a:r>
              <a:rPr lang="en-IN" dirty="0"/>
              <a:t>in </a:t>
            </a:r>
            <a:r>
              <a:rPr lang="en-IN" b="1" dirty="0">
                <a:solidFill>
                  <a:srgbClr val="C00000"/>
                </a:solidFill>
              </a:rPr>
              <a:t>stable</a:t>
            </a:r>
            <a:r>
              <a:rPr lang="en-IN" dirty="0">
                <a:solidFill>
                  <a:srgbClr val="C00000"/>
                </a:solidFill>
              </a:rPr>
              <a:t> </a:t>
            </a:r>
            <a:r>
              <a:rPr lang="en-IN" dirty="0"/>
              <a:t>and </a:t>
            </a:r>
            <a:r>
              <a:rPr lang="en-IN" b="1" dirty="0">
                <a:solidFill>
                  <a:srgbClr val="C00000"/>
                </a:solidFill>
              </a:rPr>
              <a:t>short-term environment</a:t>
            </a:r>
            <a:endParaRPr lang="en-IN"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93715" y="1912629"/>
            <a:ext cx="1029056" cy="803950"/>
          </a:xfrm>
          <a:prstGeom prst="rect">
            <a:avLst/>
          </a:prstGeo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93357" y="4399182"/>
            <a:ext cx="1600716" cy="944343"/>
          </a:xfrm>
          <a:prstGeom prst="rect">
            <a:avLst/>
          </a:prstGeom>
        </p:spPr>
      </p:pic>
    </p:spTree>
    <p:extLst>
      <p:ext uri="{BB962C8B-B14F-4D97-AF65-F5344CB8AC3E}">
        <p14:creationId xmlns:p14="http://schemas.microsoft.com/office/powerpoint/2010/main" val="215014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500"/>
                                        <p:tgtEl>
                                          <p:spTgt spid="5"/>
                                        </p:tgtEl>
                                      </p:cBhvr>
                                    </p:animEffect>
                                  </p:childTnLst>
                                </p:cTn>
                              </p:par>
                              <p:par>
                                <p:cTn id="10" presetID="1"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par>
                                <p:cTn id="28" presetID="22" presetClass="entr" presetSubtype="8"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build="p"/>
      <p:bldP spid="8" grpId="0" animBg="1"/>
      <p:bldP spid="1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2170" y="814426"/>
            <a:ext cx="2270993"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chemeClr val="bg1"/>
                </a:solidFill>
              </a:rPr>
              <a:t>Scrum Meetings</a:t>
            </a:r>
          </a:p>
        </p:txBody>
      </p:sp>
      <p:cxnSp>
        <p:nvCxnSpPr>
          <p:cNvPr id="5" name="Straight Connector 4"/>
          <p:cNvCxnSpPr/>
          <p:nvPr/>
        </p:nvCxnSpPr>
        <p:spPr>
          <a:xfrm>
            <a:off x="1993263" y="1276091"/>
            <a:ext cx="9934276" cy="0"/>
          </a:xfrm>
          <a:prstGeom prst="line">
            <a:avLst/>
          </a:prstGeom>
        </p:spPr>
        <p:style>
          <a:lnRef idx="2">
            <a:schemeClr val="accent6"/>
          </a:lnRef>
          <a:fillRef idx="0">
            <a:schemeClr val="accent6"/>
          </a:fillRef>
          <a:effectRef idx="1">
            <a:schemeClr val="accent6"/>
          </a:effectRef>
          <a:fontRef idx="minor">
            <a:schemeClr val="tx1"/>
          </a:fontRef>
        </p:style>
      </p:cxnSp>
      <p:sp>
        <p:nvSpPr>
          <p:cNvPr id="6" name="Content Placeholder 2"/>
          <p:cNvSpPr txBox="1">
            <a:spLocks/>
          </p:cNvSpPr>
          <p:nvPr/>
        </p:nvSpPr>
        <p:spPr>
          <a:xfrm>
            <a:off x="190499" y="1389305"/>
            <a:ext cx="11737040" cy="5057719"/>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There are </a:t>
            </a:r>
            <a:r>
              <a:rPr lang="en-IN" b="1" dirty="0">
                <a:solidFill>
                  <a:srgbClr val="C00000"/>
                </a:solidFill>
              </a:rPr>
              <a:t>15 minutes daily meetings </a:t>
            </a:r>
            <a:r>
              <a:rPr lang="en-IN" dirty="0"/>
              <a:t>to </a:t>
            </a:r>
            <a:r>
              <a:rPr lang="en-IN" b="1" dirty="0">
                <a:solidFill>
                  <a:srgbClr val="C00000"/>
                </a:solidFill>
              </a:rPr>
              <a:t>report</a:t>
            </a:r>
            <a:r>
              <a:rPr lang="en-IN" dirty="0">
                <a:solidFill>
                  <a:srgbClr val="C00000"/>
                </a:solidFill>
              </a:rPr>
              <a:t> </a:t>
            </a:r>
            <a:r>
              <a:rPr lang="en-IN" dirty="0"/>
              <a:t>the </a:t>
            </a:r>
            <a:r>
              <a:rPr lang="en-IN" b="1" dirty="0">
                <a:solidFill>
                  <a:srgbClr val="C00000"/>
                </a:solidFill>
              </a:rPr>
              <a:t>completed</a:t>
            </a:r>
            <a:r>
              <a:rPr lang="en-IN" dirty="0">
                <a:solidFill>
                  <a:srgbClr val="C00000"/>
                </a:solidFill>
              </a:rPr>
              <a:t> </a:t>
            </a:r>
            <a:r>
              <a:rPr lang="en-IN" dirty="0"/>
              <a:t>activities, </a:t>
            </a:r>
            <a:r>
              <a:rPr lang="en-IN" b="1" dirty="0">
                <a:solidFill>
                  <a:srgbClr val="C00000"/>
                </a:solidFill>
              </a:rPr>
              <a:t>obstacles</a:t>
            </a:r>
            <a:r>
              <a:rPr lang="en-IN" dirty="0">
                <a:solidFill>
                  <a:srgbClr val="C00000"/>
                </a:solidFill>
              </a:rPr>
              <a:t> </a:t>
            </a:r>
            <a:r>
              <a:rPr lang="en-IN" dirty="0"/>
              <a:t>and </a:t>
            </a:r>
            <a:r>
              <a:rPr lang="en-IN" b="1" dirty="0">
                <a:solidFill>
                  <a:srgbClr val="C00000"/>
                </a:solidFill>
              </a:rPr>
              <a:t>plan</a:t>
            </a:r>
            <a:r>
              <a:rPr lang="en-IN" dirty="0">
                <a:solidFill>
                  <a:srgbClr val="C00000"/>
                </a:solidFill>
              </a:rPr>
              <a:t> </a:t>
            </a:r>
            <a:r>
              <a:rPr lang="en-IN" dirty="0"/>
              <a:t>for </a:t>
            </a:r>
            <a:r>
              <a:rPr lang="en-IN" b="1" dirty="0">
                <a:solidFill>
                  <a:srgbClr val="C00000"/>
                </a:solidFill>
              </a:rPr>
              <a:t>next</a:t>
            </a:r>
            <a:r>
              <a:rPr lang="en-IN" dirty="0">
                <a:solidFill>
                  <a:srgbClr val="C00000"/>
                </a:solidFill>
              </a:rPr>
              <a:t> </a:t>
            </a:r>
            <a:r>
              <a:rPr lang="en-IN" dirty="0"/>
              <a:t>activities.</a:t>
            </a:r>
          </a:p>
          <a:p>
            <a:r>
              <a:rPr lang="en-IN" dirty="0"/>
              <a:t>Following are three questions that are mainly discussed during the meetings.</a:t>
            </a:r>
          </a:p>
          <a:p>
            <a:pPr marL="923925" lvl="1" indent="-457200">
              <a:buFont typeface="+mj-lt"/>
              <a:buAutoNum type="arabicPeriod"/>
            </a:pPr>
            <a:r>
              <a:rPr lang="en-IN" b="1" dirty="0"/>
              <a:t>What</a:t>
            </a:r>
            <a:r>
              <a:rPr lang="en-IN" dirty="0"/>
              <a:t> are the </a:t>
            </a:r>
            <a:r>
              <a:rPr lang="en-IN" b="1" dirty="0">
                <a:solidFill>
                  <a:srgbClr val="C00000"/>
                </a:solidFill>
              </a:rPr>
              <a:t>tasks done </a:t>
            </a:r>
            <a:r>
              <a:rPr lang="en-IN" dirty="0"/>
              <a:t>since</a:t>
            </a:r>
            <a:r>
              <a:rPr lang="en-IN" b="1" dirty="0">
                <a:solidFill>
                  <a:srgbClr val="C00000"/>
                </a:solidFill>
              </a:rPr>
              <a:t> last meeting ?</a:t>
            </a:r>
          </a:p>
          <a:p>
            <a:pPr marL="923925" lvl="1" indent="-457200">
              <a:buFont typeface="+mj-lt"/>
              <a:buAutoNum type="arabicPeriod"/>
            </a:pPr>
            <a:r>
              <a:rPr lang="en-IN" b="1" dirty="0"/>
              <a:t>What</a:t>
            </a:r>
            <a:r>
              <a:rPr lang="en-IN" dirty="0"/>
              <a:t> are the </a:t>
            </a:r>
            <a:r>
              <a:rPr lang="en-IN" b="1" dirty="0">
                <a:solidFill>
                  <a:srgbClr val="C00000"/>
                </a:solidFill>
              </a:rPr>
              <a:t>issues</a:t>
            </a:r>
            <a:r>
              <a:rPr lang="en-IN" dirty="0">
                <a:solidFill>
                  <a:srgbClr val="C00000"/>
                </a:solidFill>
              </a:rPr>
              <a:t> </a:t>
            </a:r>
            <a:r>
              <a:rPr lang="en-IN" dirty="0"/>
              <a:t>that team is </a:t>
            </a:r>
            <a:r>
              <a:rPr lang="en-IN" b="1" dirty="0">
                <a:solidFill>
                  <a:srgbClr val="C00000"/>
                </a:solidFill>
              </a:rPr>
              <a:t>facing ?</a:t>
            </a:r>
          </a:p>
          <a:p>
            <a:pPr marL="923925" lvl="1" indent="-457200">
              <a:buFont typeface="+mj-lt"/>
              <a:buAutoNum type="arabicPeriod"/>
            </a:pPr>
            <a:r>
              <a:rPr lang="en-IN" b="1" dirty="0"/>
              <a:t>What</a:t>
            </a:r>
            <a:r>
              <a:rPr lang="en-IN" dirty="0"/>
              <a:t> are the</a:t>
            </a:r>
            <a:r>
              <a:rPr lang="en-IN" b="1" dirty="0">
                <a:solidFill>
                  <a:srgbClr val="C00000"/>
                </a:solidFill>
              </a:rPr>
              <a:t> next activities</a:t>
            </a:r>
            <a:r>
              <a:rPr lang="en-IN" dirty="0"/>
              <a:t> that are </a:t>
            </a:r>
            <a:r>
              <a:rPr lang="en-IN" b="1" dirty="0" smtClean="0">
                <a:solidFill>
                  <a:srgbClr val="C00000"/>
                </a:solidFill>
              </a:rPr>
              <a:t>planned?</a:t>
            </a:r>
          </a:p>
          <a:p>
            <a:r>
              <a:rPr lang="en-IN" dirty="0" smtClean="0"/>
              <a:t>The </a:t>
            </a:r>
            <a:r>
              <a:rPr lang="en-IN" b="1" dirty="0">
                <a:solidFill>
                  <a:srgbClr val="C00000"/>
                </a:solidFill>
              </a:rPr>
              <a:t>scrum master</a:t>
            </a:r>
            <a:r>
              <a:rPr lang="en-IN" dirty="0"/>
              <a:t> leads the meeting and </a:t>
            </a:r>
            <a:r>
              <a:rPr lang="en-IN" b="1" dirty="0">
                <a:solidFill>
                  <a:srgbClr val="C00000"/>
                </a:solidFill>
              </a:rPr>
              <a:t>analyses the response </a:t>
            </a:r>
            <a:r>
              <a:rPr lang="en-IN" dirty="0"/>
              <a:t>of each team </a:t>
            </a:r>
            <a:r>
              <a:rPr lang="en-IN" dirty="0" smtClean="0"/>
              <a:t>member.</a:t>
            </a:r>
          </a:p>
          <a:p>
            <a:r>
              <a:rPr lang="en-IN" dirty="0" smtClean="0"/>
              <a:t>Scrum </a:t>
            </a:r>
            <a:r>
              <a:rPr lang="en-IN" dirty="0"/>
              <a:t>meeting </a:t>
            </a:r>
            <a:r>
              <a:rPr lang="en-IN" b="1" dirty="0">
                <a:solidFill>
                  <a:srgbClr val="C00000"/>
                </a:solidFill>
              </a:rPr>
              <a:t>helps</a:t>
            </a:r>
            <a:r>
              <a:rPr lang="en-IN" dirty="0">
                <a:solidFill>
                  <a:srgbClr val="C00000"/>
                </a:solidFill>
              </a:rPr>
              <a:t> </a:t>
            </a:r>
            <a:r>
              <a:rPr lang="en-IN" dirty="0"/>
              <a:t>the </a:t>
            </a:r>
            <a:r>
              <a:rPr lang="en-IN" b="1" dirty="0">
                <a:solidFill>
                  <a:srgbClr val="C00000"/>
                </a:solidFill>
              </a:rPr>
              <a:t>team</a:t>
            </a:r>
            <a:r>
              <a:rPr lang="en-IN" dirty="0">
                <a:solidFill>
                  <a:srgbClr val="C00000"/>
                </a:solidFill>
              </a:rPr>
              <a:t> </a:t>
            </a:r>
            <a:r>
              <a:rPr lang="en-IN" dirty="0"/>
              <a:t>to </a:t>
            </a:r>
            <a:r>
              <a:rPr lang="en-IN" b="1" dirty="0">
                <a:solidFill>
                  <a:srgbClr val="C00000"/>
                </a:solidFill>
              </a:rPr>
              <a:t>uncover potential problems</a:t>
            </a:r>
            <a:r>
              <a:rPr lang="en-IN" dirty="0"/>
              <a:t> as early as </a:t>
            </a:r>
            <a:r>
              <a:rPr lang="en-IN" dirty="0" smtClean="0"/>
              <a:t>possible</a:t>
            </a:r>
          </a:p>
          <a:p>
            <a:r>
              <a:rPr lang="en-IN" dirty="0" smtClean="0"/>
              <a:t>It  </a:t>
            </a:r>
            <a:r>
              <a:rPr lang="en-IN" dirty="0"/>
              <a:t>leads to </a:t>
            </a:r>
            <a:r>
              <a:rPr lang="en-IN" b="1" dirty="0">
                <a:solidFill>
                  <a:srgbClr val="C00000"/>
                </a:solidFill>
              </a:rPr>
              <a:t>“knowledge socialization”</a:t>
            </a:r>
            <a:r>
              <a:rPr lang="en-IN" dirty="0"/>
              <a:t> &amp; promotes </a:t>
            </a:r>
            <a:r>
              <a:rPr lang="en-IN" b="1" dirty="0">
                <a:solidFill>
                  <a:srgbClr val="C00000"/>
                </a:solidFill>
              </a:rPr>
              <a:t>“self-organizing team structure”</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5325" y="2278802"/>
            <a:ext cx="1030952" cy="1030952"/>
          </a:xfrm>
          <a:prstGeom prst="rect">
            <a:avLst/>
          </a:prstGeom>
        </p:spPr>
      </p:pic>
      <p:sp>
        <p:nvSpPr>
          <p:cNvPr id="12" name="Rectangle 11"/>
          <p:cNvSpPr/>
          <p:nvPr/>
        </p:nvSpPr>
        <p:spPr>
          <a:xfrm>
            <a:off x="172170" y="5054731"/>
            <a:ext cx="2270993"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smtClean="0">
                <a:solidFill>
                  <a:schemeClr val="bg1"/>
                </a:solidFill>
              </a:rPr>
              <a:t>Demo</a:t>
            </a:r>
            <a:endParaRPr lang="en-US" sz="2400" b="1" dirty="0">
              <a:solidFill>
                <a:schemeClr val="bg1"/>
              </a:solidFill>
            </a:endParaRPr>
          </a:p>
        </p:txBody>
      </p:sp>
      <p:cxnSp>
        <p:nvCxnSpPr>
          <p:cNvPr id="13" name="Straight Connector 12"/>
          <p:cNvCxnSpPr/>
          <p:nvPr/>
        </p:nvCxnSpPr>
        <p:spPr>
          <a:xfrm>
            <a:off x="1993263" y="5516396"/>
            <a:ext cx="9934276" cy="0"/>
          </a:xfrm>
          <a:prstGeom prst="line">
            <a:avLst/>
          </a:prstGeom>
        </p:spPr>
        <p:style>
          <a:lnRef idx="2">
            <a:schemeClr val="accent6"/>
          </a:lnRef>
          <a:fillRef idx="0">
            <a:schemeClr val="accent6"/>
          </a:fillRef>
          <a:effectRef idx="1">
            <a:schemeClr val="accent6"/>
          </a:effectRef>
          <a:fontRef idx="minor">
            <a:schemeClr val="tx1"/>
          </a:fontRef>
        </p:style>
      </p:cxnSp>
      <p:sp>
        <p:nvSpPr>
          <p:cNvPr id="3" name="Title 2"/>
          <p:cNvSpPr>
            <a:spLocks noGrp="1"/>
          </p:cNvSpPr>
          <p:nvPr>
            <p:ph type="title"/>
          </p:nvPr>
        </p:nvSpPr>
        <p:spPr/>
        <p:txBody>
          <a:bodyPr/>
          <a:lstStyle/>
          <a:p>
            <a:r>
              <a:rPr lang="en-IN" dirty="0"/>
              <a:t>Scrum cont.</a:t>
            </a:r>
            <a:endParaRPr lang="en-US" dirty="0"/>
          </a:p>
        </p:txBody>
      </p:sp>
      <p:sp>
        <p:nvSpPr>
          <p:cNvPr id="15" name="Content Placeholder 2"/>
          <p:cNvSpPr txBox="1">
            <a:spLocks/>
          </p:cNvSpPr>
          <p:nvPr/>
        </p:nvSpPr>
        <p:spPr>
          <a:xfrm>
            <a:off x="227480" y="5605297"/>
            <a:ext cx="11737040" cy="930628"/>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Deliver </a:t>
            </a:r>
            <a:r>
              <a:rPr lang="en-IN" b="1" dirty="0">
                <a:solidFill>
                  <a:srgbClr val="C00000"/>
                </a:solidFill>
              </a:rPr>
              <a:t>software increment </a:t>
            </a:r>
            <a:r>
              <a:rPr lang="en-IN" dirty="0"/>
              <a:t>to customer</a:t>
            </a:r>
          </a:p>
          <a:p>
            <a:r>
              <a:rPr lang="en-IN" dirty="0"/>
              <a:t>Implemented functionalities are </a:t>
            </a:r>
            <a:r>
              <a:rPr lang="en-IN" b="1" dirty="0">
                <a:solidFill>
                  <a:srgbClr val="C00000"/>
                </a:solidFill>
              </a:rPr>
              <a:t>demonstrated</a:t>
            </a:r>
            <a:r>
              <a:rPr lang="en-IN" dirty="0">
                <a:solidFill>
                  <a:srgbClr val="C00000"/>
                </a:solidFill>
              </a:rPr>
              <a:t> </a:t>
            </a:r>
            <a:r>
              <a:rPr lang="en-IN" dirty="0"/>
              <a:t>to the customer</a:t>
            </a:r>
          </a:p>
        </p:txBody>
      </p:sp>
    </p:spTree>
    <p:extLst>
      <p:ext uri="{BB962C8B-B14F-4D97-AF65-F5344CB8AC3E}">
        <p14:creationId xmlns:p14="http://schemas.microsoft.com/office/powerpoint/2010/main" val="120116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500"/>
                                        <p:tgtEl>
                                          <p:spTgt spid="5"/>
                                        </p:tgtEl>
                                      </p:cBhvr>
                                    </p:animEffect>
                                  </p:childTnLst>
                                </p:cTn>
                              </p:par>
                              <p:par>
                                <p:cTn id="10" presetID="1"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par>
                                <p:cTn id="42" presetID="22" presetClass="entr" presetSubtype="8"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build="p"/>
      <p:bldP spid="12" grpId="0" animBg="1"/>
      <p:bldP spid="1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Adaptive Software development (ASD)</a:t>
            </a:r>
          </a:p>
        </p:txBody>
      </p:sp>
      <p:sp>
        <p:nvSpPr>
          <p:cNvPr id="3" name="Content Placeholder 2"/>
          <p:cNvSpPr>
            <a:spLocks noGrp="1"/>
          </p:cNvSpPr>
          <p:nvPr>
            <p:ph idx="1"/>
          </p:nvPr>
        </p:nvSpPr>
        <p:spPr>
          <a:xfrm>
            <a:off x="131180" y="863445"/>
            <a:ext cx="11929641" cy="1054256"/>
          </a:xfrm>
        </p:spPr>
        <p:txBody>
          <a:bodyPr/>
          <a:lstStyle/>
          <a:p>
            <a:r>
              <a:rPr lang="en-US" dirty="0"/>
              <a:t>This is a technique for building complex software systems using iterative approach.</a:t>
            </a:r>
            <a:endParaRPr lang="en-IN" dirty="0"/>
          </a:p>
          <a:p>
            <a:r>
              <a:rPr lang="en-US" dirty="0"/>
              <a:t>ASD focus on </a:t>
            </a:r>
            <a:r>
              <a:rPr lang="en-US" dirty="0">
                <a:solidFill>
                  <a:srgbClr val="C00000"/>
                </a:solidFill>
              </a:rPr>
              <a:t>working in collaboration </a:t>
            </a:r>
            <a:r>
              <a:rPr lang="en-US" dirty="0"/>
              <a:t>and </a:t>
            </a:r>
            <a:r>
              <a:rPr lang="en-US" dirty="0">
                <a:solidFill>
                  <a:srgbClr val="C00000"/>
                </a:solidFill>
              </a:rPr>
              <a:t>team self-organization</a:t>
            </a:r>
            <a:r>
              <a:rPr lang="en-US" dirty="0"/>
              <a:t>.</a:t>
            </a:r>
            <a:endParaRPr lang="en-IN" dirty="0"/>
          </a:p>
          <a:p>
            <a:pPr lvl="1"/>
            <a:endParaRPr lang="en-US" dirty="0"/>
          </a:p>
          <a:p>
            <a:endParaRPr lang="en-US" dirty="0"/>
          </a:p>
          <a:p>
            <a:endParaRPr lang="en-US" dirty="0"/>
          </a:p>
        </p:txBody>
      </p:sp>
      <p:pic>
        <p:nvPicPr>
          <p:cNvPr id="4" name="Picture 2"/>
          <p:cNvPicPr>
            <a:picLocks noChangeAspect="1" noChangeArrowheads="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91391" y="3166766"/>
            <a:ext cx="3846139" cy="3247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31180" y="1940885"/>
            <a:ext cx="4716356" cy="523220"/>
          </a:xfrm>
          <a:prstGeom prst="rect">
            <a:avLst/>
          </a:prstGeom>
        </p:spPr>
        <p:txBody>
          <a:bodyPr wrap="none">
            <a:spAutoFit/>
          </a:bodyPr>
          <a:lstStyle/>
          <a:p>
            <a:r>
              <a:rPr lang="en-US" sz="2800" b="1" dirty="0">
                <a:solidFill>
                  <a:srgbClr val="C00000"/>
                </a:solidFill>
              </a:rPr>
              <a:t>ASD incorporates three phases </a:t>
            </a:r>
          </a:p>
        </p:txBody>
      </p:sp>
      <p:sp>
        <p:nvSpPr>
          <p:cNvPr id="6" name="TextBox 5"/>
          <p:cNvSpPr txBox="1"/>
          <p:nvPr/>
        </p:nvSpPr>
        <p:spPr>
          <a:xfrm>
            <a:off x="131180" y="2488659"/>
            <a:ext cx="5602160" cy="461665"/>
          </a:xfrm>
          <a:prstGeom prst="rect">
            <a:avLst/>
          </a:prstGeom>
          <a:noFill/>
        </p:spPr>
        <p:txBody>
          <a:bodyPr wrap="square" rtlCol="0">
            <a:spAutoFit/>
          </a:bodyPr>
          <a:lstStyle/>
          <a:p>
            <a:r>
              <a:rPr lang="en-US" sz="2400" dirty="0" smtClean="0"/>
              <a:t>1. Speculation, 2. Collaboration &amp; 3. Learning</a:t>
            </a:r>
            <a:endParaRPr lang="en-US" sz="2400" dirty="0"/>
          </a:p>
        </p:txBody>
      </p:sp>
      <p:cxnSp>
        <p:nvCxnSpPr>
          <p:cNvPr id="13" name="Straight Connector 12"/>
          <p:cNvCxnSpPr/>
          <p:nvPr/>
        </p:nvCxnSpPr>
        <p:spPr>
          <a:xfrm>
            <a:off x="131180" y="1860203"/>
            <a:ext cx="11782914" cy="0"/>
          </a:xfrm>
          <a:prstGeom prst="line">
            <a:avLst/>
          </a:prstGeom>
          <a:ln w="28575"/>
        </p:spPr>
        <p:style>
          <a:lnRef idx="3">
            <a:schemeClr val="accent1"/>
          </a:lnRef>
          <a:fillRef idx="0">
            <a:schemeClr val="accent1"/>
          </a:fillRef>
          <a:effectRef idx="2">
            <a:schemeClr val="accent1"/>
          </a:effectRef>
          <a:fontRef idx="minor">
            <a:schemeClr val="tx1"/>
          </a:fontRef>
        </p:style>
      </p:cxnSp>
      <p:cxnSp>
        <p:nvCxnSpPr>
          <p:cNvPr id="15" name="Straight Connector 14"/>
          <p:cNvCxnSpPr/>
          <p:nvPr/>
        </p:nvCxnSpPr>
        <p:spPr>
          <a:xfrm>
            <a:off x="5961939" y="1917701"/>
            <a:ext cx="0" cy="4496583"/>
          </a:xfrm>
          <a:prstGeom prst="line">
            <a:avLst/>
          </a:prstGeom>
          <a:ln w="28575"/>
        </p:spPr>
        <p:style>
          <a:lnRef idx="3">
            <a:schemeClr val="accent1"/>
          </a:lnRef>
          <a:fillRef idx="0">
            <a:schemeClr val="accent1"/>
          </a:fillRef>
          <a:effectRef idx="2">
            <a:schemeClr val="accent1"/>
          </a:effectRef>
          <a:fontRef idx="minor">
            <a:schemeClr val="tx1"/>
          </a:fontRef>
        </p:style>
      </p:cxnSp>
      <p:sp>
        <p:nvSpPr>
          <p:cNvPr id="16" name="Rectangle 15"/>
          <p:cNvSpPr/>
          <p:nvPr/>
        </p:nvSpPr>
        <p:spPr>
          <a:xfrm>
            <a:off x="6172210" y="1917701"/>
            <a:ext cx="1832611"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chemeClr val="bg1"/>
                </a:solidFill>
              </a:rPr>
              <a:t>Speculation</a:t>
            </a:r>
          </a:p>
        </p:txBody>
      </p:sp>
      <p:cxnSp>
        <p:nvCxnSpPr>
          <p:cNvPr id="17" name="Straight Connector 16"/>
          <p:cNvCxnSpPr/>
          <p:nvPr/>
        </p:nvCxnSpPr>
        <p:spPr>
          <a:xfrm>
            <a:off x="7993303" y="2379366"/>
            <a:ext cx="3826662" cy="0"/>
          </a:xfrm>
          <a:prstGeom prst="line">
            <a:avLst/>
          </a:prstGeom>
        </p:spPr>
        <p:style>
          <a:lnRef idx="2">
            <a:schemeClr val="accent6"/>
          </a:lnRef>
          <a:fillRef idx="0">
            <a:schemeClr val="accent6"/>
          </a:fillRef>
          <a:effectRef idx="1">
            <a:schemeClr val="accent6"/>
          </a:effectRef>
          <a:fontRef idx="minor">
            <a:schemeClr val="tx1"/>
          </a:fontRef>
        </p:style>
      </p:cxnSp>
      <p:sp>
        <p:nvSpPr>
          <p:cNvPr id="18" name="Content Placeholder 2"/>
          <p:cNvSpPr txBox="1">
            <a:spLocks/>
          </p:cNvSpPr>
          <p:nvPr/>
        </p:nvSpPr>
        <p:spPr>
          <a:xfrm>
            <a:off x="6190539" y="2492581"/>
            <a:ext cx="5723555" cy="1272595"/>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 adaptive </a:t>
            </a:r>
            <a:r>
              <a:rPr lang="en-IN" b="1" dirty="0">
                <a:solidFill>
                  <a:srgbClr val="C00000"/>
                </a:solidFill>
              </a:rPr>
              <a:t>cycle planning </a:t>
            </a:r>
            <a:r>
              <a:rPr lang="en-IN" dirty="0"/>
              <a:t>is </a:t>
            </a:r>
            <a:r>
              <a:rPr lang="en-IN" b="1" dirty="0">
                <a:solidFill>
                  <a:srgbClr val="C00000"/>
                </a:solidFill>
              </a:rPr>
              <a:t>conducted</a:t>
            </a:r>
            <a:r>
              <a:rPr lang="en-IN" dirty="0"/>
              <a:t>.</a:t>
            </a:r>
          </a:p>
          <a:p>
            <a:r>
              <a:rPr lang="en-IN" dirty="0"/>
              <a:t>In this cycle planning mainly three types of information is </a:t>
            </a:r>
            <a:r>
              <a:rPr lang="en-IN" dirty="0" smtClean="0"/>
              <a:t>used</a:t>
            </a:r>
            <a:endParaRPr lang="en-IN" dirty="0"/>
          </a:p>
        </p:txBody>
      </p:sp>
      <p:sp>
        <p:nvSpPr>
          <p:cNvPr id="19" name="Rectangle 18"/>
          <p:cNvSpPr/>
          <p:nvPr/>
        </p:nvSpPr>
        <p:spPr>
          <a:xfrm>
            <a:off x="7099496" y="3807899"/>
            <a:ext cx="4073176" cy="41549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100" dirty="0"/>
              <a:t>Customer’s </a:t>
            </a:r>
            <a:r>
              <a:rPr lang="en-IN" sz="2100" b="1" dirty="0">
                <a:solidFill>
                  <a:srgbClr val="C00000"/>
                </a:solidFill>
              </a:rPr>
              <a:t>mission statement</a:t>
            </a:r>
            <a:endParaRPr lang="en-IN" sz="2100" dirty="0"/>
          </a:p>
        </p:txBody>
      </p:sp>
      <p:sp>
        <p:nvSpPr>
          <p:cNvPr id="20" name="Rectangle 19"/>
          <p:cNvSpPr/>
          <p:nvPr/>
        </p:nvSpPr>
        <p:spPr>
          <a:xfrm>
            <a:off x="7099496" y="4360000"/>
            <a:ext cx="4073176" cy="6924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100" dirty="0"/>
              <a:t>Project </a:t>
            </a:r>
            <a:r>
              <a:rPr lang="en-IN" sz="2100" b="1" dirty="0" smtClean="0">
                <a:solidFill>
                  <a:srgbClr val="C00000"/>
                </a:solidFill>
              </a:rPr>
              <a:t>constraints </a:t>
            </a:r>
          </a:p>
          <a:p>
            <a:r>
              <a:rPr lang="en-IN" dirty="0" smtClean="0"/>
              <a:t>(Delivery </a:t>
            </a:r>
            <a:r>
              <a:rPr lang="en-IN" dirty="0"/>
              <a:t>date, budgets etc</a:t>
            </a:r>
            <a:r>
              <a:rPr lang="en-IN" dirty="0" smtClean="0"/>
              <a:t>…)</a:t>
            </a:r>
            <a:endParaRPr lang="en-IN" dirty="0"/>
          </a:p>
        </p:txBody>
      </p:sp>
      <p:sp>
        <p:nvSpPr>
          <p:cNvPr id="21" name="Rectangle 20"/>
          <p:cNvSpPr/>
          <p:nvPr/>
        </p:nvSpPr>
        <p:spPr>
          <a:xfrm>
            <a:off x="7099496" y="5208444"/>
            <a:ext cx="4073176" cy="41549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100" b="1" dirty="0">
                <a:solidFill>
                  <a:srgbClr val="C00000"/>
                </a:solidFill>
              </a:rPr>
              <a:t>Basic requirements </a:t>
            </a:r>
            <a:r>
              <a:rPr lang="en-IN" sz="2100" dirty="0"/>
              <a:t>of the project</a:t>
            </a:r>
          </a:p>
        </p:txBody>
      </p:sp>
    </p:spTree>
    <p:extLst>
      <p:ext uri="{BB962C8B-B14F-4D97-AF65-F5344CB8AC3E}">
        <p14:creationId xmlns:p14="http://schemas.microsoft.com/office/powerpoint/2010/main" val="36138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22" presetClass="entr" presetSubtype="8"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16" grpId="0" animBg="1"/>
      <p:bldP spid="18" grpId="0" build="p"/>
      <p:bldP spid="19" grpId="0" animBg="1"/>
      <p:bldP spid="20" grpId="0" animBg="1"/>
      <p:bldP spid="2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Adaptive Software development (ASD</a:t>
            </a:r>
            <a:r>
              <a:rPr lang="en-US" dirty="0" smtClean="0"/>
              <a:t>) cont.</a:t>
            </a:r>
            <a:endParaRPr lang="en-US" dirty="0"/>
          </a:p>
        </p:txBody>
      </p:sp>
      <p:sp>
        <p:nvSpPr>
          <p:cNvPr id="4" name="Rectangle 3"/>
          <p:cNvSpPr/>
          <p:nvPr/>
        </p:nvSpPr>
        <p:spPr>
          <a:xfrm>
            <a:off x="172170" y="868214"/>
            <a:ext cx="1832611"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chemeClr val="bg1"/>
                </a:solidFill>
              </a:rPr>
              <a:t>Collaboration</a:t>
            </a:r>
          </a:p>
        </p:txBody>
      </p:sp>
      <p:cxnSp>
        <p:nvCxnSpPr>
          <p:cNvPr id="5" name="Straight Connector 4"/>
          <p:cNvCxnSpPr/>
          <p:nvPr/>
        </p:nvCxnSpPr>
        <p:spPr>
          <a:xfrm>
            <a:off x="1993263" y="1329879"/>
            <a:ext cx="4111702" cy="0"/>
          </a:xfrm>
          <a:prstGeom prst="line">
            <a:avLst/>
          </a:prstGeom>
        </p:spPr>
        <p:style>
          <a:lnRef idx="2">
            <a:schemeClr val="accent6"/>
          </a:lnRef>
          <a:fillRef idx="0">
            <a:schemeClr val="accent6"/>
          </a:fillRef>
          <a:effectRef idx="1">
            <a:schemeClr val="accent6"/>
          </a:effectRef>
          <a:fontRef idx="minor">
            <a:schemeClr val="tx1"/>
          </a:fontRef>
        </p:style>
      </p:cxnSp>
      <p:sp>
        <p:nvSpPr>
          <p:cNvPr id="6" name="Content Placeholder 2"/>
          <p:cNvSpPr txBox="1">
            <a:spLocks/>
          </p:cNvSpPr>
          <p:nvPr/>
        </p:nvSpPr>
        <p:spPr>
          <a:xfrm>
            <a:off x="190499" y="1443093"/>
            <a:ext cx="5781282" cy="2106931"/>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In this, </a:t>
            </a:r>
            <a:r>
              <a:rPr lang="en-IN" b="1" dirty="0">
                <a:solidFill>
                  <a:srgbClr val="C00000"/>
                </a:solidFill>
              </a:rPr>
              <a:t>collaboration</a:t>
            </a:r>
            <a:r>
              <a:rPr lang="en-IN" dirty="0"/>
              <a:t> among the </a:t>
            </a:r>
            <a:r>
              <a:rPr lang="en-IN" b="1" dirty="0">
                <a:solidFill>
                  <a:srgbClr val="C00000"/>
                </a:solidFill>
              </a:rPr>
              <a:t>members</a:t>
            </a:r>
            <a:r>
              <a:rPr lang="en-IN" dirty="0">
                <a:solidFill>
                  <a:srgbClr val="C00000"/>
                </a:solidFill>
              </a:rPr>
              <a:t> </a:t>
            </a:r>
            <a:r>
              <a:rPr lang="en-IN" dirty="0"/>
              <a:t>of </a:t>
            </a:r>
            <a:r>
              <a:rPr lang="en-IN" b="1" dirty="0">
                <a:solidFill>
                  <a:srgbClr val="C00000"/>
                </a:solidFill>
              </a:rPr>
              <a:t>development team</a:t>
            </a:r>
            <a:r>
              <a:rPr lang="en-IN" dirty="0"/>
              <a:t> is a key factor.</a:t>
            </a:r>
          </a:p>
          <a:p>
            <a:r>
              <a:rPr lang="en-IN" dirty="0"/>
              <a:t>For </a:t>
            </a:r>
            <a:r>
              <a:rPr lang="en-IN" b="1" dirty="0">
                <a:solidFill>
                  <a:srgbClr val="C00000"/>
                </a:solidFill>
              </a:rPr>
              <a:t>successful collaboration </a:t>
            </a:r>
            <a:r>
              <a:rPr lang="en-IN" dirty="0"/>
              <a:t>and coordination it is necessary to have following </a:t>
            </a:r>
            <a:r>
              <a:rPr lang="en-IN" b="1" dirty="0">
                <a:solidFill>
                  <a:srgbClr val="C00000"/>
                </a:solidFill>
              </a:rPr>
              <a:t>qualities</a:t>
            </a:r>
            <a:r>
              <a:rPr lang="en-IN" dirty="0">
                <a:solidFill>
                  <a:srgbClr val="C00000"/>
                </a:solidFill>
              </a:rPr>
              <a:t> </a:t>
            </a:r>
            <a:r>
              <a:rPr lang="en-IN" dirty="0"/>
              <a:t>in every </a:t>
            </a:r>
            <a:r>
              <a:rPr lang="en-IN" dirty="0" smtClean="0"/>
              <a:t>individual</a:t>
            </a:r>
            <a:endParaRPr lang="en-IN" dirty="0"/>
          </a:p>
        </p:txBody>
      </p:sp>
      <p:sp>
        <p:nvSpPr>
          <p:cNvPr id="10" name="Rectangle 9"/>
          <p:cNvSpPr/>
          <p:nvPr/>
        </p:nvSpPr>
        <p:spPr>
          <a:xfrm>
            <a:off x="6617796" y="872699"/>
            <a:ext cx="1832611"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chemeClr val="bg1"/>
                </a:solidFill>
              </a:rPr>
              <a:t>Learning</a:t>
            </a:r>
          </a:p>
        </p:txBody>
      </p:sp>
      <p:cxnSp>
        <p:nvCxnSpPr>
          <p:cNvPr id="11" name="Straight Connector 10"/>
          <p:cNvCxnSpPr/>
          <p:nvPr/>
        </p:nvCxnSpPr>
        <p:spPr>
          <a:xfrm>
            <a:off x="8438889" y="1334364"/>
            <a:ext cx="3448311" cy="0"/>
          </a:xfrm>
          <a:prstGeom prst="line">
            <a:avLst/>
          </a:prstGeom>
        </p:spPr>
        <p:style>
          <a:lnRef idx="2">
            <a:schemeClr val="accent6"/>
          </a:lnRef>
          <a:fillRef idx="0">
            <a:schemeClr val="accent6"/>
          </a:fillRef>
          <a:effectRef idx="1">
            <a:schemeClr val="accent6"/>
          </a:effectRef>
          <a:fontRef idx="minor">
            <a:schemeClr val="tx1"/>
          </a:fontRef>
        </p:style>
      </p:cxnSp>
      <p:sp>
        <p:nvSpPr>
          <p:cNvPr id="12" name="Content Placeholder 2"/>
          <p:cNvSpPr txBox="1">
            <a:spLocks/>
          </p:cNvSpPr>
          <p:nvPr/>
        </p:nvSpPr>
        <p:spPr>
          <a:xfrm>
            <a:off x="6636125" y="1447579"/>
            <a:ext cx="5372099" cy="1887292"/>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Emphasize is on </a:t>
            </a:r>
            <a:r>
              <a:rPr lang="en-IN" b="1" dirty="0">
                <a:solidFill>
                  <a:srgbClr val="C00000"/>
                </a:solidFill>
              </a:rPr>
              <a:t>learning</a:t>
            </a:r>
            <a:r>
              <a:rPr lang="en-IN" dirty="0"/>
              <a:t> new </a:t>
            </a:r>
            <a:r>
              <a:rPr lang="en-IN" b="1" dirty="0">
                <a:solidFill>
                  <a:srgbClr val="C00000"/>
                </a:solidFill>
              </a:rPr>
              <a:t>skills</a:t>
            </a:r>
            <a:r>
              <a:rPr lang="en-IN" dirty="0">
                <a:solidFill>
                  <a:srgbClr val="C00000"/>
                </a:solidFill>
              </a:rPr>
              <a:t> </a:t>
            </a:r>
            <a:r>
              <a:rPr lang="en-IN" dirty="0"/>
              <a:t>and techniques.</a:t>
            </a:r>
          </a:p>
          <a:p>
            <a:r>
              <a:rPr lang="en-IN" dirty="0"/>
              <a:t>There are three ways by which the team members learn</a:t>
            </a:r>
          </a:p>
        </p:txBody>
      </p:sp>
      <p:sp>
        <p:nvSpPr>
          <p:cNvPr id="17" name="Rectangle 16"/>
          <p:cNvSpPr/>
          <p:nvPr/>
        </p:nvSpPr>
        <p:spPr>
          <a:xfrm>
            <a:off x="488576" y="3713570"/>
            <a:ext cx="5227713" cy="415498"/>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IN" sz="2100" b="1" dirty="0">
                <a:solidFill>
                  <a:srgbClr val="C00000"/>
                </a:solidFill>
              </a:rPr>
              <a:t>Assist each other</a:t>
            </a:r>
            <a:r>
              <a:rPr lang="en-IN" sz="2100" dirty="0"/>
              <a:t> without resentment (offense)</a:t>
            </a:r>
          </a:p>
        </p:txBody>
      </p:sp>
      <p:sp>
        <p:nvSpPr>
          <p:cNvPr id="18" name="Rectangle 17"/>
          <p:cNvSpPr/>
          <p:nvPr/>
        </p:nvSpPr>
        <p:spPr>
          <a:xfrm>
            <a:off x="488575" y="4270797"/>
            <a:ext cx="1516205" cy="41549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100" dirty="0"/>
              <a:t>Work </a:t>
            </a:r>
            <a:r>
              <a:rPr lang="en-IN" sz="2100" b="1" dirty="0">
                <a:solidFill>
                  <a:srgbClr val="C00000"/>
                </a:solidFill>
              </a:rPr>
              <a:t>hard</a:t>
            </a:r>
          </a:p>
        </p:txBody>
      </p:sp>
      <p:sp>
        <p:nvSpPr>
          <p:cNvPr id="19" name="Rectangle 18"/>
          <p:cNvSpPr/>
          <p:nvPr/>
        </p:nvSpPr>
        <p:spPr>
          <a:xfrm>
            <a:off x="2168523" y="4283182"/>
            <a:ext cx="3547766" cy="41549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100" b="1" dirty="0">
                <a:solidFill>
                  <a:srgbClr val="C00000"/>
                </a:solidFill>
              </a:rPr>
              <a:t>Posses</a:t>
            </a:r>
            <a:r>
              <a:rPr lang="en-IN" sz="2100" dirty="0">
                <a:solidFill>
                  <a:srgbClr val="C00000"/>
                </a:solidFill>
              </a:rPr>
              <a:t> </a:t>
            </a:r>
            <a:r>
              <a:rPr lang="en-IN" sz="2100" dirty="0"/>
              <a:t>the required </a:t>
            </a:r>
            <a:r>
              <a:rPr lang="en-IN" sz="2100" b="1" dirty="0">
                <a:solidFill>
                  <a:srgbClr val="C00000"/>
                </a:solidFill>
              </a:rPr>
              <a:t>skill set</a:t>
            </a:r>
          </a:p>
        </p:txBody>
      </p:sp>
      <p:sp>
        <p:nvSpPr>
          <p:cNvPr id="20" name="Rectangle 19"/>
          <p:cNvSpPr/>
          <p:nvPr/>
        </p:nvSpPr>
        <p:spPr>
          <a:xfrm>
            <a:off x="488575" y="4889892"/>
            <a:ext cx="5227713" cy="41549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100" b="1" dirty="0">
                <a:solidFill>
                  <a:srgbClr val="C00000"/>
                </a:solidFill>
              </a:rPr>
              <a:t>Communicate problems </a:t>
            </a:r>
            <a:r>
              <a:rPr lang="en-IN" sz="2100" dirty="0"/>
              <a:t>and help each other</a:t>
            </a:r>
          </a:p>
        </p:txBody>
      </p:sp>
      <p:sp>
        <p:nvSpPr>
          <p:cNvPr id="21" name="Rectangle 20"/>
          <p:cNvSpPr/>
          <p:nvPr/>
        </p:nvSpPr>
        <p:spPr>
          <a:xfrm>
            <a:off x="488576" y="5447119"/>
            <a:ext cx="5227712" cy="41549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100" b="1" dirty="0">
                <a:solidFill>
                  <a:srgbClr val="C00000"/>
                </a:solidFill>
              </a:rPr>
              <a:t>Criticize</a:t>
            </a:r>
            <a:r>
              <a:rPr lang="en-IN" sz="2100" dirty="0">
                <a:solidFill>
                  <a:srgbClr val="C00000"/>
                </a:solidFill>
              </a:rPr>
              <a:t> </a:t>
            </a:r>
            <a:r>
              <a:rPr lang="en-IN" sz="2100" b="1" dirty="0">
                <a:solidFill>
                  <a:srgbClr val="C00000"/>
                </a:solidFill>
              </a:rPr>
              <a:t>without</a:t>
            </a:r>
            <a:r>
              <a:rPr lang="en-IN" sz="2100" dirty="0">
                <a:solidFill>
                  <a:srgbClr val="C00000"/>
                </a:solidFill>
              </a:rPr>
              <a:t> </a:t>
            </a:r>
            <a:r>
              <a:rPr lang="en-IN" sz="2100" dirty="0"/>
              <a:t>any </a:t>
            </a:r>
            <a:r>
              <a:rPr lang="en-IN" sz="2100" b="1" dirty="0">
                <a:solidFill>
                  <a:srgbClr val="C00000"/>
                </a:solidFill>
              </a:rPr>
              <a:t>hate</a:t>
            </a:r>
          </a:p>
        </p:txBody>
      </p:sp>
      <p:sp>
        <p:nvSpPr>
          <p:cNvPr id="23" name="Rectangle 22"/>
          <p:cNvSpPr/>
          <p:nvPr/>
        </p:nvSpPr>
        <p:spPr>
          <a:xfrm>
            <a:off x="6642846" y="3112519"/>
            <a:ext cx="5365378"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100" dirty="0"/>
              <a:t>Focus </a:t>
            </a:r>
            <a:r>
              <a:rPr lang="en-IN" sz="2100" dirty="0" smtClean="0"/>
              <a:t>groups</a:t>
            </a:r>
          </a:p>
          <a:p>
            <a:r>
              <a:rPr lang="en-IN" sz="2100" dirty="0" smtClean="0"/>
              <a:t>The </a:t>
            </a:r>
            <a:r>
              <a:rPr lang="en-IN" sz="2100" b="1" dirty="0">
                <a:solidFill>
                  <a:srgbClr val="C00000"/>
                </a:solidFill>
              </a:rPr>
              <a:t>feedback</a:t>
            </a:r>
            <a:r>
              <a:rPr lang="en-IN" sz="2100" dirty="0">
                <a:solidFill>
                  <a:srgbClr val="C00000"/>
                </a:solidFill>
              </a:rPr>
              <a:t> </a:t>
            </a:r>
            <a:r>
              <a:rPr lang="en-IN" sz="2100" dirty="0"/>
              <a:t>from the </a:t>
            </a:r>
            <a:r>
              <a:rPr lang="en-IN" sz="2100" b="1" dirty="0">
                <a:solidFill>
                  <a:srgbClr val="C00000"/>
                </a:solidFill>
              </a:rPr>
              <a:t>end-users</a:t>
            </a:r>
            <a:r>
              <a:rPr lang="en-IN" sz="2100" dirty="0"/>
              <a:t> is obtained.</a:t>
            </a:r>
          </a:p>
        </p:txBody>
      </p:sp>
      <p:sp>
        <p:nvSpPr>
          <p:cNvPr id="24" name="Rectangle 23"/>
          <p:cNvSpPr/>
          <p:nvPr/>
        </p:nvSpPr>
        <p:spPr>
          <a:xfrm>
            <a:off x="6642846" y="3906666"/>
            <a:ext cx="5365378"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100" dirty="0"/>
              <a:t>Formal </a:t>
            </a:r>
            <a:r>
              <a:rPr lang="en-IN" sz="2100" b="1" dirty="0">
                <a:solidFill>
                  <a:srgbClr val="C00000"/>
                </a:solidFill>
              </a:rPr>
              <a:t>technical </a:t>
            </a:r>
            <a:r>
              <a:rPr lang="en-IN" sz="2100" b="1" dirty="0" smtClean="0">
                <a:solidFill>
                  <a:srgbClr val="C00000"/>
                </a:solidFill>
              </a:rPr>
              <a:t>review</a:t>
            </a:r>
          </a:p>
          <a:p>
            <a:r>
              <a:rPr lang="en-IN" sz="2100" dirty="0" smtClean="0"/>
              <a:t>This </a:t>
            </a:r>
            <a:r>
              <a:rPr lang="en-IN" sz="2100" dirty="0"/>
              <a:t>review is conducted for better quality.</a:t>
            </a:r>
          </a:p>
        </p:txBody>
      </p:sp>
      <p:sp>
        <p:nvSpPr>
          <p:cNvPr id="25" name="Rectangle 24"/>
          <p:cNvSpPr/>
          <p:nvPr/>
        </p:nvSpPr>
        <p:spPr>
          <a:xfrm>
            <a:off x="6642846" y="4701322"/>
            <a:ext cx="5365378" cy="10618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100" b="1" dirty="0" err="1" smtClean="0">
                <a:solidFill>
                  <a:srgbClr val="C00000"/>
                </a:solidFill>
              </a:rPr>
              <a:t>Postmortems</a:t>
            </a:r>
            <a:endParaRPr lang="en-IN" sz="2100" b="1" dirty="0" smtClean="0">
              <a:solidFill>
                <a:srgbClr val="C00000"/>
              </a:solidFill>
            </a:endParaRPr>
          </a:p>
          <a:p>
            <a:r>
              <a:rPr lang="en-IN" sz="2100" dirty="0" smtClean="0"/>
              <a:t>Team </a:t>
            </a:r>
            <a:r>
              <a:rPr lang="en-IN" sz="2100" dirty="0"/>
              <a:t>analyses its own performance and makes appropriate </a:t>
            </a:r>
            <a:r>
              <a:rPr lang="en-IN" sz="2100" dirty="0" smtClean="0"/>
              <a:t>improvements.</a:t>
            </a:r>
            <a:endParaRPr lang="en-IN" sz="2100" dirty="0"/>
          </a:p>
        </p:txBody>
      </p:sp>
      <p:cxnSp>
        <p:nvCxnSpPr>
          <p:cNvPr id="28" name="Straight Connector 27"/>
          <p:cNvCxnSpPr/>
          <p:nvPr/>
        </p:nvCxnSpPr>
        <p:spPr>
          <a:xfrm>
            <a:off x="6360460" y="747191"/>
            <a:ext cx="0" cy="5868762"/>
          </a:xfrm>
          <a:prstGeom prst="line">
            <a:avLst/>
          </a:prstGeom>
          <a:ln w="28575"/>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7123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par>
                                <p:cTn id="38" presetID="22" presetClass="entr" presetSubtype="1"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up)">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22" presetClass="entr" presetSubtype="8"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build="p"/>
      <p:bldP spid="10" grpId="0" animBg="1"/>
      <p:bldP spid="12" grpId="0" build="p"/>
      <p:bldP spid="17" grpId="0" animBg="1"/>
      <p:bldP spid="18" grpId="0" animBg="1"/>
      <p:bldP spid="19" grpId="0" animBg="1"/>
      <p:bldP spid="20" grpId="0" animBg="1"/>
      <p:bldP spid="21" grpId="0" animBg="1"/>
      <p:bldP spid="23" grpId="0" animBg="1"/>
      <p:bldP spid="24" grpId="0" animBg="1"/>
      <p:bldP spid="2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Dynamic Systems Development Methods </a:t>
            </a:r>
            <a:r>
              <a:rPr lang="en-IN" dirty="0" smtClean="0"/>
              <a:t>(DSDM)</a:t>
            </a:r>
            <a:endParaRPr lang="en-US" dirty="0"/>
          </a:p>
        </p:txBody>
      </p:sp>
      <p:sp>
        <p:nvSpPr>
          <p:cNvPr id="4" name="Rectangle 3"/>
          <p:cNvSpPr/>
          <p:nvPr/>
        </p:nvSpPr>
        <p:spPr>
          <a:xfrm>
            <a:off x="236345" y="864205"/>
            <a:ext cx="11744983" cy="461665"/>
          </a:xfrm>
          <a:prstGeom prst="rect">
            <a:avLst/>
          </a:prstGeom>
        </p:spPr>
        <p:txBody>
          <a:bodyPr wrap="square">
            <a:spAutoFit/>
          </a:bodyPr>
          <a:lstStyle/>
          <a:p>
            <a:r>
              <a:rPr lang="en-IN" sz="2400" dirty="0"/>
              <a:t>Various phases of this life cycle model</a:t>
            </a:r>
          </a:p>
        </p:txBody>
      </p:sp>
      <p:sp>
        <p:nvSpPr>
          <p:cNvPr id="5" name="Content Placeholder 2"/>
          <p:cNvSpPr txBox="1">
            <a:spLocks/>
          </p:cNvSpPr>
          <p:nvPr/>
        </p:nvSpPr>
        <p:spPr>
          <a:xfrm>
            <a:off x="227480" y="1505768"/>
            <a:ext cx="11737040" cy="3456198"/>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Feasibility </a:t>
            </a:r>
            <a:r>
              <a:rPr lang="en-IN" b="1" dirty="0" smtClean="0"/>
              <a:t>study: </a:t>
            </a:r>
            <a:r>
              <a:rPr lang="en-IN" dirty="0" smtClean="0"/>
              <a:t>By </a:t>
            </a:r>
            <a:r>
              <a:rPr lang="en-IN" dirty="0"/>
              <a:t>analysing the business requirements and constraints the </a:t>
            </a:r>
            <a:r>
              <a:rPr lang="en-IN" dirty="0">
                <a:solidFill>
                  <a:srgbClr val="C00000"/>
                </a:solidFill>
              </a:rPr>
              <a:t>viability of the application is determined</a:t>
            </a:r>
          </a:p>
          <a:p>
            <a:r>
              <a:rPr lang="en-IN" b="1" dirty="0"/>
              <a:t>Business </a:t>
            </a:r>
            <a:r>
              <a:rPr lang="en-IN" b="1" dirty="0" smtClean="0"/>
              <a:t>study: </a:t>
            </a:r>
            <a:r>
              <a:rPr lang="en-IN" dirty="0" smtClean="0"/>
              <a:t>The </a:t>
            </a:r>
            <a:r>
              <a:rPr lang="en-IN" dirty="0">
                <a:solidFill>
                  <a:srgbClr val="C00000"/>
                </a:solidFill>
              </a:rPr>
              <a:t>functional</a:t>
            </a:r>
            <a:r>
              <a:rPr lang="en-IN" dirty="0"/>
              <a:t> and </a:t>
            </a:r>
            <a:r>
              <a:rPr lang="en-IN" dirty="0">
                <a:solidFill>
                  <a:srgbClr val="C00000"/>
                </a:solidFill>
              </a:rPr>
              <a:t>informational requirements </a:t>
            </a:r>
            <a:r>
              <a:rPr lang="en-IN" dirty="0"/>
              <a:t>are </a:t>
            </a:r>
            <a:r>
              <a:rPr lang="en-IN" dirty="0">
                <a:solidFill>
                  <a:srgbClr val="C00000"/>
                </a:solidFill>
              </a:rPr>
              <a:t>identified</a:t>
            </a:r>
            <a:r>
              <a:rPr lang="en-IN" dirty="0"/>
              <a:t> and then the </a:t>
            </a:r>
            <a:r>
              <a:rPr lang="en-IN" dirty="0">
                <a:solidFill>
                  <a:srgbClr val="C00000"/>
                </a:solidFill>
              </a:rPr>
              <a:t>business value </a:t>
            </a:r>
            <a:r>
              <a:rPr lang="en-IN" dirty="0"/>
              <a:t>of the application is </a:t>
            </a:r>
            <a:r>
              <a:rPr lang="en-IN" dirty="0">
                <a:solidFill>
                  <a:srgbClr val="C00000"/>
                </a:solidFill>
              </a:rPr>
              <a:t>determined</a:t>
            </a:r>
          </a:p>
          <a:p>
            <a:r>
              <a:rPr lang="en-IN" b="1" dirty="0"/>
              <a:t>Functional model </a:t>
            </a:r>
            <a:r>
              <a:rPr lang="en-IN" b="1" dirty="0" smtClean="0"/>
              <a:t>iteration: </a:t>
            </a:r>
            <a:r>
              <a:rPr lang="en-IN" dirty="0" smtClean="0"/>
              <a:t>The </a:t>
            </a:r>
            <a:r>
              <a:rPr lang="en-IN" dirty="0">
                <a:solidFill>
                  <a:srgbClr val="C00000"/>
                </a:solidFill>
              </a:rPr>
              <a:t>incremental approach </a:t>
            </a:r>
            <a:r>
              <a:rPr lang="en-IN" dirty="0"/>
              <a:t>is adopted for development</a:t>
            </a:r>
          </a:p>
          <a:p>
            <a:r>
              <a:rPr lang="en-IN" b="1" dirty="0"/>
              <a:t>Design and build </a:t>
            </a:r>
            <a:r>
              <a:rPr lang="en-IN" b="1" dirty="0" smtClean="0"/>
              <a:t>iteration: </a:t>
            </a:r>
            <a:r>
              <a:rPr lang="en-IN" dirty="0" smtClean="0"/>
              <a:t>If </a:t>
            </a:r>
            <a:r>
              <a:rPr lang="en-IN" dirty="0"/>
              <a:t>possible </a:t>
            </a:r>
            <a:r>
              <a:rPr lang="en-IN" dirty="0">
                <a:solidFill>
                  <a:srgbClr val="C00000"/>
                </a:solidFill>
              </a:rPr>
              <a:t>design and build activities </a:t>
            </a:r>
            <a:r>
              <a:rPr lang="en-IN" dirty="0"/>
              <a:t>can be carried out in </a:t>
            </a:r>
            <a:r>
              <a:rPr lang="en-IN" dirty="0">
                <a:solidFill>
                  <a:srgbClr val="C00000"/>
                </a:solidFill>
              </a:rPr>
              <a:t>parallel</a:t>
            </a:r>
          </a:p>
          <a:p>
            <a:r>
              <a:rPr lang="en-IN" b="1" dirty="0" smtClean="0"/>
              <a:t>Implementation: </a:t>
            </a:r>
            <a:r>
              <a:rPr lang="en-IN" dirty="0" smtClean="0"/>
              <a:t>The </a:t>
            </a:r>
            <a:r>
              <a:rPr lang="en-IN" dirty="0"/>
              <a:t>software </a:t>
            </a:r>
            <a:r>
              <a:rPr lang="en-IN" dirty="0">
                <a:solidFill>
                  <a:srgbClr val="C00000"/>
                </a:solidFill>
              </a:rPr>
              <a:t>increment</a:t>
            </a:r>
            <a:r>
              <a:rPr lang="en-IN" dirty="0"/>
              <a:t> is placed in the working environment</a:t>
            </a:r>
          </a:p>
        </p:txBody>
      </p:sp>
    </p:spTree>
    <p:extLst>
      <p:ext uri="{BB962C8B-B14F-4D97-AF65-F5344CB8AC3E}">
        <p14:creationId xmlns:p14="http://schemas.microsoft.com/office/powerpoint/2010/main" val="974813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Driven Development (FDD)</a:t>
            </a:r>
          </a:p>
        </p:txBody>
      </p:sp>
      <p:pic>
        <p:nvPicPr>
          <p:cNvPr id="4" name="Picture 2"/>
          <p:cNvPicPr>
            <a:picLocks noChangeAspect="1" noChangeArrowheads="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92742" y="1060824"/>
            <a:ext cx="8849503" cy="370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ounded Rectangular Callout 6"/>
          <p:cNvSpPr/>
          <p:nvPr/>
        </p:nvSpPr>
        <p:spPr>
          <a:xfrm>
            <a:off x="9386046" y="2312893"/>
            <a:ext cx="2528047" cy="2568389"/>
          </a:xfrm>
          <a:prstGeom prst="wedgeRoundRectCallout">
            <a:avLst>
              <a:gd name="adj1" fmla="val -67889"/>
              <a:gd name="adj2" fmla="val -93553"/>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It is practical process model for </a:t>
            </a:r>
            <a:r>
              <a:rPr lang="en-US" sz="2400" b="1" dirty="0">
                <a:solidFill>
                  <a:srgbClr val="C00000"/>
                </a:solidFill>
              </a:rPr>
              <a:t>object oriented software engineering</a:t>
            </a:r>
          </a:p>
        </p:txBody>
      </p:sp>
      <p:sp>
        <p:nvSpPr>
          <p:cNvPr id="10" name="Rounded Rectangular Callout 9"/>
          <p:cNvSpPr/>
          <p:nvPr/>
        </p:nvSpPr>
        <p:spPr>
          <a:xfrm>
            <a:off x="524437" y="5447085"/>
            <a:ext cx="6293222" cy="738562"/>
          </a:xfrm>
          <a:prstGeom prst="wedgeRoundRectCallout">
            <a:avLst>
              <a:gd name="adj1" fmla="val -14906"/>
              <a:gd name="adj2" fmla="val -148689"/>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lvl="0"/>
            <a:r>
              <a:rPr lang="en-IN" sz="2400" dirty="0"/>
              <a:t>In FDD, the </a:t>
            </a:r>
            <a:r>
              <a:rPr lang="en-IN" sz="2400" dirty="0">
                <a:solidFill>
                  <a:srgbClr val="C00000"/>
                </a:solidFill>
              </a:rPr>
              <a:t>feature means client valued function</a:t>
            </a:r>
            <a:r>
              <a:rPr lang="en-IN" sz="2400" dirty="0"/>
              <a:t>.</a:t>
            </a:r>
          </a:p>
        </p:txBody>
      </p:sp>
    </p:spTree>
    <p:extLst>
      <p:ext uri="{BB962C8B-B14F-4D97-AF65-F5344CB8AC3E}">
        <p14:creationId xmlns:p14="http://schemas.microsoft.com/office/powerpoint/2010/main" val="389160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Feature Driven Development (FDD</a:t>
            </a:r>
            <a:r>
              <a:rPr lang="en-US" dirty="0" smtClean="0"/>
              <a:t>) cont.</a:t>
            </a:r>
            <a:endParaRPr lang="en-US" dirty="0"/>
          </a:p>
        </p:txBody>
      </p:sp>
      <p:sp>
        <p:nvSpPr>
          <p:cNvPr id="6" name="Rectangle 5"/>
          <p:cNvSpPr/>
          <p:nvPr/>
        </p:nvSpPr>
        <p:spPr>
          <a:xfrm>
            <a:off x="172170" y="868214"/>
            <a:ext cx="3740924"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smtClean="0">
                <a:solidFill>
                  <a:schemeClr val="bg1"/>
                </a:solidFill>
              </a:rPr>
              <a:t>1. Develop </a:t>
            </a:r>
            <a:r>
              <a:rPr lang="en-US" sz="2400" b="1" dirty="0">
                <a:solidFill>
                  <a:schemeClr val="bg1"/>
                </a:solidFill>
              </a:rPr>
              <a:t>overall model</a:t>
            </a:r>
          </a:p>
        </p:txBody>
      </p:sp>
      <p:cxnSp>
        <p:nvCxnSpPr>
          <p:cNvPr id="7" name="Straight Connector 6"/>
          <p:cNvCxnSpPr/>
          <p:nvPr/>
        </p:nvCxnSpPr>
        <p:spPr>
          <a:xfrm>
            <a:off x="1993263" y="1329879"/>
            <a:ext cx="4111702" cy="0"/>
          </a:xfrm>
          <a:prstGeom prst="line">
            <a:avLst/>
          </a:prstGeom>
        </p:spPr>
        <p:style>
          <a:lnRef idx="2">
            <a:schemeClr val="accent6"/>
          </a:lnRef>
          <a:fillRef idx="0">
            <a:schemeClr val="accent6"/>
          </a:fillRef>
          <a:effectRef idx="1">
            <a:schemeClr val="accent6"/>
          </a:effectRef>
          <a:fontRef idx="minor">
            <a:schemeClr val="tx1"/>
          </a:fontRef>
        </p:style>
      </p:cxnSp>
      <p:sp>
        <p:nvSpPr>
          <p:cNvPr id="8" name="Content Placeholder 2"/>
          <p:cNvSpPr txBox="1">
            <a:spLocks/>
          </p:cNvSpPr>
          <p:nvPr/>
        </p:nvSpPr>
        <p:spPr>
          <a:xfrm>
            <a:off x="190499" y="1443094"/>
            <a:ext cx="5781282" cy="1232872"/>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 high-level </a:t>
            </a:r>
            <a:r>
              <a:rPr lang="en-IN" dirty="0">
                <a:solidFill>
                  <a:srgbClr val="C00000"/>
                </a:solidFill>
              </a:rPr>
              <a:t>walkthrough of scope </a:t>
            </a:r>
            <a:r>
              <a:rPr lang="en-IN" dirty="0"/>
              <a:t>and detailed domain walkthrough are conducted to create overall models.</a:t>
            </a:r>
          </a:p>
        </p:txBody>
      </p:sp>
      <p:sp>
        <p:nvSpPr>
          <p:cNvPr id="9" name="Rectangle 8"/>
          <p:cNvSpPr/>
          <p:nvPr/>
        </p:nvSpPr>
        <p:spPr>
          <a:xfrm>
            <a:off x="153841" y="2675966"/>
            <a:ext cx="3740924"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smtClean="0">
                <a:solidFill>
                  <a:schemeClr val="bg1"/>
                </a:solidFill>
              </a:rPr>
              <a:t>2</a:t>
            </a:r>
            <a:r>
              <a:rPr lang="en-US" sz="2400" b="1" dirty="0">
                <a:solidFill>
                  <a:schemeClr val="bg1"/>
                </a:solidFill>
              </a:rPr>
              <a:t>. Build feature list</a:t>
            </a:r>
          </a:p>
        </p:txBody>
      </p:sp>
      <p:cxnSp>
        <p:nvCxnSpPr>
          <p:cNvPr id="10" name="Straight Connector 9"/>
          <p:cNvCxnSpPr/>
          <p:nvPr/>
        </p:nvCxnSpPr>
        <p:spPr>
          <a:xfrm>
            <a:off x="1974934" y="3137631"/>
            <a:ext cx="4111702" cy="0"/>
          </a:xfrm>
          <a:prstGeom prst="line">
            <a:avLst/>
          </a:prstGeom>
        </p:spPr>
        <p:style>
          <a:lnRef idx="2">
            <a:schemeClr val="accent6"/>
          </a:lnRef>
          <a:fillRef idx="0">
            <a:schemeClr val="accent6"/>
          </a:fillRef>
          <a:effectRef idx="1">
            <a:schemeClr val="accent6"/>
          </a:effectRef>
          <a:fontRef idx="minor">
            <a:schemeClr val="tx1"/>
          </a:fontRef>
        </p:style>
      </p:cxnSp>
      <p:sp>
        <p:nvSpPr>
          <p:cNvPr id="11" name="Content Placeholder 2"/>
          <p:cNvSpPr txBox="1">
            <a:spLocks/>
          </p:cNvSpPr>
          <p:nvPr/>
        </p:nvSpPr>
        <p:spPr>
          <a:xfrm>
            <a:off x="172170" y="3250846"/>
            <a:ext cx="5781282" cy="771208"/>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List of </a:t>
            </a:r>
            <a:r>
              <a:rPr lang="en-IN" dirty="0">
                <a:solidFill>
                  <a:srgbClr val="C00000"/>
                </a:solidFill>
              </a:rPr>
              <a:t>features</a:t>
            </a:r>
            <a:r>
              <a:rPr lang="en-IN" dirty="0"/>
              <a:t> is created and expressed in the following </a:t>
            </a:r>
            <a:r>
              <a:rPr lang="en-IN" dirty="0" smtClean="0"/>
              <a:t>form</a:t>
            </a:r>
            <a:endParaRPr lang="en-IN" dirty="0"/>
          </a:p>
        </p:txBody>
      </p:sp>
      <p:sp>
        <p:nvSpPr>
          <p:cNvPr id="12" name="Rectangle 11"/>
          <p:cNvSpPr/>
          <p:nvPr/>
        </p:nvSpPr>
        <p:spPr>
          <a:xfrm>
            <a:off x="336176" y="4072133"/>
            <a:ext cx="5750460"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409575" indent="-342900" algn="ctr"/>
            <a:r>
              <a:rPr lang="en-IN" sz="2000" b="1" dirty="0">
                <a:solidFill>
                  <a:srgbClr val="C00000"/>
                </a:solidFill>
              </a:rPr>
              <a:t>&lt;action&gt; </a:t>
            </a:r>
            <a:r>
              <a:rPr lang="en-IN" sz="2000" dirty="0">
                <a:solidFill>
                  <a:srgbClr val="C00000"/>
                </a:solidFill>
              </a:rPr>
              <a:t>the </a:t>
            </a:r>
            <a:r>
              <a:rPr lang="en-IN" sz="2000" b="1" dirty="0">
                <a:solidFill>
                  <a:srgbClr val="C00000"/>
                </a:solidFill>
              </a:rPr>
              <a:t>&lt;result&gt; &lt;by for of to&gt; </a:t>
            </a:r>
            <a:r>
              <a:rPr lang="en-IN" sz="2000" dirty="0"/>
              <a:t>a(n) </a:t>
            </a:r>
            <a:r>
              <a:rPr lang="en-IN" sz="2000" b="1" dirty="0">
                <a:solidFill>
                  <a:srgbClr val="C00000"/>
                </a:solidFill>
              </a:rPr>
              <a:t>&lt;object&gt;</a:t>
            </a:r>
          </a:p>
        </p:txBody>
      </p:sp>
      <p:sp>
        <p:nvSpPr>
          <p:cNvPr id="13" name="Rectangle 12"/>
          <p:cNvSpPr/>
          <p:nvPr/>
        </p:nvSpPr>
        <p:spPr>
          <a:xfrm>
            <a:off x="341849" y="4518438"/>
            <a:ext cx="5763116" cy="38472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409575" indent="-342900" algn="ctr"/>
            <a:r>
              <a:rPr lang="en-IN" sz="1900" b="1" dirty="0"/>
              <a:t>For Ex. “Display product-specifications of the product”</a:t>
            </a:r>
            <a:endParaRPr lang="en-IN" sz="1900" dirty="0"/>
          </a:p>
        </p:txBody>
      </p:sp>
      <p:sp>
        <p:nvSpPr>
          <p:cNvPr id="14" name="Rectangle 13"/>
          <p:cNvSpPr/>
          <p:nvPr/>
        </p:nvSpPr>
        <p:spPr>
          <a:xfrm>
            <a:off x="135512" y="5134873"/>
            <a:ext cx="3740924"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chemeClr val="bg1"/>
                </a:solidFill>
              </a:rPr>
              <a:t>3. Plan by feature</a:t>
            </a:r>
          </a:p>
        </p:txBody>
      </p:sp>
      <p:cxnSp>
        <p:nvCxnSpPr>
          <p:cNvPr id="15" name="Straight Connector 14"/>
          <p:cNvCxnSpPr/>
          <p:nvPr/>
        </p:nvCxnSpPr>
        <p:spPr>
          <a:xfrm>
            <a:off x="1956605" y="5596538"/>
            <a:ext cx="4111702" cy="0"/>
          </a:xfrm>
          <a:prstGeom prst="line">
            <a:avLst/>
          </a:prstGeom>
        </p:spPr>
        <p:style>
          <a:lnRef idx="2">
            <a:schemeClr val="accent6"/>
          </a:lnRef>
          <a:fillRef idx="0">
            <a:schemeClr val="accent6"/>
          </a:fillRef>
          <a:effectRef idx="1">
            <a:schemeClr val="accent6"/>
          </a:effectRef>
          <a:fontRef idx="minor">
            <a:schemeClr val="tx1"/>
          </a:fontRef>
        </p:style>
      </p:cxnSp>
      <p:sp>
        <p:nvSpPr>
          <p:cNvPr id="16" name="Content Placeholder 2"/>
          <p:cNvSpPr txBox="1">
            <a:spLocks/>
          </p:cNvSpPr>
          <p:nvPr/>
        </p:nvSpPr>
        <p:spPr>
          <a:xfrm>
            <a:off x="153841" y="5709753"/>
            <a:ext cx="5781282" cy="879306"/>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After completing the feature list the </a:t>
            </a:r>
            <a:r>
              <a:rPr lang="en-IN" dirty="0">
                <a:solidFill>
                  <a:srgbClr val="C00000"/>
                </a:solidFill>
              </a:rPr>
              <a:t>development plan is created</a:t>
            </a:r>
          </a:p>
        </p:txBody>
      </p:sp>
      <p:cxnSp>
        <p:nvCxnSpPr>
          <p:cNvPr id="17" name="Straight Connector 16"/>
          <p:cNvCxnSpPr/>
          <p:nvPr/>
        </p:nvCxnSpPr>
        <p:spPr>
          <a:xfrm>
            <a:off x="6360460" y="747191"/>
            <a:ext cx="0" cy="5868762"/>
          </a:xfrm>
          <a:prstGeom prst="line">
            <a:avLst/>
          </a:prstGeom>
          <a:ln w="28575"/>
        </p:spPr>
        <p:style>
          <a:lnRef idx="3">
            <a:schemeClr val="accent1"/>
          </a:lnRef>
          <a:fillRef idx="0">
            <a:schemeClr val="accent1"/>
          </a:fillRef>
          <a:effectRef idx="2">
            <a:schemeClr val="accent1"/>
          </a:effectRef>
          <a:fontRef idx="minor">
            <a:schemeClr val="tx1"/>
          </a:fontRef>
        </p:style>
      </p:cxnSp>
      <p:sp>
        <p:nvSpPr>
          <p:cNvPr id="20" name="Rectangle 19"/>
          <p:cNvSpPr/>
          <p:nvPr/>
        </p:nvSpPr>
        <p:spPr>
          <a:xfrm>
            <a:off x="6617796" y="872699"/>
            <a:ext cx="2768251"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chemeClr val="bg1"/>
                </a:solidFill>
              </a:rPr>
              <a:t>Design by feature</a:t>
            </a:r>
          </a:p>
        </p:txBody>
      </p:sp>
      <p:cxnSp>
        <p:nvCxnSpPr>
          <p:cNvPr id="21" name="Straight Connector 20"/>
          <p:cNvCxnSpPr/>
          <p:nvPr/>
        </p:nvCxnSpPr>
        <p:spPr>
          <a:xfrm>
            <a:off x="8438889" y="1334364"/>
            <a:ext cx="3448311" cy="0"/>
          </a:xfrm>
          <a:prstGeom prst="line">
            <a:avLst/>
          </a:prstGeom>
        </p:spPr>
        <p:style>
          <a:lnRef idx="2">
            <a:schemeClr val="accent6"/>
          </a:lnRef>
          <a:fillRef idx="0">
            <a:schemeClr val="accent6"/>
          </a:fillRef>
          <a:effectRef idx="1">
            <a:schemeClr val="accent6"/>
          </a:effectRef>
          <a:fontRef idx="minor">
            <a:schemeClr val="tx1"/>
          </a:fontRef>
        </p:style>
      </p:cxnSp>
      <p:sp>
        <p:nvSpPr>
          <p:cNvPr id="22" name="Content Placeholder 2"/>
          <p:cNvSpPr txBox="1">
            <a:spLocks/>
          </p:cNvSpPr>
          <p:nvPr/>
        </p:nvSpPr>
        <p:spPr>
          <a:xfrm>
            <a:off x="6636125" y="1447579"/>
            <a:ext cx="5372099" cy="878762"/>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For each feature the </a:t>
            </a:r>
            <a:r>
              <a:rPr lang="en-IN" dirty="0">
                <a:solidFill>
                  <a:srgbClr val="C00000"/>
                </a:solidFill>
              </a:rPr>
              <a:t>sequence diagram is created</a:t>
            </a:r>
          </a:p>
        </p:txBody>
      </p:sp>
      <p:sp>
        <p:nvSpPr>
          <p:cNvPr id="23" name="Rectangle 22"/>
          <p:cNvSpPr/>
          <p:nvPr/>
        </p:nvSpPr>
        <p:spPr>
          <a:xfrm>
            <a:off x="6615956" y="2324910"/>
            <a:ext cx="2768251"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chemeClr val="bg1"/>
                </a:solidFill>
              </a:rPr>
              <a:t>Build by feature</a:t>
            </a:r>
          </a:p>
        </p:txBody>
      </p:sp>
      <p:cxnSp>
        <p:nvCxnSpPr>
          <p:cNvPr id="24" name="Straight Connector 23"/>
          <p:cNvCxnSpPr/>
          <p:nvPr/>
        </p:nvCxnSpPr>
        <p:spPr>
          <a:xfrm>
            <a:off x="8437049" y="2786575"/>
            <a:ext cx="3448311" cy="0"/>
          </a:xfrm>
          <a:prstGeom prst="line">
            <a:avLst/>
          </a:prstGeom>
        </p:spPr>
        <p:style>
          <a:lnRef idx="2">
            <a:schemeClr val="accent6"/>
          </a:lnRef>
          <a:fillRef idx="0">
            <a:schemeClr val="accent6"/>
          </a:fillRef>
          <a:effectRef idx="1">
            <a:schemeClr val="accent6"/>
          </a:effectRef>
          <a:fontRef idx="minor">
            <a:schemeClr val="tx1"/>
          </a:fontRef>
        </p:style>
      </p:cxnSp>
      <p:sp>
        <p:nvSpPr>
          <p:cNvPr id="25" name="Content Placeholder 2"/>
          <p:cNvSpPr txBox="1">
            <a:spLocks/>
          </p:cNvSpPr>
          <p:nvPr/>
        </p:nvSpPr>
        <p:spPr>
          <a:xfrm>
            <a:off x="6634285" y="2899790"/>
            <a:ext cx="5372099" cy="878762"/>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Finally the </a:t>
            </a:r>
            <a:r>
              <a:rPr lang="en-IN" dirty="0">
                <a:solidFill>
                  <a:srgbClr val="C00000"/>
                </a:solidFill>
              </a:rPr>
              <a:t>class owner</a:t>
            </a:r>
            <a:r>
              <a:rPr lang="en-IN" dirty="0"/>
              <a:t> develop the </a:t>
            </a:r>
            <a:r>
              <a:rPr lang="en-IN" dirty="0">
                <a:solidFill>
                  <a:srgbClr val="C00000"/>
                </a:solidFill>
              </a:rPr>
              <a:t>actual code </a:t>
            </a:r>
            <a:r>
              <a:rPr lang="en-IN" dirty="0"/>
              <a:t>for their classes</a:t>
            </a:r>
          </a:p>
        </p:txBody>
      </p:sp>
    </p:spTree>
    <p:extLst>
      <p:ext uri="{BB962C8B-B14F-4D97-AF65-F5344CB8AC3E}">
        <p14:creationId xmlns:p14="http://schemas.microsoft.com/office/powerpoint/2010/main" val="2122779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wipe(left)">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22" presetClass="entr" presetSubtype="8"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22" presetClass="entr" presetSubtype="8"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6">
                                            <p:txEl>
                                              <p:pRg st="0" end="0"/>
                                            </p:txEl>
                                          </p:spTgt>
                                        </p:tgtEl>
                                        <p:attrNameLst>
                                          <p:attrName>style.visibility</p:attrName>
                                        </p:attrNameLst>
                                      </p:cBhvr>
                                      <p:to>
                                        <p:strVal val="visible"/>
                                      </p:to>
                                    </p:set>
                                  </p:childTnLst>
                                </p:cTn>
                              </p:par>
                              <p:par>
                                <p:cTn id="42" presetID="22" presetClass="entr" presetSubtype="1"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up)">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22" presetClass="entr" presetSubtype="8"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left)">
                                      <p:cBhvr>
                                        <p:cTn id="51" dur="500"/>
                                        <p:tgtEl>
                                          <p:spTgt spid="21"/>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3"/>
                                        </p:tgtEl>
                                        <p:attrNameLst>
                                          <p:attrName>style.visibility</p:attrName>
                                        </p:attrNameLst>
                                      </p:cBhvr>
                                      <p:to>
                                        <p:strVal val="visible"/>
                                      </p:to>
                                    </p:set>
                                  </p:childTnLst>
                                </p:cTn>
                              </p:par>
                              <p:par>
                                <p:cTn id="60" presetID="22" presetClass="entr" presetSubtype="8"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left)">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build="p"/>
      <p:bldP spid="9" grpId="0" animBg="1"/>
      <p:bldP spid="11" grpId="0" build="p"/>
      <p:bldP spid="12" grpId="0" animBg="1"/>
      <p:bldP spid="13" grpId="0" animBg="1"/>
      <p:bldP spid="14" grpId="0" animBg="1"/>
      <p:bldP spid="16" grpId="0" build="p"/>
      <p:bldP spid="20" grpId="0" animBg="1"/>
      <p:bldP spid="22" grpId="0" build="p"/>
      <p:bldP spid="23" grpId="0" animBg="1"/>
      <p:bldP spid="25" grpId="0" build="p"/>
    </p:bld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2405</TotalTime>
  <Words>3245</Words>
  <Application>Microsoft Office PowerPoint</Application>
  <PresentationFormat>Widescreen</PresentationFormat>
  <Paragraphs>290</Paragraphs>
  <Slides>38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Roboto Condensed</vt:lpstr>
      <vt:lpstr>Segoe UI Black</vt:lpstr>
      <vt:lpstr>Arial</vt:lpstr>
      <vt:lpstr>Wingdings 3</vt:lpstr>
      <vt:lpstr>Roboto Condensed Light</vt:lpstr>
      <vt:lpstr>Calibri</vt:lpstr>
      <vt:lpstr>Wingdings 2</vt:lpstr>
      <vt:lpstr>Wingdings</vt:lpstr>
      <vt:lpstr>Office Theme</vt:lpstr>
      <vt:lpstr>PowerPoint Presentation</vt:lpstr>
      <vt:lpstr>PowerPoint Presentation</vt:lpstr>
      <vt:lpstr>Agility</vt:lpstr>
      <vt:lpstr>What is Agility? Cont.</vt:lpstr>
      <vt:lpstr>Agile Process</vt:lpstr>
      <vt:lpstr>Agility Principles</vt:lpstr>
      <vt:lpstr>1.Highest priority is to satisfy the customer through early &amp; continuous delivery of software</vt:lpstr>
      <vt:lpstr>2. Welcome changing requirements</vt:lpstr>
      <vt:lpstr>How it looks in practice:</vt:lpstr>
      <vt:lpstr>3. Deliver working software frequently</vt:lpstr>
      <vt:lpstr>How it looks in practice:</vt:lpstr>
      <vt:lpstr>4. Business people and developers must work together </vt:lpstr>
      <vt:lpstr>How it looks in practice:</vt:lpstr>
      <vt:lpstr>5. Build projects around motivated individuals </vt:lpstr>
      <vt:lpstr>6. Emphasize face-to-face conversation </vt:lpstr>
      <vt:lpstr>7. Working software is the measure of progress </vt:lpstr>
      <vt:lpstr>8. Continuous attention to technical excellence and good design </vt:lpstr>
      <vt:lpstr>9. Simplicity – the art of maximizing the amount of work done </vt:lpstr>
      <vt:lpstr>PowerPoint Presentation</vt:lpstr>
      <vt:lpstr>10. Agile processes promote sustainable development. </vt:lpstr>
      <vt:lpstr>PowerPoint Presentation</vt:lpstr>
      <vt:lpstr>11. The best designs emerge from self-organizing teams </vt:lpstr>
      <vt:lpstr>12. The team tunes and adjusts its behaviour to become more effective</vt:lpstr>
      <vt:lpstr>PowerPoint Presentation</vt:lpstr>
      <vt:lpstr>Where agile methodology not work</vt:lpstr>
      <vt:lpstr>Agile Process Models</vt:lpstr>
      <vt:lpstr>Extreme Programming (XP)</vt:lpstr>
      <vt:lpstr>The XP Process</vt:lpstr>
      <vt:lpstr>The XP Process cont.</vt:lpstr>
      <vt:lpstr>What is Scrum?</vt:lpstr>
      <vt:lpstr>Scrum framework at a glance</vt:lpstr>
      <vt:lpstr>Scrum cont.</vt:lpstr>
      <vt:lpstr>Scrum cont.</vt:lpstr>
      <vt:lpstr>Adaptive Software development (ASD)</vt:lpstr>
      <vt:lpstr>Adaptive Software development (ASD) cont.</vt:lpstr>
      <vt:lpstr>Dynamic Systems Development Methods (DSDM)</vt:lpstr>
      <vt:lpstr>Feature Driven Development (FDD)</vt:lpstr>
      <vt:lpstr>Feature Driven Development (FDD) cont.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1771</cp:revision>
  <dcterms:created xsi:type="dcterms:W3CDTF">2020-05-01T05:09:15Z</dcterms:created>
  <dcterms:modified xsi:type="dcterms:W3CDTF">2026-08-24T07:12:30Z</dcterms:modified>
</cp:coreProperties>
</file>