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media/image55.jpg" ContentType="image/png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6"/>
  </p:notesMasterIdLst>
  <p:sldIdLst>
    <p:sldId id="395" r:id="rId2"/>
    <p:sldId id="414" r:id="rId3"/>
    <p:sldId id="286" r:id="rId4"/>
    <p:sldId id="324" r:id="rId5"/>
    <p:sldId id="327" r:id="rId6"/>
    <p:sldId id="319" r:id="rId7"/>
    <p:sldId id="330" r:id="rId8"/>
    <p:sldId id="331" r:id="rId9"/>
    <p:sldId id="335" r:id="rId10"/>
    <p:sldId id="336" r:id="rId11"/>
    <p:sldId id="337" r:id="rId12"/>
    <p:sldId id="338" r:id="rId13"/>
    <p:sldId id="339" r:id="rId14"/>
    <p:sldId id="340" r:id="rId15"/>
    <p:sldId id="346" r:id="rId16"/>
    <p:sldId id="341" r:id="rId17"/>
    <p:sldId id="342" r:id="rId18"/>
    <p:sldId id="343" r:id="rId19"/>
    <p:sldId id="344" r:id="rId20"/>
    <p:sldId id="347" r:id="rId21"/>
    <p:sldId id="354" r:id="rId22"/>
    <p:sldId id="355" r:id="rId23"/>
    <p:sldId id="356" r:id="rId24"/>
    <p:sldId id="357" r:id="rId25"/>
    <p:sldId id="358" r:id="rId26"/>
    <p:sldId id="359" r:id="rId27"/>
    <p:sldId id="410" r:id="rId28"/>
    <p:sldId id="361" r:id="rId29"/>
    <p:sldId id="362" r:id="rId30"/>
    <p:sldId id="411" r:id="rId31"/>
    <p:sldId id="363" r:id="rId32"/>
    <p:sldId id="364" r:id="rId33"/>
    <p:sldId id="365" r:id="rId34"/>
    <p:sldId id="366" r:id="rId35"/>
    <p:sldId id="367" r:id="rId36"/>
    <p:sldId id="368" r:id="rId37"/>
    <p:sldId id="369" r:id="rId38"/>
    <p:sldId id="370" r:id="rId39"/>
    <p:sldId id="371" r:id="rId40"/>
    <p:sldId id="372" r:id="rId41"/>
    <p:sldId id="373" r:id="rId42"/>
    <p:sldId id="374" r:id="rId43"/>
    <p:sldId id="375" r:id="rId44"/>
    <p:sldId id="376" r:id="rId45"/>
  </p:sldIdLst>
  <p:sldSz cx="12192000" cy="6858000"/>
  <p:notesSz cx="6858000" cy="9144000"/>
  <p:embeddedFontLst>
    <p:embeddedFont>
      <p:font typeface="Calibri" panose="020F0502020204030204" pitchFamily="34" charset="0"/>
      <p:regular r:id="rId47"/>
      <p:bold r:id="rId48"/>
      <p:italic r:id="rId49"/>
      <p:boldItalic r:id="rId50"/>
    </p:embeddedFont>
    <p:embeddedFont>
      <p:font typeface="Segoe UI Black" panose="020B0A02040204020203" pitchFamily="34" charset="0"/>
      <p:bold r:id="rId51"/>
      <p:boldItalic r:id="rId52"/>
    </p:embeddedFont>
    <p:embeddedFont>
      <p:font typeface="Roboto Condensed Light" panose="020B0604020202020204" charset="0"/>
      <p:regular r:id="rId53"/>
      <p:italic r:id="rId54"/>
    </p:embeddedFont>
    <p:embeddedFont>
      <p:font typeface="Wingdings 3" panose="05040102010807070707" pitchFamily="18" charset="2"/>
      <p:regular r:id="rId55"/>
    </p:embeddedFont>
    <p:embeddedFont>
      <p:font typeface="Roboto Condensed" panose="020B0604020202020204" charset="0"/>
      <p:regular r:id="rId56"/>
      <p:bold r:id="rId57"/>
      <p:italic r:id="rId58"/>
      <p:boldItalic r:id="rId59"/>
    </p:embeddedFont>
    <p:embeddedFont>
      <p:font typeface="Wingdings 2" panose="05020102010507070707" pitchFamily="18" charset="2"/>
      <p:regular r:id="rId6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32D19"/>
    <a:srgbClr val="F94343"/>
    <a:srgbClr val="ED524F"/>
    <a:srgbClr val="5C2321"/>
    <a:srgbClr val="BF2323"/>
    <a:srgbClr val="80DEEA"/>
    <a:srgbClr val="EEEEEE"/>
    <a:srgbClr val="E1F5FE"/>
    <a:srgbClr val="301B92"/>
    <a:srgbClr val="673B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662" autoAdjust="0"/>
    <p:restoredTop sz="94660"/>
  </p:normalViewPr>
  <p:slideViewPr>
    <p:cSldViewPr snapToGrid="0">
      <p:cViewPr varScale="1">
        <p:scale>
          <a:sx n="88" d="100"/>
          <a:sy n="88" d="100"/>
        </p:scale>
        <p:origin x="696" y="5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1.fntdata"/><Relationship Id="rId50" Type="http://schemas.openxmlformats.org/officeDocument/2006/relationships/font" Target="fonts/font4.fntdata"/><Relationship Id="rId55" Type="http://schemas.openxmlformats.org/officeDocument/2006/relationships/font" Target="fonts/font9.fntdata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7.fntdata"/><Relationship Id="rId58" Type="http://schemas.openxmlformats.org/officeDocument/2006/relationships/font" Target="fonts/font12.fntdata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2.fntdata"/><Relationship Id="rId56" Type="http://schemas.openxmlformats.org/officeDocument/2006/relationships/font" Target="fonts/font10.fntdata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font" Target="fonts/font5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59" Type="http://schemas.openxmlformats.org/officeDocument/2006/relationships/font" Target="fonts/font13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8.fntdata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3.fntdata"/><Relationship Id="rId57" Type="http://schemas.openxmlformats.org/officeDocument/2006/relationships/font" Target="fonts/font11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6.fntdata"/><Relationship Id="rId60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CF3AED1-4199-44D0-92E0-14D17F35FFD8}" type="doc">
      <dgm:prSet loTypeId="urn:microsoft.com/office/officeart/2009/3/layout/StepUpProcess" loCatId="process" qsTypeId="urn:microsoft.com/office/officeart/2005/8/quickstyle/simple5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76AD3E51-9171-4635-8FB1-5018FEB7D286}">
      <dgm:prSet phldrT="[Text]" custT="1"/>
      <dgm:spPr/>
      <dgm:t>
        <a:bodyPr/>
        <a:lstStyle/>
        <a:p>
          <a:r>
            <a:rPr lang="en-US" sz="2400" dirty="0" smtClean="0"/>
            <a:t>Communication</a:t>
          </a:r>
          <a:endParaRPr lang="en-US" sz="2400" dirty="0"/>
        </a:p>
      </dgm:t>
    </dgm:pt>
    <dgm:pt modelId="{1D881C8C-E828-4AB1-A683-539C4BAA6703}" type="parTrans" cxnId="{1C6E50F0-78AF-4320-A2BA-895FB1D4C79E}">
      <dgm:prSet/>
      <dgm:spPr/>
      <dgm:t>
        <a:bodyPr/>
        <a:lstStyle/>
        <a:p>
          <a:endParaRPr lang="en-US"/>
        </a:p>
      </dgm:t>
    </dgm:pt>
    <dgm:pt modelId="{6B4F94C3-8A78-4F45-BCE2-7B415CDFB27B}" type="sibTrans" cxnId="{1C6E50F0-78AF-4320-A2BA-895FB1D4C79E}">
      <dgm:prSet/>
      <dgm:spPr/>
      <dgm:t>
        <a:bodyPr/>
        <a:lstStyle/>
        <a:p>
          <a:endParaRPr lang="en-US"/>
        </a:p>
      </dgm:t>
    </dgm:pt>
    <dgm:pt modelId="{A0CE15A4-0341-4F61-BF03-0486D3DD82DD}">
      <dgm:prSet phldrT="[Text]" custT="1"/>
      <dgm:spPr/>
      <dgm:t>
        <a:bodyPr/>
        <a:lstStyle/>
        <a:p>
          <a:r>
            <a:rPr lang="en-US" sz="2100" dirty="0" smtClean="0"/>
            <a:t>Project initiation</a:t>
          </a:r>
          <a:endParaRPr lang="en-US" sz="2100" dirty="0"/>
        </a:p>
      </dgm:t>
    </dgm:pt>
    <dgm:pt modelId="{00C5901A-1371-4D5B-9F04-B6ACBA3E5AD6}" type="parTrans" cxnId="{F4FE053F-4BB3-42E8-BB58-F507A29E5325}">
      <dgm:prSet/>
      <dgm:spPr/>
      <dgm:t>
        <a:bodyPr/>
        <a:lstStyle/>
        <a:p>
          <a:endParaRPr lang="en-US"/>
        </a:p>
      </dgm:t>
    </dgm:pt>
    <dgm:pt modelId="{2EF4FDC0-F5EA-4922-8EAB-7870E82EE350}" type="sibTrans" cxnId="{F4FE053F-4BB3-42E8-BB58-F507A29E5325}">
      <dgm:prSet/>
      <dgm:spPr/>
      <dgm:t>
        <a:bodyPr/>
        <a:lstStyle/>
        <a:p>
          <a:endParaRPr lang="en-US"/>
        </a:p>
      </dgm:t>
    </dgm:pt>
    <dgm:pt modelId="{99E18E40-E8F6-4147-8912-5132C15AB86B}">
      <dgm:prSet phldrT="[Text]" custT="1"/>
      <dgm:spPr/>
      <dgm:t>
        <a:bodyPr/>
        <a:lstStyle/>
        <a:p>
          <a:r>
            <a:rPr lang="en-US" sz="2400" dirty="0" smtClean="0"/>
            <a:t>Planning</a:t>
          </a:r>
          <a:endParaRPr lang="en-US" sz="2400" dirty="0"/>
        </a:p>
      </dgm:t>
    </dgm:pt>
    <dgm:pt modelId="{87DF5DB1-68C2-4BF4-ACD0-F3454CA9DD89}" type="parTrans" cxnId="{39F783F0-CBA1-4159-B5E3-FB5F9DC68D53}">
      <dgm:prSet/>
      <dgm:spPr/>
      <dgm:t>
        <a:bodyPr/>
        <a:lstStyle/>
        <a:p>
          <a:endParaRPr lang="en-US"/>
        </a:p>
      </dgm:t>
    </dgm:pt>
    <dgm:pt modelId="{B20C0935-3B8B-4F6D-ACFE-7DC9393469E1}" type="sibTrans" cxnId="{39F783F0-CBA1-4159-B5E3-FB5F9DC68D53}">
      <dgm:prSet/>
      <dgm:spPr/>
      <dgm:t>
        <a:bodyPr/>
        <a:lstStyle/>
        <a:p>
          <a:endParaRPr lang="en-US"/>
        </a:p>
      </dgm:t>
    </dgm:pt>
    <dgm:pt modelId="{B97F7AD8-E8AB-40C1-8BF0-2F0D92083197}">
      <dgm:prSet phldrT="[Text]" custT="1"/>
      <dgm:spPr/>
      <dgm:t>
        <a:bodyPr/>
        <a:lstStyle/>
        <a:p>
          <a:r>
            <a:rPr lang="en-US" sz="2100" dirty="0" smtClean="0"/>
            <a:t>Estimating</a:t>
          </a:r>
          <a:endParaRPr lang="en-US" sz="2100" dirty="0"/>
        </a:p>
      </dgm:t>
    </dgm:pt>
    <dgm:pt modelId="{D270B4AE-9E0E-4F84-84C8-1464A4125B49}" type="parTrans" cxnId="{0D78C70E-1B20-42B9-9F30-CD51F5116BFD}">
      <dgm:prSet/>
      <dgm:spPr/>
      <dgm:t>
        <a:bodyPr/>
        <a:lstStyle/>
        <a:p>
          <a:endParaRPr lang="en-US"/>
        </a:p>
      </dgm:t>
    </dgm:pt>
    <dgm:pt modelId="{EA69D0E7-4B97-4521-8AED-72FD659474B4}" type="sibTrans" cxnId="{0D78C70E-1B20-42B9-9F30-CD51F5116BFD}">
      <dgm:prSet/>
      <dgm:spPr/>
      <dgm:t>
        <a:bodyPr/>
        <a:lstStyle/>
        <a:p>
          <a:endParaRPr lang="en-US"/>
        </a:p>
      </dgm:t>
    </dgm:pt>
    <dgm:pt modelId="{F2A5F58A-220D-4977-B9FC-2E697F28612F}">
      <dgm:prSet phldrT="[Text]" custT="1"/>
      <dgm:spPr/>
      <dgm:t>
        <a:bodyPr/>
        <a:lstStyle/>
        <a:p>
          <a:r>
            <a:rPr lang="en-US" sz="2400" dirty="0" smtClean="0"/>
            <a:t>Modeling</a:t>
          </a:r>
          <a:endParaRPr lang="en-US" sz="2400" dirty="0"/>
        </a:p>
      </dgm:t>
    </dgm:pt>
    <dgm:pt modelId="{FA679047-1690-4F20-A2D7-BC454DFF1130}" type="parTrans" cxnId="{12BF5073-FB46-45C0-AEE1-BCFB44DEF51D}">
      <dgm:prSet/>
      <dgm:spPr/>
      <dgm:t>
        <a:bodyPr/>
        <a:lstStyle/>
        <a:p>
          <a:endParaRPr lang="en-US"/>
        </a:p>
      </dgm:t>
    </dgm:pt>
    <dgm:pt modelId="{06440798-ACDC-4A12-AB70-51F9F6BA4FAD}" type="sibTrans" cxnId="{12BF5073-FB46-45C0-AEE1-BCFB44DEF51D}">
      <dgm:prSet/>
      <dgm:spPr/>
      <dgm:t>
        <a:bodyPr/>
        <a:lstStyle/>
        <a:p>
          <a:endParaRPr lang="en-US"/>
        </a:p>
      </dgm:t>
    </dgm:pt>
    <dgm:pt modelId="{6F9FEB68-09BD-47D0-ABDB-C60546D50C9E}">
      <dgm:prSet phldrT="[Text]" custT="1"/>
      <dgm:spPr/>
      <dgm:t>
        <a:bodyPr/>
        <a:lstStyle/>
        <a:p>
          <a:r>
            <a:rPr lang="en-US" sz="2100" dirty="0" smtClean="0"/>
            <a:t>Analysis</a:t>
          </a:r>
          <a:endParaRPr lang="en-US" sz="2100" dirty="0"/>
        </a:p>
      </dgm:t>
    </dgm:pt>
    <dgm:pt modelId="{4DA3D818-0D8B-4E05-83FA-0995310C0B6C}" type="parTrans" cxnId="{509D6B54-F1C7-4214-A3C6-136BE3E371F7}">
      <dgm:prSet/>
      <dgm:spPr/>
      <dgm:t>
        <a:bodyPr/>
        <a:lstStyle/>
        <a:p>
          <a:endParaRPr lang="en-US"/>
        </a:p>
      </dgm:t>
    </dgm:pt>
    <dgm:pt modelId="{095AC8D8-BEC7-4B3A-87A3-21A2573A9100}" type="sibTrans" cxnId="{509D6B54-F1C7-4214-A3C6-136BE3E371F7}">
      <dgm:prSet/>
      <dgm:spPr/>
      <dgm:t>
        <a:bodyPr/>
        <a:lstStyle/>
        <a:p>
          <a:endParaRPr lang="en-US"/>
        </a:p>
      </dgm:t>
    </dgm:pt>
    <dgm:pt modelId="{14421AF8-2707-4222-84E5-3BB4F350D8C0}">
      <dgm:prSet phldrT="[Text]" custT="1"/>
      <dgm:spPr/>
      <dgm:t>
        <a:bodyPr/>
        <a:lstStyle/>
        <a:p>
          <a:r>
            <a:rPr lang="en-US" sz="2100" dirty="0" smtClean="0"/>
            <a:t>Coding</a:t>
          </a:r>
          <a:endParaRPr lang="en-US" sz="2100" dirty="0"/>
        </a:p>
      </dgm:t>
    </dgm:pt>
    <dgm:pt modelId="{856B5441-7771-4A0B-A56D-EA4D25D95797}" type="parTrans" cxnId="{28069D18-A329-4263-A36E-44545BCC0D52}">
      <dgm:prSet/>
      <dgm:spPr/>
      <dgm:t>
        <a:bodyPr/>
        <a:lstStyle/>
        <a:p>
          <a:endParaRPr lang="en-US"/>
        </a:p>
      </dgm:t>
    </dgm:pt>
    <dgm:pt modelId="{923FFF1A-BA21-40DD-BF95-6D9FCECA2E20}" type="sibTrans" cxnId="{28069D18-A329-4263-A36E-44545BCC0D52}">
      <dgm:prSet/>
      <dgm:spPr/>
      <dgm:t>
        <a:bodyPr/>
        <a:lstStyle/>
        <a:p>
          <a:endParaRPr lang="en-US"/>
        </a:p>
      </dgm:t>
    </dgm:pt>
    <dgm:pt modelId="{1E7E7E04-C5A4-45DE-868F-1E45CCB846A8}">
      <dgm:prSet phldrT="[Text]" custT="1"/>
      <dgm:spPr/>
      <dgm:t>
        <a:bodyPr/>
        <a:lstStyle/>
        <a:p>
          <a:r>
            <a:rPr lang="en-US" sz="2400" dirty="0" smtClean="0"/>
            <a:t>Construction</a:t>
          </a:r>
          <a:endParaRPr lang="en-US" sz="2400" dirty="0"/>
        </a:p>
      </dgm:t>
    </dgm:pt>
    <dgm:pt modelId="{34176DB2-3825-4428-BE87-0E609B43CFB8}" type="parTrans" cxnId="{D51ECFEA-F451-470D-8106-4BA5DAA96D44}">
      <dgm:prSet/>
      <dgm:spPr/>
      <dgm:t>
        <a:bodyPr/>
        <a:lstStyle/>
        <a:p>
          <a:endParaRPr lang="en-US"/>
        </a:p>
      </dgm:t>
    </dgm:pt>
    <dgm:pt modelId="{F71AF952-FF8F-4FF6-A8EA-727AA0C253E6}" type="sibTrans" cxnId="{D51ECFEA-F451-470D-8106-4BA5DAA96D44}">
      <dgm:prSet/>
      <dgm:spPr/>
      <dgm:t>
        <a:bodyPr/>
        <a:lstStyle/>
        <a:p>
          <a:endParaRPr lang="en-US"/>
        </a:p>
      </dgm:t>
    </dgm:pt>
    <dgm:pt modelId="{F69D549C-A661-45EE-B89D-AF4C54590024}">
      <dgm:prSet phldrT="[Text]" custT="1"/>
      <dgm:spPr/>
      <dgm:t>
        <a:bodyPr/>
        <a:lstStyle/>
        <a:p>
          <a:r>
            <a:rPr lang="en-US" sz="2400" dirty="0" smtClean="0"/>
            <a:t>Deployment</a:t>
          </a:r>
          <a:endParaRPr lang="en-US" sz="2400" dirty="0"/>
        </a:p>
      </dgm:t>
    </dgm:pt>
    <dgm:pt modelId="{2DA91860-60D4-41A5-9510-D4EA19143B15}" type="parTrans" cxnId="{CEE39A56-6EAB-4796-BDBE-36BD7A7DAA07}">
      <dgm:prSet/>
      <dgm:spPr/>
      <dgm:t>
        <a:bodyPr/>
        <a:lstStyle/>
        <a:p>
          <a:endParaRPr lang="en-US"/>
        </a:p>
      </dgm:t>
    </dgm:pt>
    <dgm:pt modelId="{38D1250B-8FFE-486E-A084-B172EC00C64A}" type="sibTrans" cxnId="{CEE39A56-6EAB-4796-BDBE-36BD7A7DAA07}">
      <dgm:prSet/>
      <dgm:spPr/>
      <dgm:t>
        <a:bodyPr/>
        <a:lstStyle/>
        <a:p>
          <a:endParaRPr lang="en-US"/>
        </a:p>
      </dgm:t>
    </dgm:pt>
    <dgm:pt modelId="{8FE14FCE-AA0F-4F5C-BF7B-DAC47062A8EA}">
      <dgm:prSet phldrT="[Text]" custT="1"/>
      <dgm:spPr/>
      <dgm:t>
        <a:bodyPr/>
        <a:lstStyle/>
        <a:p>
          <a:r>
            <a:rPr lang="en-US" sz="2100" dirty="0" smtClean="0"/>
            <a:t>Delivery</a:t>
          </a:r>
          <a:endParaRPr lang="en-US" sz="2100" dirty="0"/>
        </a:p>
      </dgm:t>
    </dgm:pt>
    <dgm:pt modelId="{20EBED71-5DA7-4B6A-A09D-AB2F61FB0758}" type="parTrans" cxnId="{D20F853B-D600-4E87-86B6-7D4EAFA93704}">
      <dgm:prSet/>
      <dgm:spPr/>
      <dgm:t>
        <a:bodyPr/>
        <a:lstStyle/>
        <a:p>
          <a:endParaRPr lang="en-US"/>
        </a:p>
      </dgm:t>
    </dgm:pt>
    <dgm:pt modelId="{9254E967-D649-4007-A961-E11642DB4706}" type="sibTrans" cxnId="{D20F853B-D600-4E87-86B6-7D4EAFA93704}">
      <dgm:prSet/>
      <dgm:spPr/>
      <dgm:t>
        <a:bodyPr/>
        <a:lstStyle/>
        <a:p>
          <a:endParaRPr lang="en-US"/>
        </a:p>
      </dgm:t>
    </dgm:pt>
    <dgm:pt modelId="{54EAB35D-C403-4E49-A27D-8AC5901130E4}">
      <dgm:prSet phldrT="[Text]" custT="1"/>
      <dgm:spPr/>
      <dgm:t>
        <a:bodyPr/>
        <a:lstStyle/>
        <a:p>
          <a:r>
            <a:rPr lang="en-US" sz="2100" dirty="0" smtClean="0"/>
            <a:t>Requirements gathering</a:t>
          </a:r>
          <a:endParaRPr lang="en-US" sz="2100" dirty="0"/>
        </a:p>
      </dgm:t>
    </dgm:pt>
    <dgm:pt modelId="{EF7DDF7E-5982-4590-A895-AD209D279D40}" type="parTrans" cxnId="{BC1F3DD6-6587-4566-AD5E-7F2C080C91EB}">
      <dgm:prSet/>
      <dgm:spPr/>
      <dgm:t>
        <a:bodyPr/>
        <a:lstStyle/>
        <a:p>
          <a:endParaRPr lang="en-US"/>
        </a:p>
      </dgm:t>
    </dgm:pt>
    <dgm:pt modelId="{4C0300D3-4A0D-4A31-B247-6462EAC2ECAB}" type="sibTrans" cxnId="{BC1F3DD6-6587-4566-AD5E-7F2C080C91EB}">
      <dgm:prSet/>
      <dgm:spPr/>
      <dgm:t>
        <a:bodyPr/>
        <a:lstStyle/>
        <a:p>
          <a:endParaRPr lang="en-US"/>
        </a:p>
      </dgm:t>
    </dgm:pt>
    <dgm:pt modelId="{5F3977E0-0D96-47F0-A643-4211126D25D0}">
      <dgm:prSet phldrT="[Text]" custT="1"/>
      <dgm:spPr/>
      <dgm:t>
        <a:bodyPr/>
        <a:lstStyle/>
        <a:p>
          <a:r>
            <a:rPr lang="en-US" sz="2100" dirty="0" smtClean="0"/>
            <a:t>Scheduling</a:t>
          </a:r>
          <a:endParaRPr lang="en-US" sz="2100" dirty="0"/>
        </a:p>
      </dgm:t>
    </dgm:pt>
    <dgm:pt modelId="{65B2F884-BB71-44A7-ABD6-EA86252500D5}" type="parTrans" cxnId="{DB6213D3-1E43-477E-8914-062DFE8035B6}">
      <dgm:prSet/>
      <dgm:spPr/>
      <dgm:t>
        <a:bodyPr/>
        <a:lstStyle/>
        <a:p>
          <a:endParaRPr lang="en-US"/>
        </a:p>
      </dgm:t>
    </dgm:pt>
    <dgm:pt modelId="{A3F23785-F948-43B8-BADA-72C379464C59}" type="sibTrans" cxnId="{DB6213D3-1E43-477E-8914-062DFE8035B6}">
      <dgm:prSet/>
      <dgm:spPr/>
      <dgm:t>
        <a:bodyPr/>
        <a:lstStyle/>
        <a:p>
          <a:endParaRPr lang="en-US"/>
        </a:p>
      </dgm:t>
    </dgm:pt>
    <dgm:pt modelId="{3C68FE46-BF54-4EF8-ABE5-22022ABAF61A}">
      <dgm:prSet phldrT="[Text]" custT="1"/>
      <dgm:spPr/>
      <dgm:t>
        <a:bodyPr/>
        <a:lstStyle/>
        <a:p>
          <a:r>
            <a:rPr lang="en-US" sz="2100" dirty="0" smtClean="0"/>
            <a:t>Tracking</a:t>
          </a:r>
          <a:endParaRPr lang="en-US" sz="2100" dirty="0"/>
        </a:p>
      </dgm:t>
    </dgm:pt>
    <dgm:pt modelId="{B6176FCB-0C59-4DA3-A4C4-14B116736451}" type="parTrans" cxnId="{2BE31AD6-C234-4F3D-9BF4-46F485BFBF63}">
      <dgm:prSet/>
      <dgm:spPr/>
      <dgm:t>
        <a:bodyPr/>
        <a:lstStyle/>
        <a:p>
          <a:endParaRPr lang="en-US"/>
        </a:p>
      </dgm:t>
    </dgm:pt>
    <dgm:pt modelId="{B890A581-7676-4510-8C20-188940BD0188}" type="sibTrans" cxnId="{2BE31AD6-C234-4F3D-9BF4-46F485BFBF63}">
      <dgm:prSet/>
      <dgm:spPr/>
      <dgm:t>
        <a:bodyPr/>
        <a:lstStyle/>
        <a:p>
          <a:endParaRPr lang="en-US"/>
        </a:p>
      </dgm:t>
    </dgm:pt>
    <dgm:pt modelId="{6727564A-6D77-4D5A-A09E-77B3A83B8778}">
      <dgm:prSet phldrT="[Text]" custT="1"/>
      <dgm:spPr/>
      <dgm:t>
        <a:bodyPr/>
        <a:lstStyle/>
        <a:p>
          <a:r>
            <a:rPr lang="en-US" sz="2100" dirty="0" smtClean="0"/>
            <a:t>Support</a:t>
          </a:r>
          <a:endParaRPr lang="en-US" sz="2100" dirty="0"/>
        </a:p>
      </dgm:t>
    </dgm:pt>
    <dgm:pt modelId="{4626B4C6-954E-408E-8EFC-10CECF089D7E}" type="parTrans" cxnId="{A3B02B9E-710B-43A8-AF09-53DDC6DB2604}">
      <dgm:prSet/>
      <dgm:spPr/>
      <dgm:t>
        <a:bodyPr/>
        <a:lstStyle/>
        <a:p>
          <a:endParaRPr lang="en-US"/>
        </a:p>
      </dgm:t>
    </dgm:pt>
    <dgm:pt modelId="{470F2DF5-9D5D-4B85-AC6B-78C3A18441FB}" type="sibTrans" cxnId="{A3B02B9E-710B-43A8-AF09-53DDC6DB2604}">
      <dgm:prSet/>
      <dgm:spPr/>
      <dgm:t>
        <a:bodyPr/>
        <a:lstStyle/>
        <a:p>
          <a:endParaRPr lang="en-US"/>
        </a:p>
      </dgm:t>
    </dgm:pt>
    <dgm:pt modelId="{6EA3EF0F-EE1E-4122-9838-B9A50AADC8F9}">
      <dgm:prSet phldrT="[Text]" custT="1"/>
      <dgm:spPr/>
      <dgm:t>
        <a:bodyPr/>
        <a:lstStyle/>
        <a:p>
          <a:r>
            <a:rPr lang="en-US" sz="2100" dirty="0" smtClean="0"/>
            <a:t>Feedback</a:t>
          </a:r>
          <a:endParaRPr lang="en-US" sz="2100" dirty="0"/>
        </a:p>
      </dgm:t>
    </dgm:pt>
    <dgm:pt modelId="{75200D61-848A-4A90-8B05-6703201642A8}" type="parTrans" cxnId="{C016DDE9-9BD0-41C5-AB43-5819395A2E2F}">
      <dgm:prSet/>
      <dgm:spPr/>
      <dgm:t>
        <a:bodyPr/>
        <a:lstStyle/>
        <a:p>
          <a:endParaRPr lang="en-US"/>
        </a:p>
      </dgm:t>
    </dgm:pt>
    <dgm:pt modelId="{B3AEE961-78CB-494D-B0B8-420E605B09CA}" type="sibTrans" cxnId="{C016DDE9-9BD0-41C5-AB43-5819395A2E2F}">
      <dgm:prSet/>
      <dgm:spPr/>
      <dgm:t>
        <a:bodyPr/>
        <a:lstStyle/>
        <a:p>
          <a:endParaRPr lang="en-US"/>
        </a:p>
      </dgm:t>
    </dgm:pt>
    <dgm:pt modelId="{60D58111-FB30-4153-9803-4B86DDD0C289}">
      <dgm:prSet phldrT="[Text]" custT="1"/>
      <dgm:spPr/>
      <dgm:t>
        <a:bodyPr/>
        <a:lstStyle/>
        <a:p>
          <a:r>
            <a:rPr lang="en-US" sz="2100" dirty="0" smtClean="0"/>
            <a:t>Design</a:t>
          </a:r>
          <a:endParaRPr lang="en-US" sz="2100" dirty="0"/>
        </a:p>
      </dgm:t>
    </dgm:pt>
    <dgm:pt modelId="{208FC4A6-320B-4D69-A9A9-EDC975665DDB}" type="parTrans" cxnId="{00C823CE-16B9-4D2F-87C3-503FEECCD395}">
      <dgm:prSet/>
      <dgm:spPr/>
      <dgm:t>
        <a:bodyPr/>
        <a:lstStyle/>
        <a:p>
          <a:endParaRPr lang="en-US"/>
        </a:p>
      </dgm:t>
    </dgm:pt>
    <dgm:pt modelId="{A2538B91-9BDF-42E6-A3FE-2D42B7EF3B28}" type="sibTrans" cxnId="{00C823CE-16B9-4D2F-87C3-503FEECCD395}">
      <dgm:prSet/>
      <dgm:spPr/>
      <dgm:t>
        <a:bodyPr/>
        <a:lstStyle/>
        <a:p>
          <a:endParaRPr lang="en-US"/>
        </a:p>
      </dgm:t>
    </dgm:pt>
    <dgm:pt modelId="{EA9A4720-05F8-4F0D-B851-EE167886F387}">
      <dgm:prSet phldrT="[Text]" custT="1"/>
      <dgm:spPr/>
      <dgm:t>
        <a:bodyPr/>
        <a:lstStyle/>
        <a:p>
          <a:r>
            <a:rPr lang="en-US" sz="2100" dirty="0" smtClean="0"/>
            <a:t>Testing</a:t>
          </a:r>
          <a:endParaRPr lang="en-US" sz="2100" dirty="0"/>
        </a:p>
      </dgm:t>
    </dgm:pt>
    <dgm:pt modelId="{F0DC98C2-679D-436E-8784-F55AE2949278}" type="parTrans" cxnId="{7C084EC5-5780-48C5-8600-104714F0A633}">
      <dgm:prSet/>
      <dgm:spPr/>
      <dgm:t>
        <a:bodyPr/>
        <a:lstStyle/>
        <a:p>
          <a:endParaRPr lang="en-US"/>
        </a:p>
      </dgm:t>
    </dgm:pt>
    <dgm:pt modelId="{01B42E0A-CCB4-40F4-9095-08B7CB6651E2}" type="sibTrans" cxnId="{7C084EC5-5780-48C5-8600-104714F0A633}">
      <dgm:prSet/>
      <dgm:spPr/>
      <dgm:t>
        <a:bodyPr/>
        <a:lstStyle/>
        <a:p>
          <a:endParaRPr lang="en-US"/>
        </a:p>
      </dgm:t>
    </dgm:pt>
    <dgm:pt modelId="{4631F6D9-3246-41A5-9A13-BD0B88DEAD39}" type="pres">
      <dgm:prSet presAssocID="{8CF3AED1-4199-44D0-92E0-14D17F35FFD8}" presName="rootnode" presStyleCnt="0">
        <dgm:presLayoutVars>
          <dgm:chMax/>
          <dgm:chPref/>
          <dgm:dir val="rev"/>
          <dgm:animLvl val="lvl"/>
        </dgm:presLayoutVars>
      </dgm:prSet>
      <dgm:spPr/>
      <dgm:t>
        <a:bodyPr/>
        <a:lstStyle/>
        <a:p>
          <a:endParaRPr lang="en-US"/>
        </a:p>
      </dgm:t>
    </dgm:pt>
    <dgm:pt modelId="{8B53CFE4-4A99-4D5C-8ECA-9246DB36664A}" type="pres">
      <dgm:prSet presAssocID="{F69D549C-A661-45EE-B89D-AF4C54590024}" presName="composite" presStyleCnt="0"/>
      <dgm:spPr/>
      <dgm:t>
        <a:bodyPr/>
        <a:lstStyle/>
        <a:p>
          <a:endParaRPr lang="en-US"/>
        </a:p>
      </dgm:t>
    </dgm:pt>
    <dgm:pt modelId="{4EB40704-2192-4502-87F7-B2CD7DA83EA8}" type="pres">
      <dgm:prSet presAssocID="{F69D549C-A661-45EE-B89D-AF4C54590024}" presName="LShape" presStyleLbl="alignNode1" presStyleIdx="0" presStyleCnt="9"/>
      <dgm:spPr/>
      <dgm:t>
        <a:bodyPr/>
        <a:lstStyle/>
        <a:p>
          <a:endParaRPr lang="en-US"/>
        </a:p>
      </dgm:t>
    </dgm:pt>
    <dgm:pt modelId="{B59F32B9-3C8C-4808-8F86-AB08BD9247EC}" type="pres">
      <dgm:prSet presAssocID="{F69D549C-A661-45EE-B89D-AF4C54590024}" presName="ParentText" presStyleLbl="revTx" presStyleIdx="0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051114F-CAA4-49FA-8B35-FA6FDC87D15D}" type="pres">
      <dgm:prSet presAssocID="{F69D549C-A661-45EE-B89D-AF4C54590024}" presName="Triangle" presStyleLbl="alignNode1" presStyleIdx="1" presStyleCnt="9"/>
      <dgm:spPr/>
    </dgm:pt>
    <dgm:pt modelId="{61EA6CFE-479D-4878-9585-C429DAA7127B}" type="pres">
      <dgm:prSet presAssocID="{38D1250B-8FFE-486E-A084-B172EC00C64A}" presName="sibTrans" presStyleCnt="0"/>
      <dgm:spPr/>
    </dgm:pt>
    <dgm:pt modelId="{104AC332-51A1-4E4A-9320-0AF4C67015C2}" type="pres">
      <dgm:prSet presAssocID="{38D1250B-8FFE-486E-A084-B172EC00C64A}" presName="space" presStyleCnt="0"/>
      <dgm:spPr/>
    </dgm:pt>
    <dgm:pt modelId="{11F1A6D9-BC9A-43BC-BAE2-5B4786A4464F}" type="pres">
      <dgm:prSet presAssocID="{1E7E7E04-C5A4-45DE-868F-1E45CCB846A8}" presName="composite" presStyleCnt="0"/>
      <dgm:spPr/>
      <dgm:t>
        <a:bodyPr/>
        <a:lstStyle/>
        <a:p>
          <a:endParaRPr lang="en-US"/>
        </a:p>
      </dgm:t>
    </dgm:pt>
    <dgm:pt modelId="{B8E1EE6F-D89E-45D4-9011-458FDA39BF58}" type="pres">
      <dgm:prSet presAssocID="{1E7E7E04-C5A4-45DE-868F-1E45CCB846A8}" presName="LShape" presStyleLbl="alignNode1" presStyleIdx="2" presStyleCnt="9"/>
      <dgm:spPr/>
      <dgm:t>
        <a:bodyPr/>
        <a:lstStyle/>
        <a:p>
          <a:endParaRPr lang="en-US"/>
        </a:p>
      </dgm:t>
    </dgm:pt>
    <dgm:pt modelId="{5BA2D51A-D104-4729-B7AD-0FA922C7568C}" type="pres">
      <dgm:prSet presAssocID="{1E7E7E04-C5A4-45DE-868F-1E45CCB846A8}" presName="ParentText" presStyleLbl="revTx" presStyleIdx="1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886B498-071B-44C7-9799-B5F6ED573ABB}" type="pres">
      <dgm:prSet presAssocID="{1E7E7E04-C5A4-45DE-868F-1E45CCB846A8}" presName="Triangle" presStyleLbl="alignNode1" presStyleIdx="3" presStyleCnt="9"/>
      <dgm:spPr/>
      <dgm:t>
        <a:bodyPr/>
        <a:lstStyle/>
        <a:p>
          <a:endParaRPr lang="en-US"/>
        </a:p>
      </dgm:t>
    </dgm:pt>
    <dgm:pt modelId="{8F6A3636-3321-418A-AFF0-948A762DAC10}" type="pres">
      <dgm:prSet presAssocID="{F71AF952-FF8F-4FF6-A8EA-727AA0C253E6}" presName="sibTrans" presStyleCnt="0"/>
      <dgm:spPr/>
      <dgm:t>
        <a:bodyPr/>
        <a:lstStyle/>
        <a:p>
          <a:endParaRPr lang="en-US"/>
        </a:p>
      </dgm:t>
    </dgm:pt>
    <dgm:pt modelId="{9E3DEF8F-CDFF-4401-941A-47F61DF1CED7}" type="pres">
      <dgm:prSet presAssocID="{F71AF952-FF8F-4FF6-A8EA-727AA0C253E6}" presName="space" presStyleCnt="0"/>
      <dgm:spPr/>
      <dgm:t>
        <a:bodyPr/>
        <a:lstStyle/>
        <a:p>
          <a:endParaRPr lang="en-US"/>
        </a:p>
      </dgm:t>
    </dgm:pt>
    <dgm:pt modelId="{7ECE6009-1091-4567-B650-8BB6A00A3F69}" type="pres">
      <dgm:prSet presAssocID="{F2A5F58A-220D-4977-B9FC-2E697F28612F}" presName="composite" presStyleCnt="0"/>
      <dgm:spPr/>
      <dgm:t>
        <a:bodyPr/>
        <a:lstStyle/>
        <a:p>
          <a:endParaRPr lang="en-US"/>
        </a:p>
      </dgm:t>
    </dgm:pt>
    <dgm:pt modelId="{CE767F60-2BCC-47EF-B93C-6E4A3E33D6C4}" type="pres">
      <dgm:prSet presAssocID="{F2A5F58A-220D-4977-B9FC-2E697F28612F}" presName="LShape" presStyleLbl="alignNode1" presStyleIdx="4" presStyleCnt="9"/>
      <dgm:spPr/>
      <dgm:t>
        <a:bodyPr/>
        <a:lstStyle/>
        <a:p>
          <a:endParaRPr lang="en-US"/>
        </a:p>
      </dgm:t>
    </dgm:pt>
    <dgm:pt modelId="{38AA935B-A004-410B-BD1F-B47FC1028D78}" type="pres">
      <dgm:prSet presAssocID="{F2A5F58A-220D-4977-B9FC-2E697F28612F}" presName="ParentText" presStyleLbl="revTx" presStyleIdx="2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40013BB-93A1-40E8-84C1-6D411FD708FB}" type="pres">
      <dgm:prSet presAssocID="{F2A5F58A-220D-4977-B9FC-2E697F28612F}" presName="Triangle" presStyleLbl="alignNode1" presStyleIdx="5" presStyleCnt="9"/>
      <dgm:spPr/>
      <dgm:t>
        <a:bodyPr/>
        <a:lstStyle/>
        <a:p>
          <a:endParaRPr lang="en-US"/>
        </a:p>
      </dgm:t>
    </dgm:pt>
    <dgm:pt modelId="{5F729520-8776-4EAA-8C88-B02749652F7A}" type="pres">
      <dgm:prSet presAssocID="{06440798-ACDC-4A12-AB70-51F9F6BA4FAD}" presName="sibTrans" presStyleCnt="0"/>
      <dgm:spPr/>
      <dgm:t>
        <a:bodyPr/>
        <a:lstStyle/>
        <a:p>
          <a:endParaRPr lang="en-US"/>
        </a:p>
      </dgm:t>
    </dgm:pt>
    <dgm:pt modelId="{135EF15C-E4CE-4F7D-AA87-A0BB38D7E7D9}" type="pres">
      <dgm:prSet presAssocID="{06440798-ACDC-4A12-AB70-51F9F6BA4FAD}" presName="space" presStyleCnt="0"/>
      <dgm:spPr/>
      <dgm:t>
        <a:bodyPr/>
        <a:lstStyle/>
        <a:p>
          <a:endParaRPr lang="en-US"/>
        </a:p>
      </dgm:t>
    </dgm:pt>
    <dgm:pt modelId="{DC919D2A-829C-4055-B2EE-9BA653EC377E}" type="pres">
      <dgm:prSet presAssocID="{99E18E40-E8F6-4147-8912-5132C15AB86B}" presName="composite" presStyleCnt="0"/>
      <dgm:spPr/>
      <dgm:t>
        <a:bodyPr/>
        <a:lstStyle/>
        <a:p>
          <a:endParaRPr lang="en-US"/>
        </a:p>
      </dgm:t>
    </dgm:pt>
    <dgm:pt modelId="{AA515454-4BFD-474B-8B31-E8AD095C346A}" type="pres">
      <dgm:prSet presAssocID="{99E18E40-E8F6-4147-8912-5132C15AB86B}" presName="LShape" presStyleLbl="alignNode1" presStyleIdx="6" presStyleCnt="9"/>
      <dgm:spPr/>
      <dgm:t>
        <a:bodyPr/>
        <a:lstStyle/>
        <a:p>
          <a:endParaRPr lang="en-US"/>
        </a:p>
      </dgm:t>
    </dgm:pt>
    <dgm:pt modelId="{5DECAF32-DDD2-4BE1-9196-8103F68F7A9B}" type="pres">
      <dgm:prSet presAssocID="{99E18E40-E8F6-4147-8912-5132C15AB86B}" presName="ParentText" presStyleLbl="revTx" presStyleIdx="3" presStyleCnt="5" custScaleX="93548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D3B9E89-1DC2-4493-BC58-2DADA22E3D4D}" type="pres">
      <dgm:prSet presAssocID="{99E18E40-E8F6-4147-8912-5132C15AB86B}" presName="Triangle" presStyleLbl="alignNode1" presStyleIdx="7" presStyleCnt="9"/>
      <dgm:spPr/>
      <dgm:t>
        <a:bodyPr/>
        <a:lstStyle/>
        <a:p>
          <a:endParaRPr lang="en-US"/>
        </a:p>
      </dgm:t>
    </dgm:pt>
    <dgm:pt modelId="{27161DD1-01B5-46AB-A758-066C2D902D06}" type="pres">
      <dgm:prSet presAssocID="{B20C0935-3B8B-4F6D-ACFE-7DC9393469E1}" presName="sibTrans" presStyleCnt="0"/>
      <dgm:spPr/>
      <dgm:t>
        <a:bodyPr/>
        <a:lstStyle/>
        <a:p>
          <a:endParaRPr lang="en-US"/>
        </a:p>
      </dgm:t>
    </dgm:pt>
    <dgm:pt modelId="{E89A3D4C-6B99-4616-BC77-E01D9C80A70E}" type="pres">
      <dgm:prSet presAssocID="{B20C0935-3B8B-4F6D-ACFE-7DC9393469E1}" presName="space" presStyleCnt="0"/>
      <dgm:spPr/>
      <dgm:t>
        <a:bodyPr/>
        <a:lstStyle/>
        <a:p>
          <a:endParaRPr lang="en-US"/>
        </a:p>
      </dgm:t>
    </dgm:pt>
    <dgm:pt modelId="{1F025ADC-5FED-4AEC-BA4A-4CFA1521C2D0}" type="pres">
      <dgm:prSet presAssocID="{76AD3E51-9171-4635-8FB1-5018FEB7D286}" presName="composite" presStyleCnt="0"/>
      <dgm:spPr/>
      <dgm:t>
        <a:bodyPr/>
        <a:lstStyle/>
        <a:p>
          <a:endParaRPr lang="en-US"/>
        </a:p>
      </dgm:t>
    </dgm:pt>
    <dgm:pt modelId="{05735ABA-3EC9-4712-9723-C48BA724FEF7}" type="pres">
      <dgm:prSet presAssocID="{76AD3E51-9171-4635-8FB1-5018FEB7D286}" presName="LShape" presStyleLbl="alignNode1" presStyleIdx="8" presStyleCnt="9" custScaleX="113208"/>
      <dgm:spPr/>
      <dgm:t>
        <a:bodyPr/>
        <a:lstStyle/>
        <a:p>
          <a:endParaRPr lang="en-US"/>
        </a:p>
      </dgm:t>
    </dgm:pt>
    <dgm:pt modelId="{7124B844-85B5-4BAF-B3DA-E18F2701FEED}" type="pres">
      <dgm:prSet presAssocID="{76AD3E51-9171-4635-8FB1-5018FEB7D286}" presName="ParentText" presStyleLbl="revTx" presStyleIdx="4" presStyleCnt="5" custScaleX="12573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D9AB4896-E90B-41C0-862E-86DABC250761}" type="presOf" srcId="{EA9A4720-05F8-4F0D-B851-EE167886F387}" destId="{5BA2D51A-D104-4729-B7AD-0FA922C7568C}" srcOrd="0" destOrd="2" presId="urn:microsoft.com/office/officeart/2009/3/layout/StepUpProcess"/>
    <dgm:cxn modelId="{98C70DBF-12C3-4899-BAEC-97905864CC54}" type="presOf" srcId="{6EA3EF0F-EE1E-4122-9838-B9A50AADC8F9}" destId="{B59F32B9-3C8C-4808-8F86-AB08BD9247EC}" srcOrd="0" destOrd="3" presId="urn:microsoft.com/office/officeart/2009/3/layout/StepUpProcess"/>
    <dgm:cxn modelId="{DB6213D3-1E43-477E-8914-062DFE8035B6}" srcId="{99E18E40-E8F6-4147-8912-5132C15AB86B}" destId="{5F3977E0-0D96-47F0-A643-4211126D25D0}" srcOrd="1" destOrd="0" parTransId="{65B2F884-BB71-44A7-ABD6-EA86252500D5}" sibTransId="{A3F23785-F948-43B8-BADA-72C379464C59}"/>
    <dgm:cxn modelId="{0FC9A1DF-8A95-4624-8D1E-1411425489C1}" type="presOf" srcId="{3C68FE46-BF54-4EF8-ABE5-22022ABAF61A}" destId="{5DECAF32-DDD2-4BE1-9196-8103F68F7A9B}" srcOrd="0" destOrd="3" presId="urn:microsoft.com/office/officeart/2009/3/layout/StepUpProcess"/>
    <dgm:cxn modelId="{39F783F0-CBA1-4159-B5E3-FB5F9DC68D53}" srcId="{8CF3AED1-4199-44D0-92E0-14D17F35FFD8}" destId="{99E18E40-E8F6-4147-8912-5132C15AB86B}" srcOrd="3" destOrd="0" parTransId="{87DF5DB1-68C2-4BF4-ACD0-F3454CA9DD89}" sibTransId="{B20C0935-3B8B-4F6D-ACFE-7DC9393469E1}"/>
    <dgm:cxn modelId="{61D18173-82D1-4F6E-93CF-7D1AD2CF3009}" type="presOf" srcId="{F2A5F58A-220D-4977-B9FC-2E697F28612F}" destId="{38AA935B-A004-410B-BD1F-B47FC1028D78}" srcOrd="0" destOrd="0" presId="urn:microsoft.com/office/officeart/2009/3/layout/StepUpProcess"/>
    <dgm:cxn modelId="{CA159FA2-8280-4F4F-B2F7-34D9970A1139}" type="presOf" srcId="{99E18E40-E8F6-4147-8912-5132C15AB86B}" destId="{5DECAF32-DDD2-4BE1-9196-8103F68F7A9B}" srcOrd="0" destOrd="0" presId="urn:microsoft.com/office/officeart/2009/3/layout/StepUpProcess"/>
    <dgm:cxn modelId="{2BE31AD6-C234-4F3D-9BF4-46F485BFBF63}" srcId="{99E18E40-E8F6-4147-8912-5132C15AB86B}" destId="{3C68FE46-BF54-4EF8-ABE5-22022ABAF61A}" srcOrd="2" destOrd="0" parTransId="{B6176FCB-0C59-4DA3-A4C4-14B116736451}" sibTransId="{B890A581-7676-4510-8C20-188940BD0188}"/>
    <dgm:cxn modelId="{28069D18-A329-4263-A36E-44545BCC0D52}" srcId="{1E7E7E04-C5A4-45DE-868F-1E45CCB846A8}" destId="{14421AF8-2707-4222-84E5-3BB4F350D8C0}" srcOrd="0" destOrd="0" parTransId="{856B5441-7771-4A0B-A56D-EA4D25D95797}" sibTransId="{923FFF1A-BA21-40DD-BF95-6D9FCECA2E20}"/>
    <dgm:cxn modelId="{CEE39A56-6EAB-4796-BDBE-36BD7A7DAA07}" srcId="{8CF3AED1-4199-44D0-92E0-14D17F35FFD8}" destId="{F69D549C-A661-45EE-B89D-AF4C54590024}" srcOrd="0" destOrd="0" parTransId="{2DA91860-60D4-41A5-9510-D4EA19143B15}" sibTransId="{38D1250B-8FFE-486E-A084-B172EC00C64A}"/>
    <dgm:cxn modelId="{4306B76A-E86E-4C1A-BEEA-9EB802849E0C}" type="presOf" srcId="{A0CE15A4-0341-4F61-BF03-0486D3DD82DD}" destId="{7124B844-85B5-4BAF-B3DA-E18F2701FEED}" srcOrd="0" destOrd="1" presId="urn:microsoft.com/office/officeart/2009/3/layout/StepUpProcess"/>
    <dgm:cxn modelId="{BC1F3DD6-6587-4566-AD5E-7F2C080C91EB}" srcId="{76AD3E51-9171-4635-8FB1-5018FEB7D286}" destId="{54EAB35D-C403-4E49-A27D-8AC5901130E4}" srcOrd="1" destOrd="0" parTransId="{EF7DDF7E-5982-4590-A895-AD209D279D40}" sibTransId="{4C0300D3-4A0D-4A31-B247-6462EAC2ECAB}"/>
    <dgm:cxn modelId="{F4FE053F-4BB3-42E8-BB58-F507A29E5325}" srcId="{76AD3E51-9171-4635-8FB1-5018FEB7D286}" destId="{A0CE15A4-0341-4F61-BF03-0486D3DD82DD}" srcOrd="0" destOrd="0" parTransId="{00C5901A-1371-4D5B-9F04-B6ACBA3E5AD6}" sibTransId="{2EF4FDC0-F5EA-4922-8EAB-7870E82EE350}"/>
    <dgm:cxn modelId="{7C084EC5-5780-48C5-8600-104714F0A633}" srcId="{1E7E7E04-C5A4-45DE-868F-1E45CCB846A8}" destId="{EA9A4720-05F8-4F0D-B851-EE167886F387}" srcOrd="1" destOrd="0" parTransId="{F0DC98C2-679D-436E-8784-F55AE2949278}" sibTransId="{01B42E0A-CCB4-40F4-9095-08B7CB6651E2}"/>
    <dgm:cxn modelId="{187C91FC-7D1B-47B6-BDE6-48910A10492C}" type="presOf" srcId="{B97F7AD8-E8AB-40C1-8BF0-2F0D92083197}" destId="{5DECAF32-DDD2-4BE1-9196-8103F68F7A9B}" srcOrd="0" destOrd="1" presId="urn:microsoft.com/office/officeart/2009/3/layout/StepUpProcess"/>
    <dgm:cxn modelId="{C144AA1C-292F-4D23-9A76-98663F5FA6EA}" type="presOf" srcId="{76AD3E51-9171-4635-8FB1-5018FEB7D286}" destId="{7124B844-85B5-4BAF-B3DA-E18F2701FEED}" srcOrd="0" destOrd="0" presId="urn:microsoft.com/office/officeart/2009/3/layout/StepUpProcess"/>
    <dgm:cxn modelId="{D20F853B-D600-4E87-86B6-7D4EAFA93704}" srcId="{F69D549C-A661-45EE-B89D-AF4C54590024}" destId="{8FE14FCE-AA0F-4F5C-BF7B-DAC47062A8EA}" srcOrd="0" destOrd="0" parTransId="{20EBED71-5DA7-4B6A-A09D-AB2F61FB0758}" sibTransId="{9254E967-D649-4007-A961-E11642DB4706}"/>
    <dgm:cxn modelId="{9670893E-2161-4847-878B-3E2F33A94902}" type="presOf" srcId="{14421AF8-2707-4222-84E5-3BB4F350D8C0}" destId="{5BA2D51A-D104-4729-B7AD-0FA922C7568C}" srcOrd="0" destOrd="1" presId="urn:microsoft.com/office/officeart/2009/3/layout/StepUpProcess"/>
    <dgm:cxn modelId="{2D7A7E18-31F5-4D23-8A29-A294B8C336CC}" type="presOf" srcId="{F69D549C-A661-45EE-B89D-AF4C54590024}" destId="{B59F32B9-3C8C-4808-8F86-AB08BD9247EC}" srcOrd="0" destOrd="0" presId="urn:microsoft.com/office/officeart/2009/3/layout/StepUpProcess"/>
    <dgm:cxn modelId="{C19C59FE-1481-462F-B781-32D196D5900A}" type="presOf" srcId="{1E7E7E04-C5A4-45DE-868F-1E45CCB846A8}" destId="{5BA2D51A-D104-4729-B7AD-0FA922C7568C}" srcOrd="0" destOrd="0" presId="urn:microsoft.com/office/officeart/2009/3/layout/StepUpProcess"/>
    <dgm:cxn modelId="{17EB7EFE-7590-40A3-917C-A1F91FE1F69D}" type="presOf" srcId="{54EAB35D-C403-4E49-A27D-8AC5901130E4}" destId="{7124B844-85B5-4BAF-B3DA-E18F2701FEED}" srcOrd="0" destOrd="2" presId="urn:microsoft.com/office/officeart/2009/3/layout/StepUpProcess"/>
    <dgm:cxn modelId="{3CFECAE6-DE2B-4ADE-93F3-3614BAE79F90}" type="presOf" srcId="{5F3977E0-0D96-47F0-A643-4211126D25D0}" destId="{5DECAF32-DDD2-4BE1-9196-8103F68F7A9B}" srcOrd="0" destOrd="2" presId="urn:microsoft.com/office/officeart/2009/3/layout/StepUpProcess"/>
    <dgm:cxn modelId="{C016DDE9-9BD0-41C5-AB43-5819395A2E2F}" srcId="{F69D549C-A661-45EE-B89D-AF4C54590024}" destId="{6EA3EF0F-EE1E-4122-9838-B9A50AADC8F9}" srcOrd="2" destOrd="0" parTransId="{75200D61-848A-4A90-8B05-6703201642A8}" sibTransId="{B3AEE961-78CB-494D-B0B8-420E605B09CA}"/>
    <dgm:cxn modelId="{D51ECFEA-F451-470D-8106-4BA5DAA96D44}" srcId="{8CF3AED1-4199-44D0-92E0-14D17F35FFD8}" destId="{1E7E7E04-C5A4-45DE-868F-1E45CCB846A8}" srcOrd="1" destOrd="0" parTransId="{34176DB2-3825-4428-BE87-0E609B43CFB8}" sibTransId="{F71AF952-FF8F-4FF6-A8EA-727AA0C253E6}"/>
    <dgm:cxn modelId="{1C6E50F0-78AF-4320-A2BA-895FB1D4C79E}" srcId="{8CF3AED1-4199-44D0-92E0-14D17F35FFD8}" destId="{76AD3E51-9171-4635-8FB1-5018FEB7D286}" srcOrd="4" destOrd="0" parTransId="{1D881C8C-E828-4AB1-A683-539C4BAA6703}" sibTransId="{6B4F94C3-8A78-4F45-BCE2-7B415CDFB27B}"/>
    <dgm:cxn modelId="{C0B5D076-4BED-4329-B1E8-392C6DFA8B1F}" type="presOf" srcId="{60D58111-FB30-4153-9803-4B86DDD0C289}" destId="{38AA935B-A004-410B-BD1F-B47FC1028D78}" srcOrd="0" destOrd="2" presId="urn:microsoft.com/office/officeart/2009/3/layout/StepUpProcess"/>
    <dgm:cxn modelId="{9E826CE5-830E-460C-8C74-BFB76E46ED66}" type="presOf" srcId="{6727564A-6D77-4D5A-A09E-77B3A83B8778}" destId="{B59F32B9-3C8C-4808-8F86-AB08BD9247EC}" srcOrd="0" destOrd="2" presId="urn:microsoft.com/office/officeart/2009/3/layout/StepUpProcess"/>
    <dgm:cxn modelId="{12BF5073-FB46-45C0-AEE1-BCFB44DEF51D}" srcId="{8CF3AED1-4199-44D0-92E0-14D17F35FFD8}" destId="{F2A5F58A-220D-4977-B9FC-2E697F28612F}" srcOrd="2" destOrd="0" parTransId="{FA679047-1690-4F20-A2D7-BC454DFF1130}" sibTransId="{06440798-ACDC-4A12-AB70-51F9F6BA4FAD}"/>
    <dgm:cxn modelId="{810D8A89-A6E5-4868-AF47-8245E42372C5}" type="presOf" srcId="{8FE14FCE-AA0F-4F5C-BF7B-DAC47062A8EA}" destId="{B59F32B9-3C8C-4808-8F86-AB08BD9247EC}" srcOrd="0" destOrd="1" presId="urn:microsoft.com/office/officeart/2009/3/layout/StepUpProcess"/>
    <dgm:cxn modelId="{F06FE087-C406-440A-A988-D116A97269BF}" type="presOf" srcId="{8CF3AED1-4199-44D0-92E0-14D17F35FFD8}" destId="{4631F6D9-3246-41A5-9A13-BD0B88DEAD39}" srcOrd="0" destOrd="0" presId="urn:microsoft.com/office/officeart/2009/3/layout/StepUpProcess"/>
    <dgm:cxn modelId="{8F3E5893-5CBD-4D67-A8D3-486DD2089A52}" type="presOf" srcId="{6F9FEB68-09BD-47D0-ABDB-C60546D50C9E}" destId="{38AA935B-A004-410B-BD1F-B47FC1028D78}" srcOrd="0" destOrd="1" presId="urn:microsoft.com/office/officeart/2009/3/layout/StepUpProcess"/>
    <dgm:cxn modelId="{00C823CE-16B9-4D2F-87C3-503FEECCD395}" srcId="{F2A5F58A-220D-4977-B9FC-2E697F28612F}" destId="{60D58111-FB30-4153-9803-4B86DDD0C289}" srcOrd="1" destOrd="0" parTransId="{208FC4A6-320B-4D69-A9A9-EDC975665DDB}" sibTransId="{A2538B91-9BDF-42E6-A3FE-2D42B7EF3B28}"/>
    <dgm:cxn modelId="{0D78C70E-1B20-42B9-9F30-CD51F5116BFD}" srcId="{99E18E40-E8F6-4147-8912-5132C15AB86B}" destId="{B97F7AD8-E8AB-40C1-8BF0-2F0D92083197}" srcOrd="0" destOrd="0" parTransId="{D270B4AE-9E0E-4F84-84C8-1464A4125B49}" sibTransId="{EA69D0E7-4B97-4521-8AED-72FD659474B4}"/>
    <dgm:cxn modelId="{A3B02B9E-710B-43A8-AF09-53DDC6DB2604}" srcId="{F69D549C-A661-45EE-B89D-AF4C54590024}" destId="{6727564A-6D77-4D5A-A09E-77B3A83B8778}" srcOrd="1" destOrd="0" parTransId="{4626B4C6-954E-408E-8EFC-10CECF089D7E}" sibTransId="{470F2DF5-9D5D-4B85-AC6B-78C3A18441FB}"/>
    <dgm:cxn modelId="{509D6B54-F1C7-4214-A3C6-136BE3E371F7}" srcId="{F2A5F58A-220D-4977-B9FC-2E697F28612F}" destId="{6F9FEB68-09BD-47D0-ABDB-C60546D50C9E}" srcOrd="0" destOrd="0" parTransId="{4DA3D818-0D8B-4E05-83FA-0995310C0B6C}" sibTransId="{095AC8D8-BEC7-4B3A-87A3-21A2573A9100}"/>
    <dgm:cxn modelId="{E94C2B73-0B51-4FDA-9681-654D6AE06FAB}" type="presParOf" srcId="{4631F6D9-3246-41A5-9A13-BD0B88DEAD39}" destId="{8B53CFE4-4A99-4D5C-8ECA-9246DB36664A}" srcOrd="0" destOrd="0" presId="urn:microsoft.com/office/officeart/2009/3/layout/StepUpProcess"/>
    <dgm:cxn modelId="{F3E91526-C435-43FF-9847-83A903CA8468}" type="presParOf" srcId="{8B53CFE4-4A99-4D5C-8ECA-9246DB36664A}" destId="{4EB40704-2192-4502-87F7-B2CD7DA83EA8}" srcOrd="0" destOrd="0" presId="urn:microsoft.com/office/officeart/2009/3/layout/StepUpProcess"/>
    <dgm:cxn modelId="{3AD94F7F-B930-4225-9974-84BE317F8403}" type="presParOf" srcId="{8B53CFE4-4A99-4D5C-8ECA-9246DB36664A}" destId="{B59F32B9-3C8C-4808-8F86-AB08BD9247EC}" srcOrd="1" destOrd="0" presId="urn:microsoft.com/office/officeart/2009/3/layout/StepUpProcess"/>
    <dgm:cxn modelId="{2E7AC537-D8B5-458C-AD8B-D934F4A92948}" type="presParOf" srcId="{8B53CFE4-4A99-4D5C-8ECA-9246DB36664A}" destId="{B051114F-CAA4-49FA-8B35-FA6FDC87D15D}" srcOrd="2" destOrd="0" presId="urn:microsoft.com/office/officeart/2009/3/layout/StepUpProcess"/>
    <dgm:cxn modelId="{DB7BBA0E-8993-4FC8-A97A-7E1AB4641D8D}" type="presParOf" srcId="{4631F6D9-3246-41A5-9A13-BD0B88DEAD39}" destId="{61EA6CFE-479D-4878-9585-C429DAA7127B}" srcOrd="1" destOrd="0" presId="urn:microsoft.com/office/officeart/2009/3/layout/StepUpProcess"/>
    <dgm:cxn modelId="{546307C7-50E6-4700-88FE-70F792AAC43E}" type="presParOf" srcId="{61EA6CFE-479D-4878-9585-C429DAA7127B}" destId="{104AC332-51A1-4E4A-9320-0AF4C67015C2}" srcOrd="0" destOrd="0" presId="urn:microsoft.com/office/officeart/2009/3/layout/StepUpProcess"/>
    <dgm:cxn modelId="{DEBD583B-4F70-4F47-BFB6-1F1E3E37B5E9}" type="presParOf" srcId="{4631F6D9-3246-41A5-9A13-BD0B88DEAD39}" destId="{11F1A6D9-BC9A-43BC-BAE2-5B4786A4464F}" srcOrd="2" destOrd="0" presId="urn:microsoft.com/office/officeart/2009/3/layout/StepUpProcess"/>
    <dgm:cxn modelId="{A65561A0-4472-4FB0-A5E1-65BE94BC7E68}" type="presParOf" srcId="{11F1A6D9-BC9A-43BC-BAE2-5B4786A4464F}" destId="{B8E1EE6F-D89E-45D4-9011-458FDA39BF58}" srcOrd="0" destOrd="0" presId="urn:microsoft.com/office/officeart/2009/3/layout/StepUpProcess"/>
    <dgm:cxn modelId="{AADC470A-5268-4470-880C-D53C83485131}" type="presParOf" srcId="{11F1A6D9-BC9A-43BC-BAE2-5B4786A4464F}" destId="{5BA2D51A-D104-4729-B7AD-0FA922C7568C}" srcOrd="1" destOrd="0" presId="urn:microsoft.com/office/officeart/2009/3/layout/StepUpProcess"/>
    <dgm:cxn modelId="{ED87E4F8-5E7C-4B1E-A064-93B63D03D1ED}" type="presParOf" srcId="{11F1A6D9-BC9A-43BC-BAE2-5B4786A4464F}" destId="{7886B498-071B-44C7-9799-B5F6ED573ABB}" srcOrd="2" destOrd="0" presId="urn:microsoft.com/office/officeart/2009/3/layout/StepUpProcess"/>
    <dgm:cxn modelId="{9D9ABFDC-F04E-4183-85F7-E152CBCC36C2}" type="presParOf" srcId="{4631F6D9-3246-41A5-9A13-BD0B88DEAD39}" destId="{8F6A3636-3321-418A-AFF0-948A762DAC10}" srcOrd="3" destOrd="0" presId="urn:microsoft.com/office/officeart/2009/3/layout/StepUpProcess"/>
    <dgm:cxn modelId="{4AE52196-4BB2-45B9-A2B4-1C84C86392A0}" type="presParOf" srcId="{8F6A3636-3321-418A-AFF0-948A762DAC10}" destId="{9E3DEF8F-CDFF-4401-941A-47F61DF1CED7}" srcOrd="0" destOrd="0" presId="urn:microsoft.com/office/officeart/2009/3/layout/StepUpProcess"/>
    <dgm:cxn modelId="{B1419B05-2284-4CE6-B3D4-5D8397CC24E8}" type="presParOf" srcId="{4631F6D9-3246-41A5-9A13-BD0B88DEAD39}" destId="{7ECE6009-1091-4567-B650-8BB6A00A3F69}" srcOrd="4" destOrd="0" presId="urn:microsoft.com/office/officeart/2009/3/layout/StepUpProcess"/>
    <dgm:cxn modelId="{0670BABD-968F-4710-AC42-91A6B2A5C079}" type="presParOf" srcId="{7ECE6009-1091-4567-B650-8BB6A00A3F69}" destId="{CE767F60-2BCC-47EF-B93C-6E4A3E33D6C4}" srcOrd="0" destOrd="0" presId="urn:microsoft.com/office/officeart/2009/3/layout/StepUpProcess"/>
    <dgm:cxn modelId="{FFA55E13-5590-4764-ACBD-0AF246209891}" type="presParOf" srcId="{7ECE6009-1091-4567-B650-8BB6A00A3F69}" destId="{38AA935B-A004-410B-BD1F-B47FC1028D78}" srcOrd="1" destOrd="0" presId="urn:microsoft.com/office/officeart/2009/3/layout/StepUpProcess"/>
    <dgm:cxn modelId="{36148B7D-C0C6-4DB0-AACF-0F5ACC8E5EDC}" type="presParOf" srcId="{7ECE6009-1091-4567-B650-8BB6A00A3F69}" destId="{B40013BB-93A1-40E8-84C1-6D411FD708FB}" srcOrd="2" destOrd="0" presId="urn:microsoft.com/office/officeart/2009/3/layout/StepUpProcess"/>
    <dgm:cxn modelId="{5401BF33-BE6C-4161-83E0-0FD0CF77AE64}" type="presParOf" srcId="{4631F6D9-3246-41A5-9A13-BD0B88DEAD39}" destId="{5F729520-8776-4EAA-8C88-B02749652F7A}" srcOrd="5" destOrd="0" presId="urn:microsoft.com/office/officeart/2009/3/layout/StepUpProcess"/>
    <dgm:cxn modelId="{9FFF1582-1F5A-4876-A58C-04ED8EF7321F}" type="presParOf" srcId="{5F729520-8776-4EAA-8C88-B02749652F7A}" destId="{135EF15C-E4CE-4F7D-AA87-A0BB38D7E7D9}" srcOrd="0" destOrd="0" presId="urn:microsoft.com/office/officeart/2009/3/layout/StepUpProcess"/>
    <dgm:cxn modelId="{24DEE8C3-A2C5-442D-8B93-1BBC1FE27C10}" type="presParOf" srcId="{4631F6D9-3246-41A5-9A13-BD0B88DEAD39}" destId="{DC919D2A-829C-4055-B2EE-9BA653EC377E}" srcOrd="6" destOrd="0" presId="urn:microsoft.com/office/officeart/2009/3/layout/StepUpProcess"/>
    <dgm:cxn modelId="{91973962-6D59-4CC5-B326-C698079D7E70}" type="presParOf" srcId="{DC919D2A-829C-4055-B2EE-9BA653EC377E}" destId="{AA515454-4BFD-474B-8B31-E8AD095C346A}" srcOrd="0" destOrd="0" presId="urn:microsoft.com/office/officeart/2009/3/layout/StepUpProcess"/>
    <dgm:cxn modelId="{867FF5AD-1535-4DA2-8020-0ACD9A5EAF77}" type="presParOf" srcId="{DC919D2A-829C-4055-B2EE-9BA653EC377E}" destId="{5DECAF32-DDD2-4BE1-9196-8103F68F7A9B}" srcOrd="1" destOrd="0" presId="urn:microsoft.com/office/officeart/2009/3/layout/StepUpProcess"/>
    <dgm:cxn modelId="{BFC7AA42-94C6-4C87-99FA-6572FF59FD6D}" type="presParOf" srcId="{DC919D2A-829C-4055-B2EE-9BA653EC377E}" destId="{DD3B9E89-1DC2-4493-BC58-2DADA22E3D4D}" srcOrd="2" destOrd="0" presId="urn:microsoft.com/office/officeart/2009/3/layout/StepUpProcess"/>
    <dgm:cxn modelId="{7D1CA94D-E8D9-4220-93B9-8E48063C8D95}" type="presParOf" srcId="{4631F6D9-3246-41A5-9A13-BD0B88DEAD39}" destId="{27161DD1-01B5-46AB-A758-066C2D902D06}" srcOrd="7" destOrd="0" presId="urn:microsoft.com/office/officeart/2009/3/layout/StepUpProcess"/>
    <dgm:cxn modelId="{E5FE7E2F-3463-4FC8-B2BC-690B00BDA9DD}" type="presParOf" srcId="{27161DD1-01B5-46AB-A758-066C2D902D06}" destId="{E89A3D4C-6B99-4616-BC77-E01D9C80A70E}" srcOrd="0" destOrd="0" presId="urn:microsoft.com/office/officeart/2009/3/layout/StepUpProcess"/>
    <dgm:cxn modelId="{44F02D2E-2C63-49CC-8646-F3A95DF48C16}" type="presParOf" srcId="{4631F6D9-3246-41A5-9A13-BD0B88DEAD39}" destId="{1F025ADC-5FED-4AEC-BA4A-4CFA1521C2D0}" srcOrd="8" destOrd="0" presId="urn:microsoft.com/office/officeart/2009/3/layout/StepUpProcess"/>
    <dgm:cxn modelId="{A23A6129-F4E4-4D29-A7CD-2C002BC72F45}" type="presParOf" srcId="{1F025ADC-5FED-4AEC-BA4A-4CFA1521C2D0}" destId="{05735ABA-3EC9-4712-9723-C48BA724FEF7}" srcOrd="0" destOrd="0" presId="urn:microsoft.com/office/officeart/2009/3/layout/StepUpProcess"/>
    <dgm:cxn modelId="{BEF5F244-A085-418F-858F-7598A9CAD0BD}" type="presParOf" srcId="{1F025ADC-5FED-4AEC-BA4A-4CFA1521C2D0}" destId="{7124B844-85B5-4BAF-B3DA-E18F2701FEED}" srcOrd="1" destOrd="0" presId="urn:microsoft.com/office/officeart/2009/3/layout/StepUp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B40704-2192-4502-87F7-B2CD7DA83EA8}">
      <dsp:nvSpPr>
        <dsp:cNvPr id="0" name=""/>
        <dsp:cNvSpPr/>
      </dsp:nvSpPr>
      <dsp:spPr>
        <a:xfrm rot="10800000">
          <a:off x="9669252" y="2368597"/>
          <a:ext cx="2098901" cy="1258853"/>
        </a:xfrm>
        <a:prstGeom prst="corner">
          <a:avLst>
            <a:gd name="adj1" fmla="val 16120"/>
            <a:gd name="adj2" fmla="val 1611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B59F32B9-3C8C-4808-8F86-AB08BD9247EC}">
      <dsp:nvSpPr>
        <dsp:cNvPr id="0" name=""/>
        <dsp:cNvSpPr/>
      </dsp:nvSpPr>
      <dsp:spPr>
        <a:xfrm>
          <a:off x="9665055" y="2576537"/>
          <a:ext cx="1893209" cy="1657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Deployment</a:t>
          </a:r>
          <a:endParaRPr lang="en-US" sz="24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100" kern="1200" dirty="0" smtClean="0"/>
            <a:t>Delivery</a:t>
          </a:r>
          <a:endParaRPr lang="en-US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100" kern="1200" dirty="0" smtClean="0"/>
            <a:t>Support</a:t>
          </a:r>
          <a:endParaRPr lang="en-US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100" kern="1200" dirty="0" smtClean="0"/>
            <a:t>Feedback</a:t>
          </a:r>
          <a:endParaRPr lang="en-US" sz="2100" kern="1200" dirty="0"/>
        </a:p>
      </dsp:txBody>
      <dsp:txXfrm>
        <a:off x="9665055" y="2576537"/>
        <a:ext cx="1893209" cy="1657669"/>
      </dsp:txXfrm>
    </dsp:sp>
    <dsp:sp modelId="{B051114F-CAA4-49FA-8B35-FA6FDC87D15D}">
      <dsp:nvSpPr>
        <dsp:cNvPr id="0" name=""/>
        <dsp:cNvSpPr/>
      </dsp:nvSpPr>
      <dsp:spPr>
        <a:xfrm rot="5400000">
          <a:off x="9665055" y="1796458"/>
          <a:ext cx="356813" cy="356813"/>
        </a:xfrm>
        <a:prstGeom prst="triangle">
          <a:avLst>
            <a:gd name="adj" fmla="val 100000"/>
          </a:avLst>
        </a:prstGeom>
        <a:gradFill rotWithShape="0">
          <a:gsLst>
            <a:gs pos="0">
              <a:schemeClr val="accent5">
                <a:hueOff val="-255932"/>
                <a:satOff val="-5166"/>
                <a:lumOff val="-39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255932"/>
                <a:satOff val="-5166"/>
                <a:lumOff val="-39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255932"/>
                <a:satOff val="-5166"/>
                <a:lumOff val="-39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-255932"/>
              <a:satOff val="-5166"/>
              <a:lumOff val="-392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B8E1EE6F-D89E-45D4-9011-458FDA39BF58}">
      <dsp:nvSpPr>
        <dsp:cNvPr id="0" name=""/>
        <dsp:cNvSpPr/>
      </dsp:nvSpPr>
      <dsp:spPr>
        <a:xfrm rot="10800000">
          <a:off x="7349966" y="1795726"/>
          <a:ext cx="2098901" cy="1258853"/>
        </a:xfrm>
        <a:prstGeom prst="corner">
          <a:avLst>
            <a:gd name="adj1" fmla="val 16120"/>
            <a:gd name="adj2" fmla="val 16110"/>
          </a:avLst>
        </a:prstGeom>
        <a:gradFill rotWithShape="0">
          <a:gsLst>
            <a:gs pos="0">
              <a:schemeClr val="accent5">
                <a:hueOff val="-511864"/>
                <a:satOff val="-10331"/>
                <a:lumOff val="-78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511864"/>
                <a:satOff val="-10331"/>
                <a:lumOff val="-78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511864"/>
                <a:satOff val="-10331"/>
                <a:lumOff val="-78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-511864"/>
              <a:satOff val="-10331"/>
              <a:lumOff val="-784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5BA2D51A-D104-4729-B7AD-0FA922C7568C}">
      <dsp:nvSpPr>
        <dsp:cNvPr id="0" name=""/>
        <dsp:cNvSpPr/>
      </dsp:nvSpPr>
      <dsp:spPr>
        <a:xfrm>
          <a:off x="7345768" y="2003666"/>
          <a:ext cx="1893209" cy="1657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Construction</a:t>
          </a:r>
          <a:endParaRPr lang="en-US" sz="24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100" kern="1200" dirty="0" smtClean="0"/>
            <a:t>Coding</a:t>
          </a:r>
          <a:endParaRPr lang="en-US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100" kern="1200" dirty="0" smtClean="0"/>
            <a:t>Testing</a:t>
          </a:r>
          <a:endParaRPr lang="en-US" sz="2100" kern="1200" dirty="0"/>
        </a:p>
      </dsp:txBody>
      <dsp:txXfrm>
        <a:off x="7345768" y="2003666"/>
        <a:ext cx="1893209" cy="1657669"/>
      </dsp:txXfrm>
    </dsp:sp>
    <dsp:sp modelId="{7886B498-071B-44C7-9799-B5F6ED573ABB}">
      <dsp:nvSpPr>
        <dsp:cNvPr id="0" name=""/>
        <dsp:cNvSpPr/>
      </dsp:nvSpPr>
      <dsp:spPr>
        <a:xfrm rot="5400000">
          <a:off x="7345768" y="1223587"/>
          <a:ext cx="356813" cy="356813"/>
        </a:xfrm>
        <a:prstGeom prst="triangle">
          <a:avLst>
            <a:gd name="adj" fmla="val 100000"/>
          </a:avLst>
        </a:prstGeom>
        <a:gradFill rotWithShape="0">
          <a:gsLst>
            <a:gs pos="0">
              <a:schemeClr val="accent5">
                <a:hueOff val="-767796"/>
                <a:satOff val="-15497"/>
                <a:lumOff val="-117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767796"/>
                <a:satOff val="-15497"/>
                <a:lumOff val="-117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767796"/>
                <a:satOff val="-15497"/>
                <a:lumOff val="-117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-767796"/>
              <a:satOff val="-15497"/>
              <a:lumOff val="-1176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CE767F60-2BCC-47EF-B93C-6E4A3E33D6C4}">
      <dsp:nvSpPr>
        <dsp:cNvPr id="0" name=""/>
        <dsp:cNvSpPr/>
      </dsp:nvSpPr>
      <dsp:spPr>
        <a:xfrm rot="10800000">
          <a:off x="5030679" y="1222855"/>
          <a:ext cx="2098901" cy="1258853"/>
        </a:xfrm>
        <a:prstGeom prst="corner">
          <a:avLst>
            <a:gd name="adj1" fmla="val 16120"/>
            <a:gd name="adj2" fmla="val 16110"/>
          </a:avLst>
        </a:prstGeom>
        <a:gradFill rotWithShape="0">
          <a:gsLst>
            <a:gs pos="0">
              <a:schemeClr val="accent5">
                <a:hueOff val="-1023728"/>
                <a:satOff val="-20662"/>
                <a:lumOff val="-156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023728"/>
                <a:satOff val="-20662"/>
                <a:lumOff val="-156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023728"/>
                <a:satOff val="-20662"/>
                <a:lumOff val="-156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-1023728"/>
              <a:satOff val="-20662"/>
              <a:lumOff val="-1568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38AA935B-A004-410B-BD1F-B47FC1028D78}">
      <dsp:nvSpPr>
        <dsp:cNvPr id="0" name=""/>
        <dsp:cNvSpPr/>
      </dsp:nvSpPr>
      <dsp:spPr>
        <a:xfrm>
          <a:off x="5026482" y="1430795"/>
          <a:ext cx="1893209" cy="1657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Modeling</a:t>
          </a:r>
          <a:endParaRPr lang="en-US" sz="24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100" kern="1200" dirty="0" smtClean="0"/>
            <a:t>Analysis</a:t>
          </a:r>
          <a:endParaRPr lang="en-US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100" kern="1200" dirty="0" smtClean="0"/>
            <a:t>Design</a:t>
          </a:r>
          <a:endParaRPr lang="en-US" sz="2100" kern="1200" dirty="0"/>
        </a:p>
      </dsp:txBody>
      <dsp:txXfrm>
        <a:off x="5026482" y="1430795"/>
        <a:ext cx="1893209" cy="1657669"/>
      </dsp:txXfrm>
    </dsp:sp>
    <dsp:sp modelId="{B40013BB-93A1-40E8-84C1-6D411FD708FB}">
      <dsp:nvSpPr>
        <dsp:cNvPr id="0" name=""/>
        <dsp:cNvSpPr/>
      </dsp:nvSpPr>
      <dsp:spPr>
        <a:xfrm rot="5400000">
          <a:off x="5026482" y="650716"/>
          <a:ext cx="356813" cy="356813"/>
        </a:xfrm>
        <a:prstGeom prst="triangle">
          <a:avLst>
            <a:gd name="adj" fmla="val 100000"/>
          </a:avLst>
        </a:prstGeom>
        <a:gradFill rotWithShape="0">
          <a:gsLst>
            <a:gs pos="0">
              <a:schemeClr val="accent5">
                <a:hueOff val="-1279660"/>
                <a:satOff val="-25828"/>
                <a:lumOff val="-196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79660"/>
                <a:satOff val="-25828"/>
                <a:lumOff val="-196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79660"/>
                <a:satOff val="-25828"/>
                <a:lumOff val="-196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-1279660"/>
              <a:satOff val="-25828"/>
              <a:lumOff val="-196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A515454-4BFD-474B-8B31-E8AD095C346A}">
      <dsp:nvSpPr>
        <dsp:cNvPr id="0" name=""/>
        <dsp:cNvSpPr/>
      </dsp:nvSpPr>
      <dsp:spPr>
        <a:xfrm rot="10800000">
          <a:off x="2711393" y="649984"/>
          <a:ext cx="2098901" cy="1258853"/>
        </a:xfrm>
        <a:prstGeom prst="corner">
          <a:avLst>
            <a:gd name="adj1" fmla="val 16120"/>
            <a:gd name="adj2" fmla="val 16110"/>
          </a:avLst>
        </a:prstGeom>
        <a:gradFill rotWithShape="0">
          <a:gsLst>
            <a:gs pos="0">
              <a:schemeClr val="accent5">
                <a:hueOff val="-1535592"/>
                <a:satOff val="-30993"/>
                <a:lumOff val="-235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535592"/>
                <a:satOff val="-30993"/>
                <a:lumOff val="-235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535592"/>
                <a:satOff val="-30993"/>
                <a:lumOff val="-235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-1535592"/>
              <a:satOff val="-30993"/>
              <a:lumOff val="-2352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5DECAF32-DDD2-4BE1-9196-8103F68F7A9B}">
      <dsp:nvSpPr>
        <dsp:cNvPr id="0" name=""/>
        <dsp:cNvSpPr/>
      </dsp:nvSpPr>
      <dsp:spPr>
        <a:xfrm>
          <a:off x="2768270" y="857924"/>
          <a:ext cx="1771059" cy="1657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Planning</a:t>
          </a:r>
          <a:endParaRPr lang="en-US" sz="24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100" kern="1200" dirty="0" smtClean="0"/>
            <a:t>Estimating</a:t>
          </a:r>
          <a:endParaRPr lang="en-US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100" kern="1200" dirty="0" smtClean="0"/>
            <a:t>Scheduling</a:t>
          </a:r>
          <a:endParaRPr lang="en-US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100" kern="1200" dirty="0" smtClean="0"/>
            <a:t>Tracking</a:t>
          </a:r>
          <a:endParaRPr lang="en-US" sz="2100" kern="1200" dirty="0"/>
        </a:p>
      </dsp:txBody>
      <dsp:txXfrm>
        <a:off x="2768270" y="857924"/>
        <a:ext cx="1771059" cy="1657669"/>
      </dsp:txXfrm>
    </dsp:sp>
    <dsp:sp modelId="{DD3B9E89-1DC2-4493-BC58-2DADA22E3D4D}">
      <dsp:nvSpPr>
        <dsp:cNvPr id="0" name=""/>
        <dsp:cNvSpPr/>
      </dsp:nvSpPr>
      <dsp:spPr>
        <a:xfrm rot="5400000">
          <a:off x="2707195" y="77845"/>
          <a:ext cx="356813" cy="356813"/>
        </a:xfrm>
        <a:prstGeom prst="triangle">
          <a:avLst>
            <a:gd name="adj" fmla="val 100000"/>
          </a:avLst>
        </a:prstGeom>
        <a:gradFill rotWithShape="0">
          <a:gsLst>
            <a:gs pos="0">
              <a:schemeClr val="accent5">
                <a:hueOff val="-1791524"/>
                <a:satOff val="-36159"/>
                <a:lumOff val="-274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791524"/>
                <a:satOff val="-36159"/>
                <a:lumOff val="-274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791524"/>
                <a:satOff val="-36159"/>
                <a:lumOff val="-274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-1791524"/>
              <a:satOff val="-36159"/>
              <a:lumOff val="-2744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05735ABA-3EC9-4712-9723-C48BA724FEF7}">
      <dsp:nvSpPr>
        <dsp:cNvPr id="0" name=""/>
        <dsp:cNvSpPr/>
      </dsp:nvSpPr>
      <dsp:spPr>
        <a:xfrm rot="10800000">
          <a:off x="114883" y="77113"/>
          <a:ext cx="2376124" cy="1258853"/>
        </a:xfrm>
        <a:prstGeom prst="corner">
          <a:avLst>
            <a:gd name="adj1" fmla="val 16120"/>
            <a:gd name="adj2" fmla="val 16110"/>
          </a:avLst>
        </a:prstGeom>
        <a:gradFill rotWithShape="0">
          <a:gsLst>
            <a:gs pos="0">
              <a:schemeClr val="accent5">
                <a:hueOff val="-2047456"/>
                <a:satOff val="-41324"/>
                <a:lumOff val="-313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2047456"/>
                <a:satOff val="-41324"/>
                <a:lumOff val="-313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2047456"/>
                <a:satOff val="-41324"/>
                <a:lumOff val="-313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-2047456"/>
              <a:satOff val="-41324"/>
              <a:lumOff val="-3136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7124B844-85B5-4BAF-B3DA-E18F2701FEED}">
      <dsp:nvSpPr>
        <dsp:cNvPr id="0" name=""/>
        <dsp:cNvSpPr/>
      </dsp:nvSpPr>
      <dsp:spPr>
        <a:xfrm>
          <a:off x="5698" y="285053"/>
          <a:ext cx="2380407" cy="1657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Communication</a:t>
          </a:r>
          <a:endParaRPr lang="en-US" sz="24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100" kern="1200" dirty="0" smtClean="0"/>
            <a:t>Project initiation</a:t>
          </a:r>
          <a:endParaRPr lang="en-US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100" kern="1200" dirty="0" smtClean="0"/>
            <a:t>Requirements gathering</a:t>
          </a:r>
          <a:endParaRPr lang="en-US" sz="2100" kern="1200" dirty="0"/>
        </a:p>
      </dsp:txBody>
      <dsp:txXfrm>
        <a:off x="5698" y="285053"/>
        <a:ext cx="2380407" cy="165766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StepUpProcess">
  <dgm:title val=""/>
  <dgm:desc val=""/>
  <dgm:catLst>
    <dgm:cat type="process" pri="13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b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b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onstrLst>
      <dgm:constr type="alignOff" forName="rootnode" val="1"/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-0.765"/>
      <dgm:constr type="w" for="ch" forName="sibTrans" refType="w" fact="0.103"/>
      <dgm:constr type="h" for="ch" forName="sibTrans" refType="h" fact="0.103"/>
    </dgm:constrLst>
    <dgm:forEach name="nodesForEach" axis="ch" ptType="node">
      <dgm:layoutNode name="composite">
        <dgm:alg type="composite">
          <dgm:param type="ar" val="0.861"/>
        </dgm:alg>
        <dgm:shape xmlns:r="http://schemas.openxmlformats.org/officeDocument/2006/relationships" r:blip="">
          <dgm:adjLst/>
        </dgm:shape>
        <dgm:choose name="Name3">
          <dgm:if name="Name4" func="var" arg="dir" op="equ" val="norm">
            <dgm:constrLst>
              <dgm:constr type="l" for="ch" forName="LShape" refType="w" fact="0"/>
              <dgm:constr type="t" for="ch" forName="LShape" refType="h" fact="0.2347"/>
              <dgm:constr type="w" for="ch" forName="LShape" refType="w" fact="0.998"/>
              <dgm:constr type="h" for="ch" forName="LShape" refType="h" fact="0.5164"/>
              <dgm:constr type="r" for="ch" forName="ParentText" refType="w"/>
              <dgm:constr type="t" for="ch" forName="ParentText" refType="h" fact="0.32"/>
              <dgm:constr type="w" for="ch" forName="ParentText" refType="w" fact="0.901"/>
              <dgm:constr type="h" for="ch" forName="ParentText" refType="h" fact="0.68"/>
              <dgm:constr type="l" for="ch" forName="Triangle" refType="w" fact="0.83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if>
          <dgm:else name="Name5">
            <dgm:constrLst>
              <dgm:constr type="l" for="ch" forName="LShape" refType="w" fact="0.002"/>
              <dgm:constr type="t" for="ch" forName="LShape" refType="h" fact="0.2347"/>
              <dgm:constr type="w" for="ch" forName="LShape" refType="w"/>
              <dgm:constr type="h" for="ch" forName="LShape" refType="h" fact="0.5164"/>
              <dgm:constr type="l" for="ch" forName="ParentText" refType="w" fact="0"/>
              <dgm:constr type="t" for="ch" forName="ParentText" refType="h" fact="0.32"/>
              <dgm:constr type="w" for="ch" forName="ParentText" refType="w" fact="0.902"/>
              <dgm:constr type="h" for="ch" forName="ParentText" refType="h" fact="0.68"/>
              <dgm:constr type="l" for="ch" forName="Triangle" refType="w" fact="0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else>
        </dgm:choose>
        <dgm:layoutNode name="LShape" styleLbl="alignNode1">
          <dgm:alg type="sp"/>
          <dgm:choose name="Name6">
            <dgm:if name="Name7" func="var" arg="dir" op="equ" val="norm">
              <dgm:shape xmlns:r="http://schemas.openxmlformats.org/officeDocument/2006/relationships" rot="90" type="corner" r:blip="">
                <dgm:adjLst>
                  <dgm:adj idx="1" val="0.1612"/>
                  <dgm:adj idx="2" val="0.1611"/>
                </dgm:adjLst>
              </dgm:shape>
            </dgm:if>
            <dgm:else name="Name8">
              <dgm:shape xmlns:r="http://schemas.openxmlformats.org/officeDocument/2006/relationships" rot="180" type="corner" r:blip="">
                <dgm:adjLst>
                  <dgm:adj idx="1" val="0.1612"/>
                  <dgm:adj idx="2" val="0.1611"/>
                </dgm:adjLst>
              </dgm:shape>
            </dgm:else>
          </dgm:choose>
          <dgm:presOf/>
        </dgm:layoutNode>
        <dgm:layoutNode name="ParentText" styleLbl="revTx">
          <dgm:varLst>
            <dgm:chMax val="0"/>
            <dgm:chPref val="0"/>
            <dgm:bulletEnabled val="1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9">
          <dgm:if name="Name10" axis="followSib" ptType="node" func="cnt" op="gte" val="1">
            <dgm:layoutNode name="Triangle" styleLbl="alignNode1">
              <dgm:alg type="sp"/>
              <dgm:choose name="Name11">
                <dgm:if name="Name12" func="var" arg="dir" op="equ" val="norm">
                  <dgm:shape xmlns:r="http://schemas.openxmlformats.org/officeDocument/2006/relationships" type="triangle" r:blip="">
                    <dgm:adjLst>
                      <dgm:adj idx="1" val="1"/>
                    </dgm:adjLst>
                  </dgm:shape>
                </dgm:if>
                <dgm:else name="Name13">
                  <dgm:shape xmlns:r="http://schemas.openxmlformats.org/officeDocument/2006/relationships" rot="90" type="triangle" r:blip="">
                    <dgm:adjLst>
                      <dgm:adj idx="1" val="1"/>
                    </dgm:adjLst>
                  </dgm:shape>
                </dgm:else>
              </dgm:choose>
              <dgm:presOf/>
            </dgm:layoutNode>
          </dgm:if>
          <dgm:else name="Name14"/>
        </dgm:choose>
      </dgm:layoutNode>
      <dgm:forEach name="sibTransForEach" axis="followSib" ptType="sibTrans" cnt="1">
        <dgm:layoutNode name="sibTrans">
          <dgm:alg type="composite">
            <dgm:param type="ar" val="0.861"/>
          </dgm:alg>
          <dgm:constrLst>
            <dgm:constr type="w" for="ch" forName="space" refType="w"/>
            <dgm:constr type="h" for="ch" forName="space" refType="w"/>
          </dgm:constrLst>
          <dgm:layoutNode name="space" styleLbl="alignNode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t>8/20/2023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microsoft.com/office/2007/relationships/hdphoto" Target="../media/hdphoto2.wdp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0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0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0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0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0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0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0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0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0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10" Type="http://schemas.openxmlformats.org/officeDocument/2006/relationships/image" Target="../media/image10.jpeg"/><Relationship Id="rId4" Type="http://schemas.openxmlformats.org/officeDocument/2006/relationships/image" Target="../media/image7.png"/><Relationship Id="rId9" Type="http://schemas.openxmlformats.org/officeDocument/2006/relationships/image" Target="../media/image12.jpeg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0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</p:spTree>
    <p:extLst>
      <p:ext uri="{BB962C8B-B14F-4D97-AF65-F5344CB8AC3E}">
        <p14:creationId xmlns:p14="http://schemas.microsoft.com/office/powerpoint/2010/main" val="357059326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801190"/>
            <a:ext cx="11921482" cy="5652820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663331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337" y="837356"/>
            <a:ext cx="11922034" cy="5659238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276124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9497" y="863445"/>
            <a:ext cx="10641324" cy="5025822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8628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10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6929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Pradyumansinh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U.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Jadeja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3904343" y="6604000"/>
            <a:ext cx="4833257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#3150711 (SE)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Unit 1 – Introduction to Software &amp; Software Engineering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FE191CF5-3D57-422B-B2EB-FF235E30DB22}"/>
              </a:ext>
            </a:extLst>
          </p:cNvPr>
          <p:cNvGrpSpPr/>
          <p:nvPr userDrawn="1"/>
        </p:nvGrpSpPr>
        <p:grpSpPr>
          <a:xfrm>
            <a:off x="9576895" y="99192"/>
            <a:ext cx="2554143" cy="587454"/>
            <a:chOff x="131177" y="5775962"/>
            <a:chExt cx="2530239" cy="581956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9B183D5-5DE8-48E7-85E7-60CE9D0FD2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2445F4B-50F2-4CA0-A5C5-6D690A29F3F2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719725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Pradyumansinh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U.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Jadeja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3846286" y="6604000"/>
            <a:ext cx="4764312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#3150711 (SE)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Unit 1 – Introduction to Software &amp; Software Engineering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913602D2-CAF0-4790-95E8-87990761ED0C}"/>
              </a:ext>
            </a:extLst>
          </p:cNvPr>
          <p:cNvGrpSpPr/>
          <p:nvPr userDrawn="1"/>
        </p:nvGrpSpPr>
        <p:grpSpPr>
          <a:xfrm>
            <a:off x="9576895" y="5890392"/>
            <a:ext cx="2554143" cy="587454"/>
            <a:chOff x="131177" y="5775962"/>
            <a:chExt cx="2530239" cy="581956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378A2C8-EF9C-479C-ACF0-D9819B46DF5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1DE4F58-7D48-453D-89E1-B25767150977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062478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Pradyumansinh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U.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Jadeja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3788229" y="6603999"/>
            <a:ext cx="4822369" cy="2989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#3150711 (SE)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Unit 1 – Introduction to Software &amp; Software Engineering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15C60ED7-12D4-496E-AF73-0995BE8C12FD}"/>
              </a:ext>
            </a:extLst>
          </p:cNvPr>
          <p:cNvGrpSpPr/>
          <p:nvPr userDrawn="1"/>
        </p:nvGrpSpPr>
        <p:grpSpPr>
          <a:xfrm>
            <a:off x="128095" y="5890392"/>
            <a:ext cx="2554143" cy="587454"/>
            <a:chOff x="131177" y="5775962"/>
            <a:chExt cx="2530239" cy="581956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30CB04CE-0025-4B1F-B962-A759D179D8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3F480CB-A4AF-424E-90DB-5B677403441A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4331452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31161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1201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4">
                        <a:lumMod val="50000"/>
                      </a:schemeClr>
                    </a:gs>
                    <a:gs pos="100000">
                      <a:srgbClr val="009788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 descr="User icon Royalty Free Vector Image - VectorStock">
            <a:extLst>
              <a:ext uri="{FF2B5EF4-FFF2-40B4-BE49-F238E27FC236}">
                <a16:creationId xmlns:a16="http://schemas.microsoft.com/office/drawing/2014/main" id="{4A8E0F54-DC01-449D-B951-DC7CBAFD95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5D60AFC-04BC-4FCA-A89D-6FCD04B6DC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8808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2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0" name="Picture 29" descr="User icon Royalty Free Vector Image - VectorStock">
            <a:extLst>
              <a:ext uri="{FF2B5EF4-FFF2-40B4-BE49-F238E27FC236}">
                <a16:creationId xmlns:a16="http://schemas.microsoft.com/office/drawing/2014/main" id="{5F55812D-505A-4B1A-9EB5-16DCD08F2B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0974588E-8956-4BF5-BF58-B7E42070A5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5704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6570A8-081D-45CE-A0DD-F78F5EDB0F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0B000B32-CB56-440D-9FAE-7DE703A93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0339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8597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6259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B45C91-0DA6-4973-9AEA-FF1388508A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70CF6D9-DDB4-41AA-BB82-F8ED04AD8B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88163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7E386D9D-B92A-4F40-9089-A1FD00CD38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A295F85-D43D-42E5-9539-A471116A43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52624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ep Pu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01B92"/>
                    </a:gs>
                    <a:gs pos="100000">
                      <a:srgbClr val="673BB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BE300026-40E8-4FB1-998A-9CEB5F7A1B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B3B5E9B-B4F0-4E85-954A-F7CC04BBF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2809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80755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3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3" y="1643168"/>
            <a:ext cx="3061397" cy="324650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</p:spTree>
    <p:extLst>
      <p:ext uri="{BB962C8B-B14F-4D97-AF65-F5344CB8AC3E}">
        <p14:creationId xmlns:p14="http://schemas.microsoft.com/office/powerpoint/2010/main" val="37651319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sp>
        <p:nvSpPr>
          <p:cNvPr id="41" name="Hexagon 40"/>
          <p:cNvSpPr/>
          <p:nvPr userDrawn="1"/>
        </p:nvSpPr>
        <p:spPr>
          <a:xfrm rot="5400000">
            <a:off x="4309292" y="1717040"/>
            <a:ext cx="3461658" cy="2984188"/>
          </a:xfrm>
          <a:prstGeom prst="hexagon">
            <a:avLst/>
          </a:prstGeom>
          <a:solidFill>
            <a:schemeClr val="bg1">
              <a:lumMod val="95000"/>
            </a:schemeClr>
          </a:solidFill>
          <a:ln w="57150">
            <a:solidFill>
              <a:schemeClr val="accent6"/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TextBox 41"/>
          <p:cNvSpPr txBox="1"/>
          <p:nvPr userDrawn="1"/>
        </p:nvSpPr>
        <p:spPr>
          <a:xfrm>
            <a:off x="5014038" y="2239638"/>
            <a:ext cx="205216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i="1" dirty="0" smtClean="0"/>
              <a:t>Thank</a:t>
            </a:r>
          </a:p>
          <a:p>
            <a:pPr algn="ctr"/>
            <a:r>
              <a:rPr lang="en-US" sz="6000" b="1" i="1" dirty="0" smtClean="0"/>
              <a:t>You</a:t>
            </a:r>
            <a:endParaRPr lang="en-US" sz="6000" b="1" i="1" dirty="0"/>
          </a:p>
        </p:txBody>
      </p:sp>
      <p:sp>
        <p:nvSpPr>
          <p:cNvPr id="43" name="Rectangle 42"/>
          <p:cNvSpPr/>
          <p:nvPr userDrawn="1"/>
        </p:nvSpPr>
        <p:spPr>
          <a:xfrm>
            <a:off x="7678346" y="2221532"/>
            <a:ext cx="4513654" cy="195169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 userDrawn="1"/>
        </p:nvSpPr>
        <p:spPr>
          <a:xfrm>
            <a:off x="0" y="2221532"/>
            <a:ext cx="4402106" cy="195169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47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Picture 48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7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59" name="Picture 58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6869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2F1AAAC-C051-4A31-837B-4A9977722A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DF34BDA-AFB4-4120-81EF-C0AB56D38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50250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t>8/20/2023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954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0" r:id="rId2"/>
    <p:sldLayoutId id="2147483687" r:id="rId3"/>
    <p:sldLayoutId id="2147483688" r:id="rId4"/>
    <p:sldLayoutId id="2147483671" r:id="rId5"/>
    <p:sldLayoutId id="2147483672" r:id="rId6"/>
    <p:sldLayoutId id="2147483689" r:id="rId7"/>
    <p:sldLayoutId id="2147483690" r:id="rId8"/>
    <p:sldLayoutId id="2147483673" r:id="rId9"/>
    <p:sldLayoutId id="2147483691" r:id="rId10"/>
    <p:sldLayoutId id="2147483674" r:id="rId11"/>
    <p:sldLayoutId id="2147483676" r:id="rId12"/>
    <p:sldLayoutId id="2147483677" r:id="rId13"/>
    <p:sldLayoutId id="2147483678" r:id="rId14"/>
    <p:sldLayoutId id="2147483679" r:id="rId15"/>
    <p:sldLayoutId id="2147483681" r:id="rId16"/>
    <p:sldLayoutId id="2147483683" r:id="rId17"/>
    <p:sldLayoutId id="2147483682" r:id="rId18"/>
    <p:sldLayoutId id="2147483684" r:id="rId19"/>
    <p:sldLayoutId id="2147483685" r:id="rId20"/>
    <p:sldLayoutId id="2147483692" r:id="rId21"/>
    <p:sldLayoutId id="2147483686" r:id="rId22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g"/><Relationship Id="rId5" Type="http://schemas.openxmlformats.org/officeDocument/2006/relationships/image" Target="../media/image16.jpg"/><Relationship Id="rId4" Type="http://schemas.openxmlformats.org/officeDocument/2006/relationships/image" Target="../media/image15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jpg"/><Relationship Id="rId5" Type="http://schemas.openxmlformats.org/officeDocument/2006/relationships/image" Target="../media/image21.jpg"/><Relationship Id="rId4" Type="http://schemas.openxmlformats.org/officeDocument/2006/relationships/image" Target="../media/image20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7" Type="http://schemas.openxmlformats.org/officeDocument/2006/relationships/image" Target="../media/image30.pn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9.png"/><Relationship Id="rId5" Type="http://schemas.openxmlformats.org/officeDocument/2006/relationships/image" Target="../media/image28.jpg"/><Relationship Id="rId4" Type="http://schemas.openxmlformats.org/officeDocument/2006/relationships/image" Target="../media/image27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3.gi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48.jpe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12" Type="http://schemas.openxmlformats.org/officeDocument/2006/relationships/image" Target="../media/image47.jpe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1.jpeg"/><Relationship Id="rId11" Type="http://schemas.openxmlformats.org/officeDocument/2006/relationships/image" Target="../media/image46.jpeg"/><Relationship Id="rId5" Type="http://schemas.openxmlformats.org/officeDocument/2006/relationships/image" Target="../media/image40.png"/><Relationship Id="rId10" Type="http://schemas.openxmlformats.org/officeDocument/2006/relationships/image" Target="../media/image45.jpeg"/><Relationship Id="rId4" Type="http://schemas.openxmlformats.org/officeDocument/2006/relationships/image" Target="../media/image39.png"/><Relationship Id="rId9" Type="http://schemas.openxmlformats.org/officeDocument/2006/relationships/image" Target="../media/image44.png"/><Relationship Id="rId14" Type="http://schemas.openxmlformats.org/officeDocument/2006/relationships/image" Target="../media/image4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5.jp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jpg"/><Relationship Id="rId2" Type="http://schemas.openxmlformats.org/officeDocument/2006/relationships/image" Target="../media/image65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8.jpg"/><Relationship Id="rId4" Type="http://schemas.openxmlformats.org/officeDocument/2006/relationships/image" Target="../media/image67.jp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5919B75D-4B6D-4192-B4EB-B4E8000BD9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Software Engineering </a:t>
            </a:r>
            <a:r>
              <a:rPr lang="en-US" dirty="0" smtClean="0"/>
              <a:t>(639403)</a:t>
            </a:r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E0A5353-D4D5-43D7-A039-6CFC6871D64F}"/>
              </a:ext>
            </a:extLst>
          </p:cNvPr>
          <p:cNvSpPr txBox="1">
            <a:spLocks/>
          </p:cNvSpPr>
          <p:nvPr/>
        </p:nvSpPr>
        <p:spPr>
          <a:xfrm>
            <a:off x="711890" y="1046156"/>
            <a:ext cx="7860610" cy="257878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sz="4800" b="0" dirty="0" smtClean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Unit-1</a:t>
            </a:r>
            <a:r>
              <a:rPr lang="en-US" dirty="0" smtClean="0"/>
              <a:t> </a:t>
            </a:r>
            <a:r>
              <a:rPr lang="en-US" dirty="0"/>
              <a:t/>
            </a:r>
            <a:br>
              <a:rPr lang="en-US" dirty="0"/>
            </a:br>
            <a:r>
              <a:rPr lang="en-US" sz="4400" b="0" dirty="0"/>
              <a:t>Introduction </a:t>
            </a:r>
            <a:r>
              <a:rPr lang="en-US" sz="4400" b="0" dirty="0" smtClean="0"/>
              <a:t>to</a:t>
            </a:r>
            <a:endParaRPr lang="en-US" sz="6000" b="0" dirty="0" smtClean="0"/>
          </a:p>
          <a:p>
            <a:r>
              <a:rPr lang="en-US" sz="5400" dirty="0" smtClean="0"/>
              <a:t>Software Engineering &amp; Process Model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3788728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9EBF344-4A7B-4C4A-AF6D-6441BD040AB3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191446" y="0"/>
            <a:ext cx="0" cy="6829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A925EF2-D58F-4AC0-ACED-F747CC08D69F}"/>
              </a:ext>
            </a:extLst>
          </p:cNvPr>
          <p:cNvCxnSpPr>
            <a:cxnSpLocks/>
          </p:cNvCxnSpPr>
          <p:nvPr/>
        </p:nvCxnSpPr>
        <p:spPr>
          <a:xfrm>
            <a:off x="1191446" y="6092331"/>
            <a:ext cx="0" cy="179438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4BD1E24D-7739-4C4F-8234-2614FB54ADBC}"/>
              </a:ext>
            </a:extLst>
          </p:cNvPr>
          <p:cNvSpPr/>
          <p:nvPr/>
        </p:nvSpPr>
        <p:spPr>
          <a:xfrm>
            <a:off x="954165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F422F9-3B3A-4A97-ADB3-F83B13E11C16}"/>
              </a:ext>
            </a:extLst>
          </p:cNvPr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4260FD-CAA3-43A0-977C-7E4B57013872}"/>
              </a:ext>
            </a:extLst>
          </p:cNvPr>
          <p:cNvCxnSpPr>
            <a:cxnSpLocks/>
          </p:cNvCxnSpPr>
          <p:nvPr/>
        </p:nvCxnSpPr>
        <p:spPr>
          <a:xfrm>
            <a:off x="1191446" y="1157468"/>
            <a:ext cx="0" cy="246540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DA2F9A4-6988-4274-8384-12496EC9D59D}"/>
              </a:ext>
            </a:extLst>
          </p:cNvPr>
          <p:cNvSpPr txBox="1"/>
          <p:nvPr/>
        </p:nvSpPr>
        <p:spPr>
          <a:xfrm>
            <a:off x="1458962" y="731706"/>
            <a:ext cx="971855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Outline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Software, Characteristics of Software, Software Application Domains</a:t>
            </a:r>
            <a:endParaRPr lang="en-US" sz="2400" dirty="0" smtClean="0">
              <a:solidFill>
                <a:schemeClr val="bg1">
                  <a:lumMod val="50000"/>
                </a:schemeClr>
              </a:solidFill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Software Engineering, Software Engineering Layered </a:t>
            </a:r>
            <a:r>
              <a:rPr lang="en-US" sz="2400" dirty="0" smtClean="0">
                <a:solidFill>
                  <a:schemeClr val="bg1">
                    <a:lumMod val="50000"/>
                  </a:schemeClr>
                </a:solidFill>
              </a:rPr>
              <a:t>Approach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Software Process, Process Framework Activities , Umbrella Activities </a:t>
            </a:r>
            <a:endParaRPr lang="en-US" sz="2400" dirty="0" smtClean="0">
              <a:solidFill>
                <a:schemeClr val="bg1">
                  <a:lumMod val="50000"/>
                </a:schemeClr>
              </a:solidFill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Software Myths </a:t>
            </a:r>
            <a:endParaRPr lang="en-US" sz="2400" dirty="0" smtClean="0">
              <a:solidFill>
                <a:schemeClr val="bg1">
                  <a:lumMod val="50000"/>
                </a:schemeClr>
              </a:solidFill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1">
                    <a:lumMod val="50000"/>
                  </a:schemeClr>
                </a:solidFill>
              </a:rPr>
              <a:t>Management Myth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1">
                    <a:lumMod val="50000"/>
                  </a:schemeClr>
                </a:solidFill>
              </a:rPr>
              <a:t>Customer Myth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1">
                    <a:lumMod val="50000"/>
                  </a:schemeClr>
                </a:solidFill>
              </a:rPr>
              <a:t>Practitioner's/Developer 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Myth</a:t>
            </a:r>
            <a:r>
              <a:rPr lang="en-US" sz="2400" dirty="0" smtClean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Software Process </a:t>
            </a:r>
            <a:r>
              <a:rPr lang="en-US" sz="2400" dirty="0" smtClean="0">
                <a:solidFill>
                  <a:schemeClr val="bg1">
                    <a:lumMod val="50000"/>
                  </a:schemeClr>
                </a:solidFill>
              </a:rPr>
              <a:t>Models</a:t>
            </a:r>
            <a:endParaRPr lang="en-US" sz="2400" dirty="0">
              <a:solidFill>
                <a:schemeClr val="bg1">
                  <a:lumMod val="50000"/>
                </a:schemeClr>
              </a:solidFill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1">
                    <a:lumMod val="50000"/>
                  </a:schemeClr>
                </a:solidFill>
              </a:rPr>
              <a:t>The Waterfall Model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1">
                    <a:lumMod val="50000"/>
                  </a:schemeClr>
                </a:solidFill>
              </a:rPr>
              <a:t>Incremental 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Process </a:t>
            </a:r>
            <a:r>
              <a:rPr lang="en-US" sz="2400" dirty="0" smtClean="0">
                <a:solidFill>
                  <a:schemeClr val="bg1">
                    <a:lumMod val="50000"/>
                  </a:schemeClr>
                </a:solidFill>
              </a:rPr>
              <a:t>Model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1">
                    <a:lumMod val="50000"/>
                  </a:schemeClr>
                </a:solidFill>
              </a:rPr>
              <a:t>Prototyping 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Model, Spiral </a:t>
            </a:r>
            <a:r>
              <a:rPr lang="en-US" sz="2400" dirty="0" smtClean="0">
                <a:solidFill>
                  <a:schemeClr val="bg1">
                    <a:lumMod val="50000"/>
                  </a:schemeClr>
                </a:solidFill>
              </a:rPr>
              <a:t>Model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1">
                    <a:lumMod val="50000"/>
                  </a:schemeClr>
                </a:solidFill>
              </a:rPr>
              <a:t>Spiral Model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1">
                    <a:lumMod val="50000"/>
                  </a:schemeClr>
                </a:solidFill>
              </a:rPr>
              <a:t>Rapid 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Application Development Model (</a:t>
            </a:r>
            <a:r>
              <a:rPr lang="en-US" sz="2400" dirty="0" smtClean="0">
                <a:solidFill>
                  <a:schemeClr val="bg1">
                    <a:lumMod val="50000"/>
                  </a:schemeClr>
                </a:solidFill>
              </a:rPr>
              <a:t>RAD)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 smtClean="0">
                <a:solidFill>
                  <a:schemeClr val="bg1">
                    <a:lumMod val="50000"/>
                  </a:schemeClr>
                </a:solidFill>
              </a:rPr>
              <a:t>Component based Development</a:t>
            </a:r>
            <a:endParaRPr lang="en-US" sz="24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76840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F1099-DF0A-4AA3-BCF9-BD4BF7027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to Study Software Engineering?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944"/>
          <a:stretch/>
        </p:blipFill>
        <p:spPr>
          <a:xfrm>
            <a:off x="546100" y="1828800"/>
            <a:ext cx="166370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3400" y="5001161"/>
            <a:ext cx="1625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/>
              <a:t>How the Customer</a:t>
            </a:r>
          </a:p>
          <a:p>
            <a:pPr algn="ctr"/>
            <a:r>
              <a:rPr lang="en-US" sz="2000" b="1" dirty="0" smtClean="0"/>
              <a:t>Explains Requirement</a:t>
            </a:r>
            <a:endParaRPr lang="en-US" sz="20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110283" y="955357"/>
            <a:ext cx="92544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latin typeface="+mj-lt"/>
              </a:rPr>
              <a:t>Software Development Life Cycle </a:t>
            </a:r>
            <a:r>
              <a:rPr lang="en-US" sz="2800" b="1" dirty="0" smtClean="0">
                <a:solidFill>
                  <a:srgbClr val="C00000"/>
                </a:solidFill>
                <a:latin typeface="+mj-lt"/>
              </a:rPr>
              <a:t>without</a:t>
            </a:r>
            <a:r>
              <a:rPr lang="en-US" sz="2800" b="1" dirty="0" smtClean="0">
                <a:latin typeface="+mj-lt"/>
              </a:rPr>
              <a:t> Software Engineering</a:t>
            </a:r>
            <a:endParaRPr lang="en-US" sz="2800" b="1" dirty="0">
              <a:latin typeface="+mj-lt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219528" y="1524000"/>
            <a:ext cx="911315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957281" y="4924961"/>
            <a:ext cx="16001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/>
              <a:t>How the Project Leader</a:t>
            </a:r>
          </a:p>
          <a:p>
            <a:pPr algn="ctr"/>
            <a:r>
              <a:rPr lang="en-US" sz="2000" b="1" dirty="0" smtClean="0"/>
              <a:t>understand it</a:t>
            </a:r>
            <a:endParaRPr lang="en-US" sz="2000" b="1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144"/>
          <a:stretch/>
        </p:blipFill>
        <p:spPr>
          <a:xfrm>
            <a:off x="2881080" y="1835150"/>
            <a:ext cx="1676400" cy="273685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286"/>
          <a:stretch/>
        </p:blipFill>
        <p:spPr>
          <a:xfrm>
            <a:off x="5199742" y="1828800"/>
            <a:ext cx="1676400" cy="2743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275942" y="4924961"/>
            <a:ext cx="152399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100" b="1" dirty="0" smtClean="0"/>
              <a:t>How the System Analyst</a:t>
            </a:r>
          </a:p>
          <a:p>
            <a:pPr algn="ctr"/>
            <a:r>
              <a:rPr lang="en-US" sz="2100" b="1" dirty="0" smtClean="0"/>
              <a:t>design it</a:t>
            </a:r>
            <a:endParaRPr lang="en-US" sz="2100" b="1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286"/>
          <a:stretch/>
        </p:blipFill>
        <p:spPr>
          <a:xfrm>
            <a:off x="7565574" y="1828800"/>
            <a:ext cx="1676400" cy="27432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667175" y="4924961"/>
            <a:ext cx="157479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100" b="1" dirty="0" smtClean="0"/>
              <a:t>How the Programmer Works</a:t>
            </a:r>
          </a:p>
          <a:p>
            <a:pPr algn="ctr"/>
            <a:r>
              <a:rPr lang="en-US" sz="2100" b="1" dirty="0" smtClean="0"/>
              <a:t>on it</a:t>
            </a:r>
            <a:endParaRPr lang="en-US" sz="2100" b="1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529112" y="1600200"/>
            <a:ext cx="0" cy="4648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4874984" y="1600200"/>
            <a:ext cx="0" cy="4648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7220862" y="1600200"/>
            <a:ext cx="0" cy="4648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Group 17"/>
          <p:cNvGrpSpPr/>
          <p:nvPr/>
        </p:nvGrpSpPr>
        <p:grpSpPr>
          <a:xfrm>
            <a:off x="1066800" y="4365246"/>
            <a:ext cx="587753" cy="587753"/>
            <a:chOff x="914400" y="4365246"/>
            <a:chExt cx="587753" cy="587753"/>
          </a:xfrm>
        </p:grpSpPr>
        <p:sp>
          <p:nvSpPr>
            <p:cNvPr id="19" name="Oval 18"/>
            <p:cNvSpPr/>
            <p:nvPr/>
          </p:nvSpPr>
          <p:spPr>
            <a:xfrm>
              <a:off x="914400" y="4365246"/>
              <a:ext cx="587753" cy="58775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200" b="1" dirty="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028700" y="4419600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b="1" dirty="0" smtClean="0"/>
                <a:t>1</a:t>
              </a:r>
              <a:endParaRPr lang="en-US" sz="2400" b="1" dirty="0"/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3490680" y="4343400"/>
            <a:ext cx="587753" cy="587753"/>
            <a:chOff x="914400" y="4365246"/>
            <a:chExt cx="587753" cy="587753"/>
          </a:xfrm>
        </p:grpSpPr>
        <p:sp>
          <p:nvSpPr>
            <p:cNvPr id="22" name="Oval 21"/>
            <p:cNvSpPr/>
            <p:nvPr/>
          </p:nvSpPr>
          <p:spPr>
            <a:xfrm>
              <a:off x="914400" y="4365246"/>
              <a:ext cx="587753" cy="58775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200" b="1" dirty="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034527" y="4419600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 smtClean="0"/>
                <a:t>2</a:t>
              </a:r>
              <a:endParaRPr lang="en-US" sz="2400" b="1" dirty="0"/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5754989" y="4343400"/>
            <a:ext cx="587753" cy="587753"/>
            <a:chOff x="914400" y="4365246"/>
            <a:chExt cx="587753" cy="587753"/>
          </a:xfrm>
        </p:grpSpPr>
        <p:sp>
          <p:nvSpPr>
            <p:cNvPr id="25" name="Oval 24"/>
            <p:cNvSpPr/>
            <p:nvPr/>
          </p:nvSpPr>
          <p:spPr>
            <a:xfrm>
              <a:off x="914400" y="4365246"/>
              <a:ext cx="587753" cy="58775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200" b="1" dirty="0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034527" y="4419600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 smtClean="0"/>
                <a:t>3</a:t>
              </a:r>
              <a:endParaRPr lang="en-US" sz="2400" b="1" dirty="0"/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8124375" y="4365247"/>
            <a:ext cx="587753" cy="587753"/>
            <a:chOff x="914400" y="4365246"/>
            <a:chExt cx="587753" cy="587753"/>
          </a:xfrm>
        </p:grpSpPr>
        <p:sp>
          <p:nvSpPr>
            <p:cNvPr id="28" name="Oval 27"/>
            <p:cNvSpPr/>
            <p:nvPr/>
          </p:nvSpPr>
          <p:spPr>
            <a:xfrm>
              <a:off x="914400" y="4365246"/>
              <a:ext cx="587753" cy="58775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200" b="1" dirty="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034527" y="4419600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 smtClean="0"/>
                <a:t>4</a:t>
              </a:r>
              <a:endParaRPr lang="en-US" sz="2400" b="1" dirty="0"/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10015083" y="4986517"/>
            <a:ext cx="1625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/>
              <a:t>How the Business</a:t>
            </a:r>
          </a:p>
          <a:p>
            <a:pPr algn="ctr"/>
            <a:r>
              <a:rPr lang="en-US" sz="2000" b="1" dirty="0" smtClean="0"/>
              <a:t>Consultant describe it</a:t>
            </a:r>
            <a:endParaRPr lang="en-US" sz="2000" b="1" dirty="0"/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144"/>
          <a:stretch/>
        </p:blipFill>
        <p:spPr>
          <a:xfrm>
            <a:off x="9964282" y="1769706"/>
            <a:ext cx="1676400" cy="2736850"/>
          </a:xfrm>
          <a:prstGeom prst="rect">
            <a:avLst/>
          </a:prstGeom>
        </p:spPr>
      </p:pic>
      <p:grpSp>
        <p:nvGrpSpPr>
          <p:cNvPr id="32" name="Group 31"/>
          <p:cNvGrpSpPr/>
          <p:nvPr/>
        </p:nvGrpSpPr>
        <p:grpSpPr>
          <a:xfrm>
            <a:off x="10508605" y="4376003"/>
            <a:ext cx="587753" cy="587753"/>
            <a:chOff x="914400" y="4365246"/>
            <a:chExt cx="587753" cy="587753"/>
          </a:xfrm>
        </p:grpSpPr>
        <p:sp>
          <p:nvSpPr>
            <p:cNvPr id="33" name="Oval 32"/>
            <p:cNvSpPr/>
            <p:nvPr/>
          </p:nvSpPr>
          <p:spPr>
            <a:xfrm>
              <a:off x="914400" y="4365246"/>
              <a:ext cx="587753" cy="58775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200" b="1" dirty="0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1034527" y="4419600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 smtClean="0"/>
                <a:t>5</a:t>
              </a:r>
              <a:endParaRPr lang="en-US" sz="2400" b="1" dirty="0"/>
            </a:p>
          </p:txBody>
        </p:sp>
      </p:grpSp>
      <p:cxnSp>
        <p:nvCxnSpPr>
          <p:cNvPr id="35" name="Straight Connector 34"/>
          <p:cNvCxnSpPr/>
          <p:nvPr/>
        </p:nvCxnSpPr>
        <p:spPr>
          <a:xfrm>
            <a:off x="9591674" y="1661756"/>
            <a:ext cx="0" cy="4648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2295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/>
      <p:bldP spid="12" grpId="0"/>
      <p:bldP spid="14" grpId="0"/>
      <p:bldP spid="3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F1099-DF0A-4AA3-BCF9-BD4BF7027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to Study Software Engineering?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283" y="955357"/>
            <a:ext cx="92544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+mj-lt"/>
              </a:rPr>
              <a:t>Software Development Life Cycle </a:t>
            </a:r>
            <a:r>
              <a:rPr lang="en-US" sz="2800" b="1" dirty="0">
                <a:solidFill>
                  <a:srgbClr val="C00000"/>
                </a:solidFill>
                <a:latin typeface="+mj-lt"/>
              </a:rPr>
              <a:t>without</a:t>
            </a:r>
            <a:r>
              <a:rPr lang="en-US" sz="2800" b="1" dirty="0">
                <a:latin typeface="+mj-lt"/>
              </a:rPr>
              <a:t> Software Engineering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219528" y="1524000"/>
            <a:ext cx="918572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33395" y="5105400"/>
            <a:ext cx="16001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/>
              <a:t>How the Project </a:t>
            </a:r>
          </a:p>
          <a:p>
            <a:pPr algn="ctr"/>
            <a:r>
              <a:rPr lang="en-US" sz="2000" b="1" dirty="0" smtClean="0"/>
              <a:t>documented</a:t>
            </a:r>
            <a:endParaRPr lang="en-US" sz="20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957276" y="5105400"/>
            <a:ext cx="1523999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100" b="1" dirty="0" smtClean="0"/>
              <a:t>What</a:t>
            </a:r>
          </a:p>
          <a:p>
            <a:pPr algn="ctr"/>
            <a:r>
              <a:rPr lang="en-US" sz="2100" b="1" dirty="0" smtClean="0"/>
              <a:t>Operations Installed</a:t>
            </a:r>
            <a:endParaRPr lang="en-US" sz="21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5341244" y="5105400"/>
            <a:ext cx="1574799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100" b="1" dirty="0" smtClean="0"/>
              <a:t>How the Customer</a:t>
            </a:r>
          </a:p>
          <a:p>
            <a:pPr algn="ctr"/>
            <a:r>
              <a:rPr lang="en-US" sz="2100" b="1" dirty="0" smtClean="0"/>
              <a:t>billed</a:t>
            </a:r>
            <a:endParaRPr lang="en-US" sz="2100" b="1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2494634" y="1600200"/>
            <a:ext cx="0" cy="4648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903827" y="1600200"/>
            <a:ext cx="0" cy="4648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944"/>
          <a:stretch/>
        </p:blipFill>
        <p:spPr>
          <a:xfrm>
            <a:off x="507994" y="1828800"/>
            <a:ext cx="1676400" cy="27432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144"/>
          <a:stretch/>
        </p:blipFill>
        <p:spPr>
          <a:xfrm>
            <a:off x="2893775" y="1835150"/>
            <a:ext cx="1663700" cy="273685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454"/>
          <a:stretch/>
        </p:blipFill>
        <p:spPr>
          <a:xfrm>
            <a:off x="5283187" y="1835150"/>
            <a:ext cx="1651000" cy="2736850"/>
          </a:xfrm>
          <a:prstGeom prst="rect">
            <a:avLst/>
          </a:prstGeom>
        </p:spPr>
      </p:pic>
      <p:grpSp>
        <p:nvGrpSpPr>
          <p:cNvPr id="21" name="Group 20"/>
          <p:cNvGrpSpPr/>
          <p:nvPr/>
        </p:nvGrpSpPr>
        <p:grpSpPr>
          <a:xfrm>
            <a:off x="1001518" y="4385369"/>
            <a:ext cx="587753" cy="587753"/>
            <a:chOff x="914400" y="4365246"/>
            <a:chExt cx="587753" cy="587753"/>
          </a:xfrm>
        </p:grpSpPr>
        <p:sp>
          <p:nvSpPr>
            <p:cNvPr id="22" name="Oval 21"/>
            <p:cNvSpPr/>
            <p:nvPr/>
          </p:nvSpPr>
          <p:spPr>
            <a:xfrm>
              <a:off x="914400" y="4365246"/>
              <a:ext cx="587753" cy="58775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200" b="1" dirty="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034527" y="4419600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 smtClean="0"/>
                <a:t>6</a:t>
              </a:r>
              <a:endParaRPr lang="en-US" sz="2400" b="1" dirty="0"/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3463030" y="4354324"/>
            <a:ext cx="587753" cy="587753"/>
            <a:chOff x="914400" y="4365246"/>
            <a:chExt cx="587753" cy="587753"/>
          </a:xfrm>
        </p:grpSpPr>
        <p:sp>
          <p:nvSpPr>
            <p:cNvPr id="25" name="Oval 24"/>
            <p:cNvSpPr/>
            <p:nvPr/>
          </p:nvSpPr>
          <p:spPr>
            <a:xfrm>
              <a:off x="914400" y="4365246"/>
              <a:ext cx="587753" cy="58775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200" b="1" dirty="0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034527" y="4419600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 smtClean="0"/>
                <a:t>7</a:t>
              </a:r>
              <a:endParaRPr lang="en-US" sz="2400" b="1" dirty="0"/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5816588" y="4365247"/>
            <a:ext cx="587753" cy="587753"/>
            <a:chOff x="914400" y="4365246"/>
            <a:chExt cx="587753" cy="587753"/>
          </a:xfrm>
        </p:grpSpPr>
        <p:sp>
          <p:nvSpPr>
            <p:cNvPr id="28" name="Oval 27"/>
            <p:cNvSpPr/>
            <p:nvPr/>
          </p:nvSpPr>
          <p:spPr>
            <a:xfrm>
              <a:off x="914400" y="4365246"/>
              <a:ext cx="587753" cy="58775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200" b="1" dirty="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034527" y="4419600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 smtClean="0"/>
                <a:t>8</a:t>
              </a:r>
              <a:endParaRPr lang="en-US" sz="2400" b="1" dirty="0"/>
            </a:p>
          </p:txBody>
        </p:sp>
      </p:grpSp>
      <p:pic>
        <p:nvPicPr>
          <p:cNvPr id="31" name="Picture 30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855"/>
          <a:stretch/>
        </p:blipFill>
        <p:spPr>
          <a:xfrm>
            <a:off x="10057969" y="1835150"/>
            <a:ext cx="1663700" cy="2724150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286"/>
          <a:stretch/>
        </p:blipFill>
        <p:spPr>
          <a:xfrm>
            <a:off x="7670285" y="1816100"/>
            <a:ext cx="1676400" cy="27432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690241" y="5105400"/>
            <a:ext cx="1625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/>
              <a:t>How it</a:t>
            </a:r>
          </a:p>
          <a:p>
            <a:pPr algn="ctr"/>
            <a:r>
              <a:rPr lang="en-US" sz="2000" b="1" dirty="0" smtClean="0"/>
              <a:t>was supported</a:t>
            </a:r>
            <a:endParaRPr lang="en-US" sz="2000" b="1" dirty="0"/>
          </a:p>
        </p:txBody>
      </p:sp>
      <p:sp>
        <p:nvSpPr>
          <p:cNvPr id="34" name="TextBox 33"/>
          <p:cNvSpPr txBox="1"/>
          <p:nvPr/>
        </p:nvSpPr>
        <p:spPr>
          <a:xfrm>
            <a:off x="10045269" y="5105400"/>
            <a:ext cx="18160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/>
              <a:t>What the</a:t>
            </a:r>
          </a:p>
          <a:p>
            <a:pPr algn="ctr"/>
            <a:r>
              <a:rPr lang="en-US" sz="2000" b="1" dirty="0" smtClean="0"/>
              <a:t>customer</a:t>
            </a:r>
          </a:p>
          <a:p>
            <a:pPr algn="ctr"/>
            <a:r>
              <a:rPr lang="en-US" sz="2000" b="1" dirty="0"/>
              <a:t>r</a:t>
            </a:r>
            <a:r>
              <a:rPr lang="en-US" sz="2000" b="1" dirty="0" smtClean="0"/>
              <a:t>eally needed</a:t>
            </a:r>
            <a:endParaRPr lang="en-US" sz="2000" b="1" dirty="0"/>
          </a:p>
        </p:txBody>
      </p:sp>
      <p:grpSp>
        <p:nvGrpSpPr>
          <p:cNvPr id="35" name="Group 34"/>
          <p:cNvGrpSpPr/>
          <p:nvPr/>
        </p:nvGrpSpPr>
        <p:grpSpPr>
          <a:xfrm>
            <a:off x="8194688" y="4416047"/>
            <a:ext cx="587753" cy="587753"/>
            <a:chOff x="914400" y="4365246"/>
            <a:chExt cx="587753" cy="587753"/>
          </a:xfrm>
        </p:grpSpPr>
        <p:sp>
          <p:nvSpPr>
            <p:cNvPr id="36" name="Oval 35"/>
            <p:cNvSpPr/>
            <p:nvPr/>
          </p:nvSpPr>
          <p:spPr>
            <a:xfrm>
              <a:off x="914400" y="4365246"/>
              <a:ext cx="587753" cy="58775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200" b="1" dirty="0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1034527" y="4419600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 smtClean="0"/>
                <a:t>9</a:t>
              </a:r>
              <a:endParaRPr lang="en-US" sz="2400" b="1" dirty="0"/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10589593" y="4359969"/>
            <a:ext cx="587753" cy="587753"/>
            <a:chOff x="914400" y="4365246"/>
            <a:chExt cx="587753" cy="587753"/>
          </a:xfrm>
        </p:grpSpPr>
        <p:sp>
          <p:nvSpPr>
            <p:cNvPr id="39" name="Oval 38"/>
            <p:cNvSpPr/>
            <p:nvPr/>
          </p:nvSpPr>
          <p:spPr>
            <a:xfrm>
              <a:off x="914400" y="4365246"/>
              <a:ext cx="587753" cy="58775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200" b="1" dirty="0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953927" y="4419600"/>
              <a:ext cx="4956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 smtClean="0"/>
                <a:t>10</a:t>
              </a:r>
              <a:endParaRPr lang="en-US" sz="2400" b="1" dirty="0"/>
            </a:p>
          </p:txBody>
        </p:sp>
      </p:grpSp>
      <p:cxnSp>
        <p:nvCxnSpPr>
          <p:cNvPr id="41" name="Straight Connector 40"/>
          <p:cNvCxnSpPr/>
          <p:nvPr/>
        </p:nvCxnSpPr>
        <p:spPr>
          <a:xfrm>
            <a:off x="9686284" y="1600200"/>
            <a:ext cx="0" cy="4648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>
            <a:off x="7284165" y="1600200"/>
            <a:ext cx="0" cy="4648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6392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  <p:bldP spid="10" grpId="0"/>
      <p:bldP spid="33" grpId="0"/>
      <p:bldP spid="3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D89F5-5B5E-433B-9F30-926FC6900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SDLC </a:t>
            </a:r>
            <a:r>
              <a:rPr lang="en-US" dirty="0">
                <a:solidFill>
                  <a:srgbClr val="C00000"/>
                </a:solidFill>
              </a:rPr>
              <a:t>without</a:t>
            </a:r>
            <a:r>
              <a:rPr lang="en-US" dirty="0"/>
              <a:t> Software </a:t>
            </a:r>
            <a:r>
              <a:rPr lang="en-US" dirty="0" smtClean="0"/>
              <a:t>Engineering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320379" y="1058683"/>
            <a:ext cx="360499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/>
              <a:t>The software development </a:t>
            </a:r>
          </a:p>
          <a:p>
            <a:pPr algn="ctr"/>
            <a:r>
              <a:rPr lang="en-US" sz="2800" b="1" dirty="0" smtClean="0">
                <a:solidFill>
                  <a:srgbClr val="C00000"/>
                </a:solidFill>
              </a:rPr>
              <a:t>process</a:t>
            </a:r>
            <a:r>
              <a:rPr lang="en-US" sz="2800" dirty="0" smtClean="0">
                <a:solidFill>
                  <a:srgbClr val="C00000"/>
                </a:solidFill>
              </a:rPr>
              <a:t> </a:t>
            </a:r>
            <a:r>
              <a:rPr lang="en-US" sz="2800" dirty="0" smtClean="0"/>
              <a:t>needs to be </a:t>
            </a:r>
          </a:p>
          <a:p>
            <a:pPr algn="ctr"/>
            <a:r>
              <a:rPr lang="en-US" sz="2800" b="1" dirty="0" smtClean="0">
                <a:solidFill>
                  <a:srgbClr val="C00000"/>
                </a:solidFill>
              </a:rPr>
              <a:t>engineered</a:t>
            </a:r>
            <a:r>
              <a:rPr lang="en-US" sz="2800" dirty="0" smtClean="0">
                <a:solidFill>
                  <a:srgbClr val="C00000"/>
                </a:solidFill>
              </a:rPr>
              <a:t> </a:t>
            </a:r>
          </a:p>
          <a:p>
            <a:pPr algn="ctr"/>
            <a:r>
              <a:rPr lang="en-US" sz="2800" dirty="0" smtClean="0"/>
              <a:t>to avoid the </a:t>
            </a:r>
          </a:p>
          <a:p>
            <a:pPr algn="ctr"/>
            <a:r>
              <a:rPr lang="en-US" sz="2800" b="1" dirty="0" smtClean="0">
                <a:solidFill>
                  <a:srgbClr val="C00000"/>
                </a:solidFill>
              </a:rPr>
              <a:t>communication gap</a:t>
            </a:r>
          </a:p>
          <a:p>
            <a:pPr algn="ctr"/>
            <a:r>
              <a:rPr lang="en-US" sz="2800" dirty="0" smtClean="0"/>
              <a:t> &amp; to </a:t>
            </a:r>
            <a:r>
              <a:rPr lang="en-US" sz="2800" b="1" dirty="0" smtClean="0">
                <a:solidFill>
                  <a:srgbClr val="C00000"/>
                </a:solidFill>
              </a:rPr>
              <a:t>meet  the actual</a:t>
            </a:r>
            <a:r>
              <a:rPr lang="en-US" sz="2800" b="1" dirty="0" smtClean="0"/>
              <a:t> </a:t>
            </a:r>
          </a:p>
          <a:p>
            <a:pPr algn="ctr"/>
            <a:r>
              <a:rPr lang="en-US" sz="2800" b="1" dirty="0" smtClean="0">
                <a:solidFill>
                  <a:srgbClr val="C00000"/>
                </a:solidFill>
              </a:rPr>
              <a:t>requirements</a:t>
            </a:r>
            <a:r>
              <a:rPr lang="en-US" sz="2800" dirty="0" smtClean="0">
                <a:solidFill>
                  <a:srgbClr val="C00000"/>
                </a:solidFill>
              </a:rPr>
              <a:t> </a:t>
            </a:r>
            <a:r>
              <a:rPr lang="en-US" sz="2800" dirty="0" smtClean="0"/>
              <a:t>of customer </a:t>
            </a:r>
          </a:p>
          <a:p>
            <a:pPr algn="ctr"/>
            <a:r>
              <a:rPr lang="en-US" sz="2800" dirty="0" smtClean="0"/>
              <a:t>within </a:t>
            </a:r>
            <a:r>
              <a:rPr lang="en-US" sz="2800" b="1" dirty="0" smtClean="0">
                <a:solidFill>
                  <a:srgbClr val="C00000"/>
                </a:solidFill>
              </a:rPr>
              <a:t>stipulated budget </a:t>
            </a:r>
          </a:p>
          <a:p>
            <a:pPr algn="ctr"/>
            <a:r>
              <a:rPr lang="en-US" sz="2800" dirty="0" smtClean="0"/>
              <a:t>&amp; </a:t>
            </a:r>
            <a:r>
              <a:rPr lang="en-US" sz="2800" b="1" dirty="0" smtClean="0">
                <a:solidFill>
                  <a:srgbClr val="C00000"/>
                </a:solidFill>
              </a:rPr>
              <a:t>time</a:t>
            </a:r>
            <a:endParaRPr lang="en-US" sz="2800" b="1" dirty="0">
              <a:solidFill>
                <a:srgbClr val="C0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41632" y="1058683"/>
            <a:ext cx="3385339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Customer Requirement</a:t>
            </a:r>
            <a:endParaRPr lang="en-US" sz="24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141632" y="1668283"/>
            <a:ext cx="3385339" cy="212365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Have one trunk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Have four legs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Should carry load both passenger &amp; cargo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Black in color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Should be herbivorous</a:t>
            </a:r>
          </a:p>
        </p:txBody>
      </p:sp>
      <p:sp>
        <p:nvSpPr>
          <p:cNvPr id="8" name="Rectangle 7"/>
          <p:cNvSpPr/>
          <p:nvPr/>
        </p:nvSpPr>
        <p:spPr>
          <a:xfrm>
            <a:off x="141632" y="3798346"/>
            <a:ext cx="3385339" cy="259524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413" y="3898610"/>
            <a:ext cx="2486372" cy="240063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739584" y="1058683"/>
            <a:ext cx="41148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Solution</a:t>
            </a:r>
            <a:endParaRPr lang="en-US" sz="24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3739584" y="1668283"/>
            <a:ext cx="4114800" cy="212365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Have one trunk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Have four legs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Should carry load both passenger &amp; cargo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Black in color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Should be herbivorous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39584" y="3798347"/>
            <a:ext cx="4114800" cy="259524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5784" y="3904390"/>
            <a:ext cx="1981200" cy="2387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847784" y="4140652"/>
            <a:ext cx="19812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Our value </a:t>
            </a:r>
            <a:r>
              <a:rPr lang="en-US" sz="3200" dirty="0" smtClean="0"/>
              <a:t>added,</a:t>
            </a:r>
            <a:endParaRPr lang="en-US" sz="3200" dirty="0"/>
          </a:p>
          <a:p>
            <a:pPr algn="ctr"/>
            <a:r>
              <a:rPr lang="en-US" sz="3200" dirty="0" smtClean="0"/>
              <a:t>also </a:t>
            </a:r>
            <a:r>
              <a:rPr lang="en-US" sz="3200" dirty="0"/>
              <a:t>gives milk</a:t>
            </a:r>
          </a:p>
        </p:txBody>
      </p:sp>
    </p:spTree>
    <p:extLst>
      <p:ext uri="{BB962C8B-B14F-4D97-AF65-F5344CB8AC3E}">
        <p14:creationId xmlns:p14="http://schemas.microsoft.com/office/powerpoint/2010/main" val="3397275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2D5F8-87CB-4B5B-8EC7-5F4CE6485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Engineering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7412" y="1133475"/>
            <a:ext cx="2219325" cy="20669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6869" y="1066800"/>
            <a:ext cx="2143125" cy="21431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2110" y="1283625"/>
            <a:ext cx="2232911" cy="148590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962" y="4114800"/>
            <a:ext cx="2466975" cy="185737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9760" y="3919537"/>
            <a:ext cx="2724150" cy="22479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28" r="7868"/>
          <a:stretch/>
        </p:blipFill>
        <p:spPr>
          <a:xfrm>
            <a:off x="8949573" y="4298288"/>
            <a:ext cx="2403685" cy="149291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227937" y="3352800"/>
            <a:ext cx="10246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 smtClean="0"/>
              <a:t>Design</a:t>
            </a:r>
            <a:endParaRPr lang="en-US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6030860" y="3352800"/>
            <a:ext cx="8162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 smtClean="0"/>
              <a:t>Build</a:t>
            </a:r>
            <a:endParaRPr lang="en-US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528621" y="3352800"/>
            <a:ext cx="11639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 smtClean="0"/>
              <a:t>Product</a:t>
            </a:r>
            <a:endParaRPr lang="en-US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414828" y="1066800"/>
            <a:ext cx="553998" cy="187826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vert270" wrap="square" rtlCol="0">
            <a:spAutoFit/>
          </a:bodyPr>
          <a:lstStyle/>
          <a:p>
            <a:pPr algn="ctr"/>
            <a:r>
              <a:rPr lang="en-US" sz="2400" b="1" dirty="0" smtClean="0"/>
              <a:t>Engineering</a:t>
            </a:r>
            <a:endParaRPr lang="en-US" sz="2400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414828" y="3362325"/>
            <a:ext cx="553998" cy="303847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vert270" wrap="square" rtlCol="0">
            <a:spAutoFit/>
          </a:bodyPr>
          <a:lstStyle/>
          <a:p>
            <a:pPr algn="ctr"/>
            <a:r>
              <a:rPr lang="en-US" sz="2400" b="1" dirty="0" smtClean="0"/>
              <a:t>Software Engineering</a:t>
            </a:r>
            <a:endParaRPr lang="en-US" sz="2400" b="1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46649" y="3352800"/>
            <a:ext cx="1020671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1346649" y="3810000"/>
            <a:ext cx="1020671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717146" y="1066800"/>
            <a:ext cx="0" cy="51006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8320307" y="1066800"/>
            <a:ext cx="0" cy="51006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1901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 animBg="1"/>
      <p:bldP spid="1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D89F5-5B5E-433B-9F30-926FC6900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Software is dead…..!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idx="1"/>
          </p:nvPr>
        </p:nvSpPr>
        <p:spPr>
          <a:xfrm>
            <a:off x="190500" y="990600"/>
            <a:ext cx="7647214" cy="5334000"/>
          </a:xfrm>
        </p:spPr>
        <p:txBody>
          <a:bodyPr/>
          <a:lstStyle/>
          <a:p>
            <a:r>
              <a:rPr lang="en-US" sz="2800" dirty="0" smtClean="0"/>
              <a:t>The </a:t>
            </a:r>
            <a:r>
              <a:rPr lang="en-US" sz="2800" b="1" dirty="0" smtClean="0">
                <a:solidFill>
                  <a:schemeClr val="accent6"/>
                </a:solidFill>
              </a:rPr>
              <a:t>old School view of Software</a:t>
            </a:r>
          </a:p>
          <a:p>
            <a:pPr lvl="1"/>
            <a:r>
              <a:rPr lang="en-US" sz="2400" dirty="0" smtClean="0"/>
              <a:t>You buy it</a:t>
            </a:r>
          </a:p>
          <a:p>
            <a:pPr lvl="1"/>
            <a:r>
              <a:rPr lang="en-US" sz="2400" dirty="0" smtClean="0"/>
              <a:t>You own it &amp;</a:t>
            </a:r>
          </a:p>
          <a:p>
            <a:pPr lvl="1"/>
            <a:r>
              <a:rPr lang="en-US" sz="2400" dirty="0" smtClean="0"/>
              <a:t>It’s your job to manage it </a:t>
            </a:r>
          </a:p>
          <a:p>
            <a:pPr lvl="1"/>
            <a:r>
              <a:rPr lang="en-US" sz="2400" dirty="0" smtClean="0"/>
              <a:t>That is coming to an end</a:t>
            </a:r>
          </a:p>
          <a:p>
            <a:pPr marL="361950" lvl="1" indent="0">
              <a:buNone/>
            </a:pPr>
            <a:endParaRPr lang="en-US" dirty="0" smtClean="0"/>
          </a:p>
          <a:p>
            <a:r>
              <a:rPr lang="en-US" sz="2800" dirty="0" smtClean="0"/>
              <a:t>Because of </a:t>
            </a:r>
            <a:r>
              <a:rPr lang="en-US" sz="2800" b="1" dirty="0" smtClean="0">
                <a:solidFill>
                  <a:schemeClr val="accent6"/>
                </a:solidFill>
              </a:rPr>
              <a:t>web 2.0 </a:t>
            </a:r>
            <a:r>
              <a:rPr lang="en-US" sz="2800" dirty="0" smtClean="0"/>
              <a:t>&amp; extensive </a:t>
            </a:r>
            <a:r>
              <a:rPr lang="en-US" sz="2800" b="1" dirty="0" smtClean="0">
                <a:solidFill>
                  <a:schemeClr val="accent6"/>
                </a:solidFill>
              </a:rPr>
              <a:t>computing power</a:t>
            </a:r>
            <a:r>
              <a:rPr lang="en-US" sz="2800" dirty="0" smtClean="0"/>
              <a:t>, there is a different generation of software</a:t>
            </a:r>
          </a:p>
          <a:p>
            <a:pPr lvl="1"/>
            <a:r>
              <a:rPr lang="en-US" sz="2400" dirty="0" smtClean="0"/>
              <a:t>It is delivered via Internet</a:t>
            </a:r>
          </a:p>
          <a:p>
            <a:pPr lvl="1"/>
            <a:r>
              <a:rPr lang="en-US" sz="2400" dirty="0" smtClean="0"/>
              <a:t>It looks exactly like it’s residing on each user’s computing device</a:t>
            </a:r>
          </a:p>
          <a:p>
            <a:pPr lvl="1"/>
            <a:r>
              <a:rPr lang="en-US" sz="2400" dirty="0" smtClean="0"/>
              <a:t>Actually it reside on far away server</a:t>
            </a:r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10" r="7895"/>
          <a:stretch/>
        </p:blipFill>
        <p:spPr>
          <a:xfrm>
            <a:off x="8407395" y="1117600"/>
            <a:ext cx="3200400" cy="193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901" y="5340444"/>
            <a:ext cx="3118694" cy="1060356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3145" y="3271742"/>
            <a:ext cx="2628900" cy="1833658"/>
          </a:xfrm>
          <a:prstGeom prst="rect">
            <a:avLst/>
          </a:prstGeom>
        </p:spPr>
      </p:pic>
      <p:cxnSp>
        <p:nvCxnSpPr>
          <p:cNvPr id="20" name="Straight Connector 19"/>
          <p:cNvCxnSpPr/>
          <p:nvPr/>
        </p:nvCxnSpPr>
        <p:spPr>
          <a:xfrm>
            <a:off x="364676" y="3200400"/>
            <a:ext cx="11435438" cy="0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8453455" y="5130800"/>
            <a:ext cx="3086100" cy="0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528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F1099-DF0A-4AA3-BCF9-BD4BF7027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Software?</a:t>
            </a:r>
          </a:p>
        </p:txBody>
      </p:sp>
      <p:sp>
        <p:nvSpPr>
          <p:cNvPr id="36" name="Content Placeholder 2"/>
          <p:cNvSpPr>
            <a:spLocks noGrp="1"/>
          </p:cNvSpPr>
          <p:nvPr>
            <p:ph idx="1"/>
          </p:nvPr>
        </p:nvSpPr>
        <p:spPr>
          <a:xfrm>
            <a:off x="234042" y="1701792"/>
            <a:ext cx="11783786" cy="1723577"/>
          </a:xfrm>
        </p:spPr>
        <p:txBody>
          <a:bodyPr/>
          <a:lstStyle/>
          <a:p>
            <a:pPr marL="274638" indent="-457200">
              <a:buFont typeface="+mj-lt"/>
              <a:buAutoNum type="arabicParenR"/>
            </a:pPr>
            <a:r>
              <a:rPr lang="en-US" b="1" dirty="0" smtClean="0"/>
              <a:t>Computer program</a:t>
            </a:r>
            <a:r>
              <a:rPr lang="en-US" dirty="0" smtClean="0"/>
              <a:t> that when executed provide desired features, function &amp; performance</a:t>
            </a:r>
          </a:p>
          <a:p>
            <a:pPr marL="274638" indent="-457200">
              <a:buFont typeface="+mj-lt"/>
              <a:buAutoNum type="arabicParenR"/>
            </a:pPr>
            <a:r>
              <a:rPr lang="en-US" b="1" dirty="0" smtClean="0"/>
              <a:t>Data Structure</a:t>
            </a:r>
            <a:r>
              <a:rPr lang="en-US" dirty="0" smtClean="0"/>
              <a:t> that enable programs to easily manipulate information</a:t>
            </a:r>
          </a:p>
          <a:p>
            <a:pPr marL="274638" indent="-457200">
              <a:buFont typeface="+mj-lt"/>
              <a:buAutoNum type="arabicParenR"/>
            </a:pPr>
            <a:r>
              <a:rPr lang="en-US" b="1" dirty="0" smtClean="0"/>
              <a:t>Descriptive information</a:t>
            </a:r>
            <a:r>
              <a:rPr lang="en-US" dirty="0" smtClean="0"/>
              <a:t> in both hard and soft copy that describes the operation and use of programs</a:t>
            </a:r>
            <a:endParaRPr lang="en-US" dirty="0"/>
          </a:p>
        </p:txBody>
      </p:sp>
      <p:pic>
        <p:nvPicPr>
          <p:cNvPr id="37" name="Picture 3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8543" y="4048920"/>
            <a:ext cx="1219200" cy="1219200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1888" y="4048920"/>
            <a:ext cx="1181842" cy="1181842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3510551" y="3788226"/>
            <a:ext cx="79861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b="1" dirty="0" smtClean="0"/>
              <a:t>+</a:t>
            </a:r>
            <a:endParaRPr lang="en-US" sz="9600" b="1" dirty="0"/>
          </a:p>
        </p:txBody>
      </p:sp>
      <p:pic>
        <p:nvPicPr>
          <p:cNvPr id="40" name="Picture 39"/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5111419" y="4048920"/>
            <a:ext cx="1182583" cy="1182583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7308188" y="3788226"/>
            <a:ext cx="3048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b="1" dirty="0" smtClean="0"/>
              <a:t>+</a:t>
            </a:r>
            <a:endParaRPr lang="en-US" sz="9600" b="1" dirty="0"/>
          </a:p>
        </p:txBody>
      </p:sp>
      <p:sp>
        <p:nvSpPr>
          <p:cNvPr id="42" name="TextBox 41"/>
          <p:cNvSpPr txBox="1"/>
          <p:nvPr/>
        </p:nvSpPr>
        <p:spPr>
          <a:xfrm>
            <a:off x="1486143" y="5471829"/>
            <a:ext cx="146168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/>
              <a:t>Computer</a:t>
            </a:r>
          </a:p>
          <a:p>
            <a:pPr algn="ctr"/>
            <a:r>
              <a:rPr lang="en-US" sz="2400" b="1" dirty="0" smtClean="0"/>
              <a:t>Program</a:t>
            </a:r>
            <a:endParaRPr lang="en-US" sz="2400" b="1" dirty="0"/>
          </a:p>
        </p:txBody>
      </p:sp>
      <p:sp>
        <p:nvSpPr>
          <p:cNvPr id="43" name="TextBox 42"/>
          <p:cNvSpPr txBox="1"/>
          <p:nvPr/>
        </p:nvSpPr>
        <p:spPr>
          <a:xfrm>
            <a:off x="4939592" y="5530627"/>
            <a:ext cx="137383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/>
              <a:t>Data</a:t>
            </a:r>
          </a:p>
          <a:p>
            <a:pPr algn="ctr"/>
            <a:r>
              <a:rPr lang="en-US" sz="2400" b="1" dirty="0" smtClean="0"/>
              <a:t>Structure</a:t>
            </a:r>
            <a:endParaRPr lang="en-US" sz="2400" b="1" dirty="0"/>
          </a:p>
        </p:txBody>
      </p:sp>
      <p:sp>
        <p:nvSpPr>
          <p:cNvPr id="44" name="TextBox 43"/>
          <p:cNvSpPr txBox="1"/>
          <p:nvPr/>
        </p:nvSpPr>
        <p:spPr>
          <a:xfrm>
            <a:off x="8753700" y="5567656"/>
            <a:ext cx="167167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/>
              <a:t>Documents</a:t>
            </a:r>
          </a:p>
          <a:p>
            <a:pPr algn="ctr"/>
            <a:r>
              <a:rPr lang="en-US" sz="2400" b="1" dirty="0" smtClean="0"/>
              <a:t>Soft &amp; Hard</a:t>
            </a:r>
            <a:endParaRPr lang="en-US" sz="2400" b="1" dirty="0"/>
          </a:p>
        </p:txBody>
      </p:sp>
      <p:sp>
        <p:nvSpPr>
          <p:cNvPr id="12" name="Rectangle 11"/>
          <p:cNvSpPr/>
          <p:nvPr/>
        </p:nvSpPr>
        <p:spPr>
          <a:xfrm>
            <a:off x="286474" y="1091779"/>
            <a:ext cx="1832611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chemeClr val="bg1"/>
                </a:solidFill>
              </a:rPr>
              <a:t>Software is</a:t>
            </a:r>
            <a:endParaRPr lang="en-US" sz="2400" b="1" dirty="0">
              <a:solidFill>
                <a:schemeClr val="bg1"/>
              </a:solidFill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2107567" y="1553444"/>
            <a:ext cx="7486377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711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1" grpId="0"/>
      <p:bldP spid="42" grpId="0"/>
      <p:bldP spid="43" grpId="0"/>
      <p:bldP spid="44" grpId="0"/>
      <p:bldP spid="1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Application Domains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1084" y="820549"/>
            <a:ext cx="5638799" cy="549928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909809" y="1062032"/>
            <a:ext cx="1143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System </a:t>
            </a:r>
            <a:r>
              <a:rPr lang="en-US" sz="2000" b="1" dirty="0" smtClean="0"/>
              <a:t>Software</a:t>
            </a:r>
            <a:endParaRPr lang="en-US" sz="20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8282483" y="1976432"/>
            <a:ext cx="1447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b="1" dirty="0" smtClean="0"/>
              <a:t>Application</a:t>
            </a:r>
          </a:p>
          <a:p>
            <a:pPr algn="r"/>
            <a:r>
              <a:rPr lang="en-US" sz="2000" b="1" dirty="0" smtClean="0"/>
              <a:t>Software</a:t>
            </a:r>
            <a:endParaRPr lang="en-US" sz="20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8663483" y="3515778"/>
            <a:ext cx="1447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b="1" dirty="0">
                <a:solidFill>
                  <a:schemeClr val="bg1"/>
                </a:solidFill>
              </a:rPr>
              <a:t>Engineering </a:t>
            </a:r>
            <a:r>
              <a:rPr lang="en-US" sz="2000" b="1" dirty="0" smtClean="0">
                <a:solidFill>
                  <a:schemeClr val="bg1"/>
                </a:solidFill>
              </a:rPr>
              <a:t> </a:t>
            </a:r>
            <a:r>
              <a:rPr lang="en-US" sz="2000" b="1" dirty="0">
                <a:solidFill>
                  <a:schemeClr val="bg1"/>
                </a:solidFill>
              </a:rPr>
              <a:t>/ Scientific Software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72883" y="5230946"/>
            <a:ext cx="1447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b="1" dirty="0">
                <a:solidFill>
                  <a:schemeClr val="bg1"/>
                </a:solidFill>
              </a:rPr>
              <a:t>Embedded </a:t>
            </a:r>
            <a:r>
              <a:rPr lang="en-US" sz="2000" b="1" dirty="0" smtClean="0">
                <a:solidFill>
                  <a:schemeClr val="bg1"/>
                </a:solidFill>
              </a:rPr>
              <a:t>Software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844083" y="5230946"/>
            <a:ext cx="152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Product line Software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8751" y="3630746"/>
            <a:ext cx="14692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Web Application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36818" y="1824032"/>
            <a:ext cx="154546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Artificial intelligence Software</a:t>
            </a:r>
          </a:p>
        </p:txBody>
      </p:sp>
      <p:sp>
        <p:nvSpPr>
          <p:cNvPr id="14" name="Oval 13"/>
          <p:cNvSpPr/>
          <p:nvPr/>
        </p:nvSpPr>
        <p:spPr>
          <a:xfrm>
            <a:off x="6631841" y="2764190"/>
            <a:ext cx="1650642" cy="165064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6606083" y="2985903"/>
            <a:ext cx="17145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Software Application Domains</a:t>
            </a:r>
          </a:p>
        </p:txBody>
      </p:sp>
      <p:pic>
        <p:nvPicPr>
          <p:cNvPr id="16" name="Picture 4" descr="Image result for windows 10 log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34742" y="956338"/>
            <a:ext cx="1548677" cy="387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4" descr="Image result for turbo c log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17683" y="844809"/>
            <a:ext cx="434446" cy="434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" descr="Image result for matlab logo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1093" y="4603227"/>
            <a:ext cx="1351800" cy="511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Image result for autocad 2015 logo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7005" y="3181242"/>
            <a:ext cx="1387901" cy="1251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6" descr="Image result for linkedin logo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6162" y="4694962"/>
            <a:ext cx="1213518" cy="329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4" descr="Image result for facebook logo"/>
          <p:cNvPicPr>
            <a:picLocks noChangeAspect="1" noChangeArrowheads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7151" y="4092664"/>
            <a:ext cx="993891" cy="344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" descr="Image result for siri logo"/>
          <p:cNvPicPr>
            <a:picLocks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5896" y="2399010"/>
            <a:ext cx="831168" cy="382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6" descr="Image result for google self driving car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3351" y="1606135"/>
            <a:ext cx="1207086" cy="678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" descr="Image result for Keypad Control for a Microwave Oven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66832" y="5845087"/>
            <a:ext cx="621940" cy="3918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" descr="Related imag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60590" y="5633782"/>
            <a:ext cx="1626931" cy="610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6" name="Straight Connector 25"/>
          <p:cNvCxnSpPr/>
          <p:nvPr/>
        </p:nvCxnSpPr>
        <p:spPr>
          <a:xfrm>
            <a:off x="8673009" y="1304921"/>
            <a:ext cx="3476168" cy="0"/>
          </a:xfrm>
          <a:prstGeom prst="line">
            <a:avLst/>
          </a:prstGeom>
          <a:ln>
            <a:solidFill>
              <a:srgbClr val="FF8C5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10033180" y="2967032"/>
            <a:ext cx="2115997" cy="0"/>
          </a:xfrm>
          <a:prstGeom prst="line">
            <a:avLst/>
          </a:prstGeom>
          <a:ln>
            <a:solidFill>
              <a:srgbClr val="FF8C5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10042706" y="3081328"/>
            <a:ext cx="2115997" cy="0"/>
          </a:xfrm>
          <a:prstGeom prst="line">
            <a:avLst/>
          </a:prstGeom>
          <a:ln>
            <a:solidFill>
              <a:srgbClr val="5A5476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9612977" y="5226178"/>
            <a:ext cx="2609152" cy="0"/>
          </a:xfrm>
          <a:prstGeom prst="line">
            <a:avLst/>
          </a:prstGeom>
          <a:ln>
            <a:solidFill>
              <a:srgbClr val="5A5476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9530499" y="5329232"/>
            <a:ext cx="2691630" cy="0"/>
          </a:xfrm>
          <a:prstGeom prst="line">
            <a:avLst/>
          </a:prstGeom>
          <a:ln>
            <a:solidFill>
              <a:srgbClr val="0570A6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3338551" y="5325113"/>
            <a:ext cx="2119101" cy="0"/>
          </a:xfrm>
          <a:prstGeom prst="line">
            <a:avLst/>
          </a:prstGeom>
          <a:ln>
            <a:solidFill>
              <a:srgbClr val="2590BA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3338551" y="5232437"/>
            <a:ext cx="2042901" cy="0"/>
          </a:xfrm>
          <a:prstGeom prst="line">
            <a:avLst/>
          </a:prstGeom>
          <a:ln>
            <a:solidFill>
              <a:srgbClr val="34BBD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3338551" y="3090599"/>
            <a:ext cx="1600200" cy="0"/>
          </a:xfrm>
          <a:prstGeom prst="line">
            <a:avLst/>
          </a:prstGeom>
          <a:ln>
            <a:solidFill>
              <a:srgbClr val="34BBD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3338551" y="2957093"/>
            <a:ext cx="1620078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>
            <a:off x="3338551" y="1309398"/>
            <a:ext cx="2983403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36" name="Picture 35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1239" y="5470864"/>
            <a:ext cx="757524" cy="696922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0392908" y="1662702"/>
            <a:ext cx="144199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 smtClean="0"/>
              <a:t>Point of Sale,</a:t>
            </a:r>
          </a:p>
          <a:p>
            <a:pPr algn="ctr"/>
            <a:r>
              <a:rPr lang="en-US" b="1" dirty="0" smtClean="0"/>
              <a:t>Customized </a:t>
            </a:r>
          </a:p>
          <a:p>
            <a:pPr algn="ctr"/>
            <a:r>
              <a:rPr lang="en-US" b="1" dirty="0" smtClean="0"/>
              <a:t>Software</a:t>
            </a:r>
            <a:endParaRPr lang="en-US" b="1" dirty="0"/>
          </a:p>
        </p:txBody>
      </p:sp>
      <p:pic>
        <p:nvPicPr>
          <p:cNvPr id="38" name="Picture 37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6150" y="3364633"/>
            <a:ext cx="605011" cy="442868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54B20E2A-F2D8-419C-9FD1-95D26342647C}"/>
              </a:ext>
            </a:extLst>
          </p:cNvPr>
          <p:cNvSpPr/>
          <p:nvPr/>
        </p:nvSpPr>
        <p:spPr>
          <a:xfrm flipH="1">
            <a:off x="0" y="711201"/>
            <a:ext cx="3300412" cy="4922581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40000"/>
                  <a:lumOff val="60000"/>
                </a:schemeClr>
              </a:gs>
              <a:gs pos="46000">
                <a:schemeClr val="accent6">
                  <a:lumMod val="95000"/>
                  <a:lumOff val="5000"/>
                </a:schemeClr>
              </a:gs>
              <a:gs pos="100000">
                <a:schemeClr val="accent6">
                  <a:lumMod val="60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t"/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sz="1400" dirty="0" smtClean="0"/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400" dirty="0" smtClean="0"/>
              <a:t>System </a:t>
            </a:r>
            <a:r>
              <a:rPr lang="en-US" sz="2400" dirty="0"/>
              <a:t>Software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Application Software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Engineering  / Scientific Software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Embedded Software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Product line Software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Web Application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Artificial intelligence Software</a:t>
            </a:r>
          </a:p>
        </p:txBody>
      </p:sp>
      <p:cxnSp>
        <p:nvCxnSpPr>
          <p:cNvPr id="42" name="Straight Connector 41"/>
          <p:cNvCxnSpPr/>
          <p:nvPr/>
        </p:nvCxnSpPr>
        <p:spPr>
          <a:xfrm>
            <a:off x="3290382" y="5605204"/>
            <a:ext cx="0" cy="9956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8410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 animBg="1"/>
      <p:bldP spid="15" grpId="0"/>
      <p:bldP spid="37" grpId="0"/>
      <p:bldP spid="39" grpId="0" build="p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Engineering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90500" y="990600"/>
            <a:ext cx="11772900" cy="175260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500" b="1" dirty="0" smtClean="0">
                <a:solidFill>
                  <a:schemeClr val="accent6"/>
                </a:solidFill>
              </a:rPr>
              <a:t>Software engineering</a:t>
            </a:r>
            <a:r>
              <a:rPr lang="en-US" sz="3500" dirty="0" smtClean="0">
                <a:solidFill>
                  <a:schemeClr val="accent2"/>
                </a:solidFill>
              </a:rPr>
              <a:t> </a:t>
            </a:r>
            <a:r>
              <a:rPr lang="en-US" sz="3500" dirty="0" smtClean="0"/>
              <a:t>is the establishment and use of </a:t>
            </a:r>
            <a:r>
              <a:rPr lang="en-US" sz="3500" b="1" dirty="0" smtClean="0">
                <a:solidFill>
                  <a:schemeClr val="accent6"/>
                </a:solidFill>
              </a:rPr>
              <a:t>sound engineering</a:t>
            </a:r>
            <a:r>
              <a:rPr lang="en-US" sz="3500" b="1" dirty="0" smtClean="0">
                <a:solidFill>
                  <a:schemeClr val="accent2"/>
                </a:solidFill>
              </a:rPr>
              <a:t> </a:t>
            </a:r>
            <a:r>
              <a:rPr lang="en-US" sz="3500" b="1" dirty="0" smtClean="0">
                <a:solidFill>
                  <a:schemeClr val="accent6"/>
                </a:solidFill>
              </a:rPr>
              <a:t>principles</a:t>
            </a:r>
            <a:r>
              <a:rPr lang="en-US" sz="3500" b="1" dirty="0" smtClean="0">
                <a:solidFill>
                  <a:schemeClr val="accent2"/>
                </a:solidFill>
              </a:rPr>
              <a:t> </a:t>
            </a:r>
            <a:r>
              <a:rPr lang="en-US" sz="3500" dirty="0" smtClean="0"/>
              <a:t>in order to obtain </a:t>
            </a:r>
            <a:r>
              <a:rPr lang="en-US" sz="3500" b="1" dirty="0" smtClean="0">
                <a:solidFill>
                  <a:schemeClr val="accent6"/>
                </a:solidFill>
              </a:rPr>
              <a:t>economically software</a:t>
            </a:r>
            <a:r>
              <a:rPr lang="en-US" sz="3500" dirty="0" smtClean="0">
                <a:solidFill>
                  <a:schemeClr val="accent2"/>
                </a:solidFill>
              </a:rPr>
              <a:t> </a:t>
            </a:r>
            <a:r>
              <a:rPr lang="en-US" sz="3500" dirty="0" smtClean="0"/>
              <a:t>that is </a:t>
            </a:r>
            <a:r>
              <a:rPr lang="en-US" sz="3500" b="1" dirty="0" smtClean="0">
                <a:solidFill>
                  <a:schemeClr val="accent6"/>
                </a:solidFill>
              </a:rPr>
              <a:t>reliable and</a:t>
            </a:r>
            <a:r>
              <a:rPr lang="en-US" sz="3500" b="1" dirty="0" smtClean="0">
                <a:solidFill>
                  <a:schemeClr val="accent2"/>
                </a:solidFill>
              </a:rPr>
              <a:t> </a:t>
            </a:r>
            <a:r>
              <a:rPr lang="en-US" sz="3500" b="1" dirty="0" smtClean="0">
                <a:solidFill>
                  <a:schemeClr val="accent6"/>
                </a:solidFill>
              </a:rPr>
              <a:t>works</a:t>
            </a:r>
            <a:r>
              <a:rPr lang="en-US" sz="3500" b="1" dirty="0" smtClean="0">
                <a:solidFill>
                  <a:schemeClr val="accent2"/>
                </a:solidFill>
              </a:rPr>
              <a:t> </a:t>
            </a:r>
            <a:r>
              <a:rPr lang="en-US" sz="3500" dirty="0" smtClean="0"/>
              <a:t>efficiently in </a:t>
            </a:r>
            <a:r>
              <a:rPr lang="en-US" sz="3500" b="1" dirty="0" smtClean="0">
                <a:solidFill>
                  <a:schemeClr val="accent6"/>
                </a:solidFill>
              </a:rPr>
              <a:t>real machines</a:t>
            </a:r>
            <a:r>
              <a:rPr lang="en-US" sz="3500" dirty="0" smtClean="0"/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4800" y="3200400"/>
            <a:ext cx="116586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Software Engineering is </a:t>
            </a:r>
            <a:r>
              <a:rPr lang="en-US" sz="2400" dirty="0"/>
              <a:t>the science and art of building (designing and writing programs) a software systems that are: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US" sz="2400" dirty="0" smtClean="0"/>
              <a:t>on </a:t>
            </a:r>
            <a:r>
              <a:rPr lang="en-US" sz="2400" b="1" dirty="0">
                <a:solidFill>
                  <a:schemeClr val="accent6"/>
                </a:solidFill>
              </a:rPr>
              <a:t>time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US" sz="2400" dirty="0" smtClean="0"/>
              <a:t>on </a:t>
            </a:r>
            <a:r>
              <a:rPr lang="en-US" sz="2400" b="1" dirty="0">
                <a:solidFill>
                  <a:schemeClr val="accent6"/>
                </a:solidFill>
              </a:rPr>
              <a:t>budget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US" sz="2400" dirty="0" smtClean="0"/>
              <a:t>with </a:t>
            </a:r>
            <a:r>
              <a:rPr lang="en-US" sz="2400" dirty="0"/>
              <a:t>acceptable </a:t>
            </a:r>
            <a:r>
              <a:rPr lang="en-US" sz="2400" b="1" dirty="0">
                <a:solidFill>
                  <a:schemeClr val="accent6"/>
                </a:solidFill>
              </a:rPr>
              <a:t>performance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US" sz="2400" dirty="0" smtClean="0"/>
              <a:t>with </a:t>
            </a:r>
            <a:r>
              <a:rPr lang="en-US" sz="2400" b="1" dirty="0">
                <a:solidFill>
                  <a:schemeClr val="accent6"/>
                </a:solidFill>
              </a:rPr>
              <a:t>correct </a:t>
            </a:r>
            <a:r>
              <a:rPr lang="en-US" sz="2400" b="1" dirty="0" smtClean="0">
                <a:solidFill>
                  <a:schemeClr val="accent6"/>
                </a:solidFill>
              </a:rPr>
              <a:t>operation</a:t>
            </a:r>
            <a:endParaRPr lang="en-US" sz="2400" b="1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361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Software Engineering Layered </a:t>
            </a:r>
            <a:r>
              <a:rPr lang="en-US" dirty="0" smtClean="0"/>
              <a:t>Approach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0" r="3216"/>
          <a:stretch/>
        </p:blipFill>
        <p:spPr>
          <a:xfrm>
            <a:off x="114300" y="3448050"/>
            <a:ext cx="5867400" cy="1828800"/>
          </a:xfrm>
          <a:prstGeom prst="rect">
            <a:avLst/>
          </a:prstGeom>
        </p:spPr>
      </p:pic>
      <p:sp>
        <p:nvSpPr>
          <p:cNvPr id="6" name="Rectangular Callout 5"/>
          <p:cNvSpPr/>
          <p:nvPr/>
        </p:nvSpPr>
        <p:spPr>
          <a:xfrm>
            <a:off x="323850" y="6029293"/>
            <a:ext cx="8191500" cy="359920"/>
          </a:xfrm>
          <a:prstGeom prst="wedgeRectCallout">
            <a:avLst>
              <a:gd name="adj1" fmla="val -26317"/>
              <a:gd name="adj2" fmla="val -316371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sz="2400" dirty="0">
                <a:solidFill>
                  <a:schemeClr val="tx1"/>
                </a:solidFill>
                <a:latin typeface="+mj-lt"/>
              </a:rPr>
              <a:t>Defines continuous </a:t>
            </a:r>
            <a:r>
              <a:rPr lang="en-US" sz="2400" b="1" dirty="0">
                <a:solidFill>
                  <a:schemeClr val="tx1"/>
                </a:solidFill>
                <a:latin typeface="+mj-lt"/>
              </a:rPr>
              <a:t>process improvement principles</a:t>
            </a:r>
            <a:endParaRPr lang="en-IN" sz="24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7" name="Rectangular Callout 6"/>
          <p:cNvSpPr/>
          <p:nvPr/>
        </p:nvSpPr>
        <p:spPr>
          <a:xfrm>
            <a:off x="4286249" y="4781550"/>
            <a:ext cx="7639050" cy="990600"/>
          </a:xfrm>
          <a:prstGeom prst="wedgeRectCallout">
            <a:avLst>
              <a:gd name="adj1" fmla="val -62341"/>
              <a:gd name="adj2" fmla="val -68518"/>
            </a:avLst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sz="2400" dirty="0">
                <a:solidFill>
                  <a:schemeClr val="tx1"/>
                </a:solidFill>
                <a:latin typeface="+mj-lt"/>
              </a:rPr>
              <a:t>It is a foundation of Software Engineering, It is the </a:t>
            </a:r>
            <a:r>
              <a:rPr lang="en-US" sz="2400" b="1" dirty="0">
                <a:solidFill>
                  <a:schemeClr val="tx1"/>
                </a:solidFill>
                <a:latin typeface="+mj-lt"/>
              </a:rPr>
              <a:t>glue</a:t>
            </a:r>
            <a:r>
              <a:rPr lang="en-US" sz="2400" dirty="0">
                <a:solidFill>
                  <a:schemeClr val="tx1"/>
                </a:solidFill>
                <a:latin typeface="+mj-lt"/>
              </a:rPr>
              <a:t> the holds the </a:t>
            </a:r>
            <a:r>
              <a:rPr lang="en-US" sz="2400" b="1" dirty="0">
                <a:solidFill>
                  <a:schemeClr val="tx1"/>
                </a:solidFill>
                <a:latin typeface="+mj-lt"/>
              </a:rPr>
              <a:t>technology layers</a:t>
            </a:r>
            <a:r>
              <a:rPr lang="en-US" sz="2400" dirty="0">
                <a:solidFill>
                  <a:schemeClr val="tx1"/>
                </a:solidFill>
                <a:latin typeface="+mj-lt"/>
              </a:rPr>
              <a:t>, It </a:t>
            </a:r>
            <a:r>
              <a:rPr lang="en-US" sz="2400" b="1" dirty="0">
                <a:solidFill>
                  <a:schemeClr val="tx1"/>
                </a:solidFill>
                <a:latin typeface="+mj-lt"/>
              </a:rPr>
              <a:t>defines</a:t>
            </a:r>
            <a:r>
              <a:rPr lang="en-US" sz="2400" dirty="0">
                <a:solidFill>
                  <a:schemeClr val="tx1"/>
                </a:solidFill>
                <a:latin typeface="+mj-lt"/>
              </a:rPr>
              <a:t> a </a:t>
            </a:r>
            <a:r>
              <a:rPr lang="en-US" sz="2400" b="1" dirty="0">
                <a:solidFill>
                  <a:schemeClr val="tx1"/>
                </a:solidFill>
                <a:latin typeface="+mj-lt"/>
              </a:rPr>
              <a:t>framework</a:t>
            </a:r>
            <a:r>
              <a:rPr lang="en-US" sz="24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US" sz="2400" b="1" dirty="0">
                <a:solidFill>
                  <a:schemeClr val="tx1"/>
                </a:solidFill>
                <a:latin typeface="+mj-lt"/>
              </a:rPr>
              <a:t>activities</a:t>
            </a:r>
            <a:endParaRPr lang="en-IN" sz="24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" name="Rectangular Callout 7"/>
          <p:cNvSpPr/>
          <p:nvPr/>
        </p:nvSpPr>
        <p:spPr>
          <a:xfrm>
            <a:off x="4324350" y="2930864"/>
            <a:ext cx="7600949" cy="1526467"/>
          </a:xfrm>
          <a:prstGeom prst="wedgeRectCallout">
            <a:avLst>
              <a:gd name="adj1" fmla="val -62993"/>
              <a:gd name="adj2" fmla="val 31828"/>
            </a:avLst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sz="2400" dirty="0">
                <a:solidFill>
                  <a:schemeClr val="tx1"/>
                </a:solidFill>
                <a:latin typeface="+mj-lt"/>
              </a:rPr>
              <a:t>It provides</a:t>
            </a:r>
            <a:r>
              <a:rPr lang="en-US" sz="2400" b="1" dirty="0">
                <a:solidFill>
                  <a:schemeClr val="tx1"/>
                </a:solidFill>
                <a:latin typeface="+mj-lt"/>
              </a:rPr>
              <a:t> technical how-</a:t>
            </a:r>
            <a:r>
              <a:rPr lang="en-US" sz="2400" b="1" dirty="0" err="1">
                <a:solidFill>
                  <a:schemeClr val="tx1"/>
                </a:solidFill>
                <a:latin typeface="+mj-lt"/>
              </a:rPr>
              <a:t>to’s</a:t>
            </a:r>
            <a:r>
              <a:rPr lang="en-US" sz="2400" b="1" dirty="0">
                <a:solidFill>
                  <a:schemeClr val="tx1"/>
                </a:solidFill>
                <a:latin typeface="+mj-lt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+mj-lt"/>
              </a:rPr>
              <a:t>for building </a:t>
            </a:r>
            <a:r>
              <a:rPr lang="en-US" sz="2400" dirty="0" smtClean="0">
                <a:solidFill>
                  <a:schemeClr val="tx1"/>
                </a:solidFill>
                <a:latin typeface="+mj-lt"/>
              </a:rPr>
              <a:t>software, it </a:t>
            </a:r>
            <a:r>
              <a:rPr lang="en-US" sz="2400" dirty="0">
                <a:solidFill>
                  <a:schemeClr val="tx1"/>
                </a:solidFill>
                <a:latin typeface="+mj-lt"/>
              </a:rPr>
              <a:t>encompasses </a:t>
            </a:r>
            <a:r>
              <a:rPr lang="en-US" sz="2400" b="1" dirty="0">
                <a:solidFill>
                  <a:schemeClr val="tx1"/>
                </a:solidFill>
                <a:latin typeface="+mj-lt"/>
              </a:rPr>
              <a:t>many tasks</a:t>
            </a:r>
            <a:r>
              <a:rPr lang="en-US" sz="2400" dirty="0">
                <a:solidFill>
                  <a:schemeClr val="tx1"/>
                </a:solidFill>
                <a:latin typeface="+mj-lt"/>
              </a:rPr>
              <a:t> including communication, requirement analysis, design modeling, program construction, testing and support</a:t>
            </a:r>
            <a:endParaRPr lang="en-IN" sz="24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9" name="Rectangular Callout 8"/>
          <p:cNvSpPr/>
          <p:nvPr/>
        </p:nvSpPr>
        <p:spPr>
          <a:xfrm>
            <a:off x="323850" y="939801"/>
            <a:ext cx="8991600" cy="1717706"/>
          </a:xfrm>
          <a:prstGeom prst="wedgeRectCallout">
            <a:avLst>
              <a:gd name="adj1" fmla="val -21888"/>
              <a:gd name="adj2" fmla="val 106551"/>
            </a:avLst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IN" sz="2400" dirty="0">
                <a:solidFill>
                  <a:schemeClr val="tx1"/>
                </a:solidFill>
                <a:latin typeface="+mj-lt"/>
              </a:rPr>
              <a:t>Software Engineering Tools </a:t>
            </a:r>
            <a:r>
              <a:rPr lang="en-IN" sz="2400" b="1" dirty="0">
                <a:solidFill>
                  <a:schemeClr val="tx1"/>
                </a:solidFill>
                <a:latin typeface="+mj-lt"/>
              </a:rPr>
              <a:t>allows automation of activities </a:t>
            </a:r>
            <a:r>
              <a:rPr lang="en-IN" sz="2400" dirty="0">
                <a:solidFill>
                  <a:schemeClr val="tx1"/>
                </a:solidFill>
                <a:latin typeface="+mj-lt"/>
              </a:rPr>
              <a:t>which helps to perform systematic </a:t>
            </a:r>
            <a:r>
              <a:rPr lang="en-IN" sz="2400" dirty="0" smtClean="0">
                <a:solidFill>
                  <a:schemeClr val="tx1"/>
                </a:solidFill>
                <a:latin typeface="+mj-lt"/>
              </a:rPr>
              <a:t>activities. A </a:t>
            </a:r>
            <a:r>
              <a:rPr lang="en-IN" sz="2400" dirty="0">
                <a:solidFill>
                  <a:schemeClr val="tx1"/>
                </a:solidFill>
                <a:latin typeface="+mj-lt"/>
              </a:rPr>
              <a:t>system for the support of software development, called </a:t>
            </a:r>
            <a:r>
              <a:rPr lang="en-IN" sz="2400" b="1" dirty="0">
                <a:solidFill>
                  <a:schemeClr val="tx1"/>
                </a:solidFill>
                <a:latin typeface="+mj-lt"/>
              </a:rPr>
              <a:t>computer-aided software engineering </a:t>
            </a:r>
            <a:r>
              <a:rPr lang="en-IN" sz="2400" dirty="0">
                <a:solidFill>
                  <a:schemeClr val="tx1"/>
                </a:solidFill>
                <a:latin typeface="+mj-lt"/>
              </a:rPr>
              <a:t>(CASE</a:t>
            </a:r>
            <a:r>
              <a:rPr lang="en-IN" sz="2400" dirty="0" smtClean="0">
                <a:solidFill>
                  <a:schemeClr val="tx1"/>
                </a:solidFill>
                <a:latin typeface="+mj-lt"/>
              </a:rPr>
              <a:t>). </a:t>
            </a:r>
            <a:r>
              <a:rPr lang="en-IN" sz="2400" b="1" dirty="0" smtClean="0">
                <a:solidFill>
                  <a:schemeClr val="accent6"/>
                </a:solidFill>
                <a:latin typeface="+mj-lt"/>
              </a:rPr>
              <a:t>Examples</a:t>
            </a:r>
            <a:r>
              <a:rPr lang="en-IN" sz="2400" b="1" dirty="0" smtClean="0">
                <a:solidFill>
                  <a:schemeClr val="tx1"/>
                </a:solidFill>
                <a:latin typeface="+mj-lt"/>
              </a:rPr>
              <a:t>: </a:t>
            </a:r>
            <a:r>
              <a:rPr lang="en-IN" sz="2400" dirty="0" smtClean="0">
                <a:solidFill>
                  <a:schemeClr val="tx1"/>
                </a:solidFill>
                <a:latin typeface="+mj-lt"/>
              </a:rPr>
              <a:t>Testing </a:t>
            </a:r>
            <a:r>
              <a:rPr lang="en-IN" sz="2400" dirty="0">
                <a:solidFill>
                  <a:schemeClr val="tx1"/>
                </a:solidFill>
                <a:latin typeface="+mj-lt"/>
              </a:rPr>
              <a:t>Tools, Bug/Issue Tracking Tools etc</a:t>
            </a:r>
            <a:r>
              <a:rPr lang="en-IN" sz="2400" dirty="0" smtClean="0">
                <a:solidFill>
                  <a:schemeClr val="tx1"/>
                </a:solidFill>
                <a:latin typeface="+mj-lt"/>
              </a:rPr>
              <a:t>…</a:t>
            </a:r>
            <a:endParaRPr lang="en-IN" sz="2400" dirty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057980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Engineering Layered </a:t>
            </a:r>
            <a:r>
              <a:rPr lang="en-US" dirty="0" smtClean="0"/>
              <a:t>Approach Cont.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277584" y="1400869"/>
            <a:ext cx="11696700" cy="2129971"/>
          </a:xfrm>
        </p:spPr>
        <p:txBody>
          <a:bodyPr>
            <a:normAutofit/>
          </a:bodyPr>
          <a:lstStyle/>
          <a:p>
            <a:r>
              <a:rPr lang="en-US" dirty="0" smtClean="0"/>
              <a:t>Main principle of Software Engineering is Quality Focus.</a:t>
            </a:r>
          </a:p>
          <a:p>
            <a:r>
              <a:rPr lang="en-US" dirty="0" smtClean="0"/>
              <a:t>An </a:t>
            </a:r>
            <a:r>
              <a:rPr lang="en-US" b="1" dirty="0">
                <a:solidFill>
                  <a:schemeClr val="accent6"/>
                </a:solidFill>
              </a:rPr>
              <a:t>engineering </a:t>
            </a:r>
            <a:r>
              <a:rPr lang="en-US" b="1" dirty="0" smtClean="0">
                <a:solidFill>
                  <a:schemeClr val="accent6"/>
                </a:solidFill>
              </a:rPr>
              <a:t>approach </a:t>
            </a:r>
            <a:r>
              <a:rPr lang="en-US" dirty="0"/>
              <a:t>must have a </a:t>
            </a:r>
            <a:r>
              <a:rPr lang="en-US" b="1" dirty="0"/>
              <a:t>focus on </a:t>
            </a:r>
            <a:r>
              <a:rPr lang="en-US" b="1" dirty="0" smtClean="0"/>
              <a:t>quality</a:t>
            </a:r>
            <a:r>
              <a:rPr lang="en-US" dirty="0" smtClean="0"/>
              <a:t>. </a:t>
            </a:r>
          </a:p>
          <a:p>
            <a:r>
              <a:rPr lang="en-US" dirty="0" smtClean="0"/>
              <a:t>Total Quality Management </a:t>
            </a:r>
            <a:r>
              <a:rPr lang="en-US" b="1" dirty="0" smtClean="0"/>
              <a:t>(TQM)</a:t>
            </a:r>
            <a:r>
              <a:rPr lang="en-US" dirty="0" smtClean="0"/>
              <a:t>, </a:t>
            </a:r>
            <a:r>
              <a:rPr lang="en-US" b="1" dirty="0" smtClean="0"/>
              <a:t>Six </a:t>
            </a:r>
            <a:r>
              <a:rPr lang="en-US" b="1" dirty="0"/>
              <a:t>Sigma</a:t>
            </a:r>
            <a:r>
              <a:rPr lang="en-US" dirty="0"/>
              <a:t>, </a:t>
            </a:r>
            <a:r>
              <a:rPr lang="en-US" b="1" dirty="0"/>
              <a:t>ISO </a:t>
            </a:r>
            <a:r>
              <a:rPr lang="en-US" dirty="0"/>
              <a:t>9001, </a:t>
            </a:r>
            <a:r>
              <a:rPr lang="en-US" dirty="0" smtClean="0"/>
              <a:t>ISO </a:t>
            </a:r>
            <a:r>
              <a:rPr lang="en-US" dirty="0"/>
              <a:t>9000-3, CAPABILITY MATURITY MODEL </a:t>
            </a:r>
            <a:r>
              <a:rPr lang="en-US" b="1" dirty="0"/>
              <a:t>(CMM)</a:t>
            </a:r>
            <a:r>
              <a:rPr lang="en-US" dirty="0"/>
              <a:t>, </a:t>
            </a:r>
            <a:r>
              <a:rPr lang="en-US" b="1" dirty="0"/>
              <a:t>CMMI</a:t>
            </a:r>
            <a:r>
              <a:rPr lang="en-US" dirty="0"/>
              <a:t> </a:t>
            </a:r>
            <a:r>
              <a:rPr lang="en-US" dirty="0" smtClean="0"/>
              <a:t>&amp; similar approaches encourages </a:t>
            </a:r>
            <a:r>
              <a:rPr lang="en-US" dirty="0"/>
              <a:t>a continuous process improvement </a:t>
            </a:r>
            <a:r>
              <a:rPr lang="en-US" dirty="0" smtClean="0"/>
              <a:t>culture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95546" y="840256"/>
            <a:ext cx="2215425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chemeClr val="bg1"/>
                </a:solidFill>
              </a:rPr>
              <a:t>Quality</a:t>
            </a:r>
            <a:endParaRPr lang="en-US" sz="2400" b="1" dirty="0">
              <a:solidFill>
                <a:schemeClr val="bg1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2479496" y="1301921"/>
            <a:ext cx="6992050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8037964" y="391343"/>
            <a:ext cx="442244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Software Engineering is a layered technology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307064" y="4066704"/>
            <a:ext cx="11667220" cy="14740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300" dirty="0" smtClean="0">
                <a:solidFill>
                  <a:srgbClr val="000000"/>
                </a:solidFill>
              </a:rPr>
              <a:t>It is a foundation of Software Engineering, It is the glue the holds the technology </a:t>
            </a:r>
            <a:r>
              <a:rPr lang="en-US" sz="2300" dirty="0">
                <a:solidFill>
                  <a:srgbClr val="000000"/>
                </a:solidFill>
              </a:rPr>
              <a:t>layers together and enables logical and timely development of computer software.</a:t>
            </a:r>
            <a:endParaRPr lang="en-US" sz="2300" dirty="0" smtClean="0">
              <a:solidFill>
                <a:srgbClr val="000000"/>
              </a:solidFill>
            </a:endParaRPr>
          </a:p>
          <a:p>
            <a:r>
              <a:rPr lang="en-US" sz="2300" dirty="0" smtClean="0"/>
              <a:t>It </a:t>
            </a:r>
            <a:r>
              <a:rPr lang="en-US" sz="2300" b="1" dirty="0" smtClean="0"/>
              <a:t>defines</a:t>
            </a:r>
            <a:r>
              <a:rPr lang="en-US" sz="2300" dirty="0" smtClean="0"/>
              <a:t> a </a:t>
            </a:r>
            <a:r>
              <a:rPr lang="en-US" sz="2300" b="1" dirty="0" smtClean="0"/>
              <a:t>framework </a:t>
            </a:r>
            <a:r>
              <a:rPr lang="en-US" sz="2300" dirty="0" smtClean="0"/>
              <a:t>with activities for effective delivery of software engineering technology</a:t>
            </a:r>
          </a:p>
          <a:p>
            <a:r>
              <a:rPr lang="en-US" sz="2300" dirty="0" smtClean="0"/>
              <a:t>It establish the context in which </a:t>
            </a:r>
            <a:r>
              <a:rPr lang="en-US" sz="2300" dirty="0"/>
              <a:t>technical methods are applied, work </a:t>
            </a:r>
            <a:r>
              <a:rPr lang="en-US" sz="2300" dirty="0" smtClean="0"/>
              <a:t>products (</a:t>
            </a:r>
            <a:r>
              <a:rPr lang="en-US" sz="2300" dirty="0"/>
              <a:t>models, documents, data, reports, forms, etc.) are produced, milestones are established</a:t>
            </a:r>
            <a:r>
              <a:rPr lang="en-US" sz="2300" dirty="0" smtClean="0"/>
              <a:t>, quality </a:t>
            </a:r>
            <a:r>
              <a:rPr lang="en-US" sz="2300" dirty="0"/>
              <a:t>is ensured, and change is properly managed.</a:t>
            </a:r>
            <a:endParaRPr lang="en-US" sz="2300" dirty="0" smtClean="0"/>
          </a:p>
        </p:txBody>
      </p:sp>
      <p:sp>
        <p:nvSpPr>
          <p:cNvPr id="9" name="Rectangle 8"/>
          <p:cNvSpPr/>
          <p:nvPr/>
        </p:nvSpPr>
        <p:spPr>
          <a:xfrm>
            <a:off x="307064" y="3475106"/>
            <a:ext cx="2203907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chemeClr val="bg1"/>
                </a:solidFill>
              </a:rPr>
              <a:t>Process Layer</a:t>
            </a:r>
            <a:endParaRPr lang="en-US" sz="2400" b="1" dirty="0">
              <a:solidFill>
                <a:schemeClr val="bg1"/>
              </a:solidFill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2491014" y="3936771"/>
            <a:ext cx="9367157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5366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Engineering Layered Approach Cont.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292099" y="1474984"/>
            <a:ext cx="11566072" cy="1375229"/>
          </a:xfrm>
        </p:spPr>
        <p:txBody>
          <a:bodyPr>
            <a:normAutofit/>
          </a:bodyPr>
          <a:lstStyle/>
          <a:p>
            <a:r>
              <a:rPr lang="en-US" dirty="0" smtClean="0"/>
              <a:t>It provides </a:t>
            </a:r>
            <a:r>
              <a:rPr lang="en-US" b="1" dirty="0">
                <a:solidFill>
                  <a:srgbClr val="C00000"/>
                </a:solidFill>
              </a:rPr>
              <a:t>technical </a:t>
            </a:r>
            <a:r>
              <a:rPr lang="en-US" b="1" dirty="0" smtClean="0">
                <a:solidFill>
                  <a:srgbClr val="C00000"/>
                </a:solidFill>
              </a:rPr>
              <a:t>how-</a:t>
            </a:r>
            <a:r>
              <a:rPr lang="en-US" b="1" dirty="0" err="1" smtClean="0">
                <a:solidFill>
                  <a:srgbClr val="C00000"/>
                </a:solidFill>
              </a:rPr>
              <a:t>to’s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for </a:t>
            </a:r>
            <a:r>
              <a:rPr lang="en-US" dirty="0"/>
              <a:t>building software</a:t>
            </a:r>
          </a:p>
          <a:p>
            <a:r>
              <a:rPr lang="en-US" dirty="0" smtClean="0"/>
              <a:t>It </a:t>
            </a:r>
            <a:r>
              <a:rPr lang="en-US" b="1" dirty="0"/>
              <a:t>encompasses many tasks </a:t>
            </a:r>
            <a:r>
              <a:rPr lang="en-US" dirty="0"/>
              <a:t>including communication, requirement analysis, design modeling, program construction, testing and </a:t>
            </a:r>
            <a:r>
              <a:rPr lang="en-US" dirty="0" smtClean="0"/>
              <a:t>support</a:t>
            </a:r>
            <a:endParaRPr lang="en-US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292099" y="3574893"/>
            <a:ext cx="11566072" cy="27030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Software engineering tools provide automated or </a:t>
            </a:r>
            <a:r>
              <a:rPr lang="en-US" dirty="0" err="1"/>
              <a:t>semiautomated</a:t>
            </a:r>
            <a:r>
              <a:rPr lang="en-US" dirty="0"/>
              <a:t> support for the process and the methods</a:t>
            </a:r>
          </a:p>
          <a:p>
            <a:r>
              <a:rPr lang="en-US" dirty="0" smtClean="0"/>
              <a:t>Computer‐aided software engineering (</a:t>
            </a:r>
            <a:r>
              <a:rPr lang="en-US" b="1" dirty="0" smtClean="0">
                <a:solidFill>
                  <a:srgbClr val="C00000"/>
                </a:solidFill>
              </a:rPr>
              <a:t>CASE</a:t>
            </a:r>
            <a:r>
              <a:rPr lang="en-US" dirty="0" smtClean="0"/>
              <a:t>) is the scientific application of a </a:t>
            </a:r>
            <a:r>
              <a:rPr lang="en-US" b="1" dirty="0" smtClean="0">
                <a:solidFill>
                  <a:srgbClr val="C00000"/>
                </a:solidFill>
              </a:rPr>
              <a:t>set of tools </a:t>
            </a:r>
            <a:r>
              <a:rPr lang="en-US" dirty="0" smtClean="0"/>
              <a:t>and </a:t>
            </a:r>
            <a:r>
              <a:rPr lang="en-US" b="1" dirty="0" smtClean="0">
                <a:solidFill>
                  <a:srgbClr val="C00000"/>
                </a:solidFill>
              </a:rPr>
              <a:t>methods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to a software system which is meant to </a:t>
            </a:r>
            <a:r>
              <a:rPr lang="en-US" b="1" dirty="0" smtClean="0"/>
              <a:t>result in high‐quality, defect‐free, and maintainable software products</a:t>
            </a:r>
            <a:r>
              <a:rPr lang="en-US" dirty="0" smtClean="0"/>
              <a:t>.</a:t>
            </a:r>
          </a:p>
          <a:p>
            <a:r>
              <a:rPr lang="en-US" dirty="0" smtClean="0"/>
              <a:t>CASE tools automate many of the activities involved in various life cycle phases.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295546" y="885342"/>
            <a:ext cx="2215425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Method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2479496" y="1347007"/>
            <a:ext cx="6828277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295546" y="2969900"/>
            <a:ext cx="2215425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Tools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479496" y="3431565"/>
            <a:ext cx="9378675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4806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6" grpId="0" animBg="1"/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Process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131180" y="909711"/>
            <a:ext cx="11929641" cy="5654862"/>
          </a:xfrm>
        </p:spPr>
        <p:txBody>
          <a:bodyPr/>
          <a:lstStyle/>
          <a:p>
            <a:r>
              <a:rPr lang="en-US" dirty="0" smtClean="0"/>
              <a:t>A </a:t>
            </a:r>
            <a:r>
              <a:rPr lang="en-US" b="1" dirty="0" smtClean="0">
                <a:solidFill>
                  <a:srgbClr val="C00000"/>
                </a:solidFill>
              </a:rPr>
              <a:t>process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is a collection of </a:t>
            </a:r>
            <a:r>
              <a:rPr lang="en-US" b="1" dirty="0" smtClean="0"/>
              <a:t>activities</a:t>
            </a:r>
            <a:r>
              <a:rPr lang="en-US" dirty="0" smtClean="0"/>
              <a:t>, </a:t>
            </a:r>
            <a:r>
              <a:rPr lang="en-US" b="1" dirty="0" smtClean="0"/>
              <a:t>actions </a:t>
            </a:r>
            <a:r>
              <a:rPr lang="en-US" dirty="0" smtClean="0"/>
              <a:t>and </a:t>
            </a:r>
            <a:r>
              <a:rPr lang="en-US" b="1" dirty="0" smtClean="0"/>
              <a:t>tasks</a:t>
            </a:r>
            <a:r>
              <a:rPr lang="en-US" dirty="0" smtClean="0"/>
              <a:t> that are performed when some work product is to be created</a:t>
            </a:r>
          </a:p>
          <a:p>
            <a:r>
              <a:rPr lang="en-US" dirty="0" smtClean="0"/>
              <a:t>A process is not a </a:t>
            </a:r>
            <a:r>
              <a:rPr lang="en-US" b="1" dirty="0" smtClean="0">
                <a:solidFill>
                  <a:srgbClr val="C00000"/>
                </a:solidFill>
              </a:rPr>
              <a:t>rigid prescription</a:t>
            </a:r>
            <a:r>
              <a:rPr lang="en-US" dirty="0" smtClean="0"/>
              <a:t> for how to build the software, rather it is </a:t>
            </a:r>
            <a:r>
              <a:rPr lang="en-US" b="1" dirty="0" smtClean="0">
                <a:solidFill>
                  <a:srgbClr val="C00000"/>
                </a:solidFill>
              </a:rPr>
              <a:t>adaptable approach</a:t>
            </a:r>
            <a:r>
              <a:rPr lang="en-US" dirty="0" smtClean="0"/>
              <a:t> that enables the people doing the work to </a:t>
            </a:r>
            <a:r>
              <a:rPr lang="en-US" b="1" dirty="0" smtClean="0">
                <a:solidFill>
                  <a:srgbClr val="C00000"/>
                </a:solidFill>
              </a:rPr>
              <a:t>pick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and </a:t>
            </a:r>
            <a:r>
              <a:rPr lang="en-US" b="1" dirty="0" smtClean="0">
                <a:solidFill>
                  <a:srgbClr val="C00000"/>
                </a:solidFill>
              </a:rPr>
              <a:t>choose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the </a:t>
            </a:r>
            <a:r>
              <a:rPr lang="en-US" b="1" dirty="0" smtClean="0">
                <a:solidFill>
                  <a:srgbClr val="C00000"/>
                </a:solidFill>
              </a:rPr>
              <a:t>appropriate set of work actions </a:t>
            </a:r>
            <a:r>
              <a:rPr lang="en-US" dirty="0" smtClean="0"/>
              <a:t>and tasks</a:t>
            </a:r>
          </a:p>
          <a:p>
            <a:r>
              <a:rPr lang="en-US" dirty="0"/>
              <a:t>An </a:t>
            </a:r>
            <a:r>
              <a:rPr lang="en-US" b="1" dirty="0">
                <a:solidFill>
                  <a:schemeClr val="accent6"/>
                </a:solidFill>
              </a:rPr>
              <a:t>activity</a:t>
            </a:r>
            <a:r>
              <a:rPr lang="en-US" dirty="0"/>
              <a:t> try to </a:t>
            </a:r>
            <a:r>
              <a:rPr lang="en-US" b="1" dirty="0">
                <a:solidFill>
                  <a:schemeClr val="accent6"/>
                </a:solidFill>
              </a:rPr>
              <a:t>achieve</a:t>
            </a:r>
            <a:r>
              <a:rPr lang="en-US" dirty="0"/>
              <a:t> a </a:t>
            </a:r>
            <a:r>
              <a:rPr lang="en-US" b="1" dirty="0">
                <a:solidFill>
                  <a:schemeClr val="accent6"/>
                </a:solidFill>
              </a:rPr>
              <a:t>broad objective</a:t>
            </a:r>
            <a:r>
              <a:rPr lang="en-US" dirty="0"/>
              <a:t> (e.g., communication with stakeholders) </a:t>
            </a:r>
          </a:p>
          <a:p>
            <a:r>
              <a:rPr lang="en-US" dirty="0"/>
              <a:t>An </a:t>
            </a:r>
            <a:r>
              <a:rPr lang="en-US" b="1" dirty="0">
                <a:solidFill>
                  <a:schemeClr val="accent6"/>
                </a:solidFill>
              </a:rPr>
              <a:t>activity</a:t>
            </a:r>
            <a:r>
              <a:rPr lang="en-US" dirty="0"/>
              <a:t> is </a:t>
            </a:r>
            <a:r>
              <a:rPr lang="en-US" b="1" dirty="0">
                <a:solidFill>
                  <a:schemeClr val="accent6"/>
                </a:solidFill>
              </a:rPr>
              <a:t>applied</a:t>
            </a:r>
            <a:r>
              <a:rPr lang="en-US" dirty="0"/>
              <a:t> regardless of the </a:t>
            </a:r>
            <a:r>
              <a:rPr lang="en-US" b="1" dirty="0"/>
              <a:t>application domain</a:t>
            </a:r>
            <a:r>
              <a:rPr lang="en-US" dirty="0"/>
              <a:t>, </a:t>
            </a:r>
            <a:r>
              <a:rPr lang="en-US" b="1" dirty="0"/>
              <a:t>size of the project</a:t>
            </a:r>
            <a:r>
              <a:rPr lang="en-US" dirty="0"/>
              <a:t>, </a:t>
            </a:r>
            <a:r>
              <a:rPr lang="en-US" b="1" dirty="0"/>
              <a:t>complexity of the effort</a:t>
            </a:r>
            <a:r>
              <a:rPr lang="en-US" dirty="0"/>
              <a:t>, or </a:t>
            </a:r>
            <a:r>
              <a:rPr lang="en-US" b="1" dirty="0"/>
              <a:t>degree of accuracy</a:t>
            </a:r>
            <a:r>
              <a:rPr lang="en-US" dirty="0"/>
              <a:t> with which software engineering is to be applied.</a:t>
            </a:r>
          </a:p>
          <a:p>
            <a:r>
              <a:rPr lang="en-US" dirty="0" smtClean="0"/>
              <a:t>An </a:t>
            </a:r>
            <a:r>
              <a:rPr lang="en-US" b="1" dirty="0">
                <a:solidFill>
                  <a:schemeClr val="accent6"/>
                </a:solidFill>
              </a:rPr>
              <a:t>action</a:t>
            </a:r>
            <a:r>
              <a:rPr lang="en-US" dirty="0"/>
              <a:t> (e.g., architectural design) </a:t>
            </a:r>
            <a:r>
              <a:rPr lang="en-US" b="1" dirty="0">
                <a:solidFill>
                  <a:schemeClr val="accent6"/>
                </a:solidFill>
              </a:rPr>
              <a:t>encompasses</a:t>
            </a:r>
            <a:r>
              <a:rPr lang="en-US" dirty="0"/>
              <a:t> a </a:t>
            </a:r>
            <a:r>
              <a:rPr lang="en-US" b="1" dirty="0">
                <a:solidFill>
                  <a:schemeClr val="accent6"/>
                </a:solidFill>
              </a:rPr>
              <a:t>set of tasks</a:t>
            </a:r>
            <a:r>
              <a:rPr lang="en-US" dirty="0"/>
              <a:t> that </a:t>
            </a:r>
            <a:r>
              <a:rPr lang="en-US" b="1" dirty="0"/>
              <a:t>produce</a:t>
            </a:r>
            <a:r>
              <a:rPr lang="en-US" dirty="0"/>
              <a:t> a major </a:t>
            </a:r>
            <a:r>
              <a:rPr lang="en-US" b="1" dirty="0"/>
              <a:t>work product</a:t>
            </a:r>
            <a:r>
              <a:rPr lang="en-US" dirty="0"/>
              <a:t> (e.g., an architectural </a:t>
            </a:r>
            <a:r>
              <a:rPr lang="en-US" dirty="0" smtClean="0"/>
              <a:t>design model</a:t>
            </a:r>
            <a:r>
              <a:rPr lang="en-US" dirty="0"/>
              <a:t>).</a:t>
            </a:r>
          </a:p>
          <a:p>
            <a:r>
              <a:rPr lang="en-US" dirty="0"/>
              <a:t>A </a:t>
            </a:r>
            <a:r>
              <a:rPr lang="en-US" b="1" dirty="0">
                <a:solidFill>
                  <a:schemeClr val="accent6"/>
                </a:solidFill>
              </a:rPr>
              <a:t>task</a:t>
            </a:r>
            <a:r>
              <a:rPr lang="en-US" dirty="0"/>
              <a:t> </a:t>
            </a:r>
            <a:r>
              <a:rPr lang="en-US" b="1" dirty="0"/>
              <a:t>focuses</a:t>
            </a:r>
            <a:r>
              <a:rPr lang="en-US" dirty="0"/>
              <a:t> on a </a:t>
            </a:r>
            <a:r>
              <a:rPr lang="en-US" b="1" dirty="0">
                <a:solidFill>
                  <a:schemeClr val="accent6"/>
                </a:solidFill>
              </a:rPr>
              <a:t>small, but well-defined objective</a:t>
            </a:r>
            <a:r>
              <a:rPr lang="en-US" dirty="0"/>
              <a:t> (e.g., conducting a unit test) that </a:t>
            </a:r>
            <a:r>
              <a:rPr lang="en-US" b="1" dirty="0"/>
              <a:t>produces</a:t>
            </a:r>
            <a:r>
              <a:rPr lang="en-US" dirty="0"/>
              <a:t> a </a:t>
            </a:r>
            <a:r>
              <a:rPr lang="en-US" b="1" dirty="0"/>
              <a:t>noticeable outcome</a:t>
            </a:r>
            <a:r>
              <a:rPr lang="en-US" dirty="0" smtClean="0"/>
              <a:t>.</a:t>
            </a:r>
          </a:p>
          <a:p>
            <a:r>
              <a:rPr lang="en-US" b="1" dirty="0">
                <a:solidFill>
                  <a:srgbClr val="C00000"/>
                </a:solidFill>
              </a:rPr>
              <a:t>Each of these </a:t>
            </a:r>
            <a:r>
              <a:rPr lang="en-US" dirty="0"/>
              <a:t>activities, actions &amp; tasks </a:t>
            </a:r>
            <a:r>
              <a:rPr lang="en-US" b="1" dirty="0">
                <a:solidFill>
                  <a:srgbClr val="C00000"/>
                </a:solidFill>
              </a:rPr>
              <a:t>reside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b="1" dirty="0">
                <a:solidFill>
                  <a:srgbClr val="C00000"/>
                </a:solidFill>
              </a:rPr>
              <a:t>within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a </a:t>
            </a:r>
            <a:r>
              <a:rPr lang="en-US" b="1" dirty="0">
                <a:solidFill>
                  <a:srgbClr val="C00000"/>
                </a:solidFill>
              </a:rPr>
              <a:t>framework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or model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0122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Process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199188" y="818314"/>
            <a:ext cx="5592127" cy="3005262"/>
          </a:xfrm>
        </p:spPr>
        <p:txBody>
          <a:bodyPr/>
          <a:lstStyle/>
          <a:p>
            <a:r>
              <a:rPr lang="en-US" dirty="0" smtClean="0"/>
              <a:t>Figure represents “The Software Process”</a:t>
            </a:r>
          </a:p>
          <a:p>
            <a:r>
              <a:rPr lang="en-US" dirty="0" smtClean="0"/>
              <a:t>Each framework </a:t>
            </a:r>
            <a:r>
              <a:rPr lang="en-US" b="1" dirty="0" smtClean="0">
                <a:solidFill>
                  <a:srgbClr val="C00000"/>
                </a:solidFill>
              </a:rPr>
              <a:t>activity is populated </a:t>
            </a:r>
            <a:r>
              <a:rPr lang="en-US" dirty="0" smtClean="0"/>
              <a:t>by </a:t>
            </a:r>
            <a:r>
              <a:rPr lang="en-US" b="1" dirty="0" smtClean="0">
                <a:solidFill>
                  <a:srgbClr val="C00000"/>
                </a:solidFill>
              </a:rPr>
              <a:t>set of</a:t>
            </a:r>
            <a:r>
              <a:rPr lang="en-US" dirty="0" smtClean="0"/>
              <a:t> software engineering </a:t>
            </a:r>
            <a:r>
              <a:rPr lang="en-US" b="1" dirty="0" smtClean="0">
                <a:solidFill>
                  <a:srgbClr val="C00000"/>
                </a:solidFill>
              </a:rPr>
              <a:t>actions</a:t>
            </a:r>
          </a:p>
          <a:p>
            <a:r>
              <a:rPr lang="en-US" dirty="0" smtClean="0"/>
              <a:t>Each software engineering </a:t>
            </a:r>
            <a:r>
              <a:rPr lang="en-US" b="1" dirty="0" smtClean="0">
                <a:solidFill>
                  <a:srgbClr val="C00000"/>
                </a:solidFill>
              </a:rPr>
              <a:t>action is defined by</a:t>
            </a:r>
            <a:r>
              <a:rPr lang="en-US" dirty="0" smtClean="0"/>
              <a:t> a </a:t>
            </a:r>
            <a:r>
              <a:rPr lang="en-US" b="1" dirty="0" smtClean="0">
                <a:solidFill>
                  <a:srgbClr val="C00000"/>
                </a:solidFill>
              </a:rPr>
              <a:t>task</a:t>
            </a:r>
            <a:r>
              <a:rPr lang="en-US" dirty="0" smtClean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set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that identifies work to be completed, product to be produced, quality assurance points &amp; milestones to indicate progress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6266870" y="57697"/>
            <a:ext cx="5761803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  <a:ea typeface="+mj-ea"/>
                <a:cs typeface="+mj-cs"/>
              </a:rPr>
              <a:t>Software</a:t>
            </a:r>
            <a:r>
              <a:rPr lang="en-US" dirty="0"/>
              <a:t> </a:t>
            </a:r>
            <a:r>
              <a:rPr lang="en-US" sz="34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  <a:ea typeface="+mj-ea"/>
                <a:cs typeface="+mj-cs"/>
              </a:rPr>
              <a:t>Process</a:t>
            </a:r>
            <a:r>
              <a:rPr lang="en-US" dirty="0"/>
              <a:t> </a:t>
            </a:r>
            <a:r>
              <a:rPr lang="en-US" sz="34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  <a:ea typeface="+mj-ea"/>
                <a:cs typeface="+mj-cs"/>
              </a:rPr>
              <a:t>Framework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6743424" y="863445"/>
            <a:ext cx="5143777" cy="4805836"/>
          </a:xfrm>
          <a:prstGeom prst="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936377" y="1205255"/>
            <a:ext cx="4807133" cy="4372585"/>
          </a:xfrm>
          <a:prstGeom prst="rect">
            <a:avLst/>
          </a:prstGeom>
          <a:solidFill>
            <a:srgbClr val="EEEEEE"/>
          </a:solidFill>
          <a:ln w="19050">
            <a:solidFill>
              <a:schemeClr val="accent6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6266870" y="2278541"/>
            <a:ext cx="553998" cy="2281074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2400" b="1" dirty="0" smtClean="0"/>
              <a:t>Software Process</a:t>
            </a:r>
            <a:endParaRPr lang="en-US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6743425" y="875112"/>
            <a:ext cx="20091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Process framework</a:t>
            </a:r>
            <a:endParaRPr lang="en-US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6943275" y="1229986"/>
            <a:ext cx="1974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Umbrella activities</a:t>
            </a:r>
            <a:endParaRPr lang="en-US" b="1" dirty="0"/>
          </a:p>
        </p:txBody>
      </p:sp>
      <p:sp>
        <p:nvSpPr>
          <p:cNvPr id="11" name="Rectangle 10"/>
          <p:cNvSpPr/>
          <p:nvPr/>
        </p:nvSpPr>
        <p:spPr>
          <a:xfrm>
            <a:off x="7123616" y="1625444"/>
            <a:ext cx="4445497" cy="2769326"/>
          </a:xfrm>
          <a:prstGeom prst="rect">
            <a:avLst/>
          </a:prstGeom>
          <a:ln w="19050">
            <a:solidFill>
              <a:schemeClr val="accent6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7206757" y="1648835"/>
            <a:ext cx="2306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framework activity #1</a:t>
            </a:r>
            <a:endParaRPr lang="en-US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7483701" y="1941912"/>
            <a:ext cx="3334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Software Engineering action #1.1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7492892" y="3134986"/>
            <a:ext cx="3272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Software Engineering action #1.k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7827904" y="2246712"/>
            <a:ext cx="10230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Task Sets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7885615" y="2551512"/>
            <a:ext cx="3433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…</a:t>
            </a:r>
            <a:br>
              <a:rPr lang="en-US" dirty="0" smtClean="0"/>
            </a:br>
            <a:r>
              <a:rPr lang="en-US" dirty="0" smtClean="0"/>
              <a:t>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09415" y="3454244"/>
            <a:ext cx="10230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Task Sets</a:t>
            </a:r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7867126" y="3759044"/>
            <a:ext cx="3433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…</a:t>
            </a:r>
            <a:br>
              <a:rPr lang="en-US" dirty="0" smtClean="0"/>
            </a:br>
            <a:r>
              <a:rPr lang="en-US" dirty="0" smtClean="0"/>
              <a:t>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04815" y="2282270"/>
            <a:ext cx="2417486" cy="841048"/>
          </a:xfrm>
          <a:prstGeom prst="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dk1"/>
                </a:solidFill>
              </a:rPr>
              <a:t>Work tasks</a:t>
            </a:r>
          </a:p>
          <a:p>
            <a:r>
              <a:rPr lang="en-US" sz="1600" b="1" dirty="0">
                <a:solidFill>
                  <a:schemeClr val="dk1"/>
                </a:solidFill>
              </a:rPr>
              <a:t>Work products</a:t>
            </a:r>
          </a:p>
          <a:p>
            <a:r>
              <a:rPr lang="en-US" sz="1600" b="1" dirty="0">
                <a:solidFill>
                  <a:schemeClr val="dk1"/>
                </a:solidFill>
              </a:rPr>
              <a:t>Quality assurance points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04815" y="3491255"/>
            <a:ext cx="2417486" cy="841048"/>
          </a:xfrm>
          <a:prstGeom prst="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dk1"/>
                </a:solidFill>
              </a:rPr>
              <a:t>Work tasks</a:t>
            </a:r>
          </a:p>
          <a:p>
            <a:r>
              <a:rPr lang="en-US" sz="1600" b="1" dirty="0">
                <a:solidFill>
                  <a:schemeClr val="dk1"/>
                </a:solidFill>
              </a:rPr>
              <a:t>Work products</a:t>
            </a:r>
          </a:p>
          <a:p>
            <a:r>
              <a:rPr lang="en-US" sz="1600" b="1" dirty="0">
                <a:solidFill>
                  <a:schemeClr val="dk1"/>
                </a:solidFill>
              </a:rPr>
              <a:t>Quality assurance points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23615" y="4488384"/>
            <a:ext cx="4445498" cy="893510"/>
          </a:xfrm>
          <a:prstGeom prst="rect">
            <a:avLst/>
          </a:prstGeom>
          <a:ln w="19050">
            <a:solidFill>
              <a:schemeClr val="accent6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7206756" y="4577090"/>
            <a:ext cx="2306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framework activity #n</a:t>
            </a:r>
            <a:endParaRPr lang="en-US" b="1" dirty="0"/>
          </a:p>
        </p:txBody>
      </p:sp>
      <p:cxnSp>
        <p:nvCxnSpPr>
          <p:cNvPr id="24" name="Straight Connector 23"/>
          <p:cNvCxnSpPr>
            <a:stCxn id="2" idx="0"/>
          </p:cNvCxnSpPr>
          <p:nvPr/>
        </p:nvCxnSpPr>
        <p:spPr>
          <a:xfrm>
            <a:off x="6096000" y="1"/>
            <a:ext cx="43543" cy="660980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199188" y="4032025"/>
            <a:ext cx="5592127" cy="5232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800" dirty="0"/>
              <a:t>The </a:t>
            </a:r>
            <a:r>
              <a:rPr lang="en-US" sz="2800" b="1" dirty="0">
                <a:solidFill>
                  <a:schemeClr val="accent6"/>
                </a:solidFill>
              </a:rPr>
              <a:t>purpose</a:t>
            </a:r>
            <a:r>
              <a:rPr lang="en-US" sz="2800" dirty="0">
                <a:solidFill>
                  <a:schemeClr val="accent6"/>
                </a:solidFill>
              </a:rPr>
              <a:t> </a:t>
            </a:r>
            <a:r>
              <a:rPr lang="en-US" sz="2800" dirty="0"/>
              <a:t>of software process is </a:t>
            </a:r>
          </a:p>
        </p:txBody>
      </p:sp>
      <p:sp>
        <p:nvSpPr>
          <p:cNvPr id="25" name="Content Placeholder 2"/>
          <p:cNvSpPr txBox="1">
            <a:spLocks/>
          </p:cNvSpPr>
          <p:nvPr/>
        </p:nvSpPr>
        <p:spPr>
          <a:xfrm>
            <a:off x="199189" y="4668848"/>
            <a:ext cx="5592126" cy="19409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to </a:t>
            </a:r>
            <a:r>
              <a:rPr lang="en-US" b="1" dirty="0"/>
              <a:t>deliver</a:t>
            </a:r>
            <a:r>
              <a:rPr lang="en-US" dirty="0"/>
              <a:t> software in </a:t>
            </a:r>
            <a:r>
              <a:rPr lang="en-US" b="1" dirty="0"/>
              <a:t>timely</a:t>
            </a:r>
            <a:r>
              <a:rPr lang="en-US" dirty="0"/>
              <a:t> manner and</a:t>
            </a:r>
            <a:endParaRPr lang="en-US" dirty="0" smtClean="0"/>
          </a:p>
          <a:p>
            <a:r>
              <a:rPr lang="en-US" dirty="0"/>
              <a:t>within sufficient </a:t>
            </a:r>
            <a:r>
              <a:rPr lang="en-US" b="1" dirty="0"/>
              <a:t>quality to satisfy </a:t>
            </a:r>
            <a:r>
              <a:rPr lang="en-US" dirty="0" smtClean="0"/>
              <a:t>those</a:t>
            </a:r>
          </a:p>
          <a:p>
            <a:pPr lvl="1"/>
            <a:r>
              <a:rPr lang="en-US" dirty="0"/>
              <a:t>Who has given proposal for software development </a:t>
            </a:r>
            <a:r>
              <a:rPr lang="en-US" dirty="0" smtClean="0"/>
              <a:t>and</a:t>
            </a:r>
          </a:p>
          <a:p>
            <a:pPr lvl="1"/>
            <a:r>
              <a:rPr lang="en-US" dirty="0"/>
              <a:t>Those who will use software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1896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7" grpId="0" animBg="1"/>
      <p:bldP spid="8" grpId="0"/>
      <p:bldP spid="9" grpId="0"/>
      <p:bldP spid="10" grpId="0"/>
      <p:bldP spid="11" grpId="0" animBg="1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 animBg="1"/>
      <p:bldP spid="20" grpId="0" animBg="1"/>
      <p:bldP spid="21" grpId="0" animBg="1"/>
      <p:bldP spid="22" grpId="0"/>
      <p:bldP spid="2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Process Framework </a:t>
            </a:r>
            <a:r>
              <a:rPr lang="en-US" dirty="0" smtClean="0"/>
              <a:t>Activities (</a:t>
            </a:r>
            <a:r>
              <a:rPr lang="en-US" dirty="0" smtClean="0">
                <a:solidFill>
                  <a:schemeClr val="tx2"/>
                </a:solidFill>
              </a:rPr>
              <a:t>C</a:t>
            </a:r>
            <a:r>
              <a:rPr lang="en-US" dirty="0" smtClean="0">
                <a:solidFill>
                  <a:schemeClr val="accent1"/>
                </a:solidFill>
              </a:rPr>
              <a:t>P</a:t>
            </a:r>
            <a:r>
              <a:rPr lang="en-US" dirty="0" smtClean="0">
                <a:solidFill>
                  <a:schemeClr val="accent2"/>
                </a:solidFill>
              </a:rPr>
              <a:t>M</a:t>
            </a:r>
            <a:r>
              <a:rPr lang="en-US" dirty="0" smtClean="0">
                <a:solidFill>
                  <a:schemeClr val="accent3"/>
                </a:solidFill>
              </a:rPr>
              <a:t>C</a:t>
            </a:r>
            <a:r>
              <a:rPr lang="en-US" dirty="0" smtClean="0">
                <a:solidFill>
                  <a:schemeClr val="accent4"/>
                </a:solidFill>
              </a:rPr>
              <a:t>D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28600" y="1701314"/>
            <a:ext cx="2207783" cy="154988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28600" y="1244937"/>
            <a:ext cx="2207784" cy="4616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sz="2400" b="1" dirty="0" smtClean="0"/>
              <a:t>Communication</a:t>
            </a:r>
            <a:endParaRPr lang="en-US" sz="2400" b="1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647" y="1819638"/>
            <a:ext cx="1244762" cy="124476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436383" y="1244936"/>
            <a:ext cx="3316717" cy="200625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Communication with </a:t>
            </a:r>
            <a:r>
              <a:rPr lang="en-US" sz="2400" dirty="0" smtClean="0"/>
              <a:t>Customers </a:t>
            </a:r>
            <a:r>
              <a:rPr lang="en-US" sz="2400" dirty="0"/>
              <a:t>/ </a:t>
            </a:r>
            <a:r>
              <a:rPr lang="en-US" sz="2400" dirty="0" smtClean="0"/>
              <a:t>stockholders </a:t>
            </a:r>
            <a:r>
              <a:rPr lang="en-US" sz="2400" dirty="0"/>
              <a:t>to understand project requirements </a:t>
            </a:r>
            <a:r>
              <a:rPr lang="en-US" sz="2400" dirty="0" smtClean="0"/>
              <a:t>for defining </a:t>
            </a:r>
            <a:r>
              <a:rPr lang="en-US" sz="2400" dirty="0"/>
              <a:t>software features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886450" y="1717960"/>
            <a:ext cx="1828801" cy="154988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5886451" y="1256295"/>
            <a:ext cx="1828800" cy="4616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b="1" dirty="0" smtClean="0"/>
              <a:t>Planning</a:t>
            </a:r>
            <a:endParaRPr lang="en-US" sz="2400" b="1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236154" y="1941146"/>
            <a:ext cx="1098096" cy="109809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715251" y="1261582"/>
            <a:ext cx="4305299" cy="200625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Software Project Plan which defines </a:t>
            </a:r>
            <a:r>
              <a:rPr lang="en-US" sz="2400" dirty="0"/>
              <a:t>workflow that is to </a:t>
            </a:r>
            <a:r>
              <a:rPr lang="en-US" sz="2400" dirty="0" smtClean="0"/>
              <a:t>follow.</a:t>
            </a:r>
            <a:endParaRPr lang="en-US" sz="2400" dirty="0"/>
          </a:p>
          <a:p>
            <a:pPr algn="ctr"/>
            <a:r>
              <a:rPr lang="en-US" sz="2400" dirty="0" smtClean="0"/>
              <a:t>It describes </a:t>
            </a:r>
            <a:r>
              <a:rPr lang="en-US" sz="2400" dirty="0"/>
              <a:t>technical task, </a:t>
            </a:r>
            <a:r>
              <a:rPr lang="en-US" sz="2400" dirty="0" smtClean="0"/>
              <a:t>risks, resources, product to be produced &amp; work </a:t>
            </a:r>
            <a:r>
              <a:rPr lang="en-US" sz="2400" dirty="0"/>
              <a:t>schedule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3825896"/>
            <a:ext cx="2207783" cy="154988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28600" y="3364231"/>
            <a:ext cx="2207783" cy="4616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b="1" dirty="0" smtClean="0"/>
              <a:t>Modeling</a:t>
            </a:r>
            <a:endParaRPr lang="en-US" sz="2400" b="1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480" y="4064693"/>
            <a:ext cx="1091503" cy="1091503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2436383" y="3368353"/>
            <a:ext cx="3316717" cy="200625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Creating models to understand requirements and shows design of software to achieve requirements</a:t>
            </a:r>
            <a:endParaRPr lang="en-US" sz="2400" dirty="0"/>
          </a:p>
        </p:txBody>
      </p:sp>
      <p:sp>
        <p:nvSpPr>
          <p:cNvPr id="16" name="Rectangle 15"/>
          <p:cNvSpPr/>
          <p:nvPr/>
        </p:nvSpPr>
        <p:spPr>
          <a:xfrm>
            <a:off x="5886450" y="3817142"/>
            <a:ext cx="1828801" cy="154871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5891187" y="3355477"/>
            <a:ext cx="1824064" cy="4616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b="1" dirty="0" smtClean="0"/>
              <a:t>Construction</a:t>
            </a:r>
            <a:endParaRPr lang="en-US" sz="2400" b="1" dirty="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5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4750" y="3994014"/>
            <a:ext cx="1148921" cy="1148921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7715252" y="3359145"/>
            <a:ext cx="4305298" cy="200625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Code Generation</a:t>
            </a:r>
          </a:p>
          <a:p>
            <a:pPr algn="ctr"/>
            <a:r>
              <a:rPr lang="en-US" sz="2400" dirty="0" smtClean="0"/>
              <a:t>(manual or automated)</a:t>
            </a:r>
          </a:p>
          <a:p>
            <a:pPr algn="ctr"/>
            <a:r>
              <a:rPr lang="en-US" sz="2400" dirty="0" smtClean="0"/>
              <a:t>&amp;</a:t>
            </a:r>
          </a:p>
          <a:p>
            <a:pPr algn="ctr"/>
            <a:r>
              <a:rPr lang="en-US" sz="2400" dirty="0" smtClean="0"/>
              <a:t>Testing</a:t>
            </a:r>
          </a:p>
          <a:p>
            <a:pPr algn="ctr"/>
            <a:r>
              <a:rPr lang="en-US" sz="2400" dirty="0" smtClean="0"/>
              <a:t>(to uncover errors in the code)</a:t>
            </a:r>
            <a:endParaRPr lang="en-US" sz="2400" dirty="0"/>
          </a:p>
        </p:txBody>
      </p:sp>
      <p:sp>
        <p:nvSpPr>
          <p:cNvPr id="20" name="Rectangle 19"/>
          <p:cNvSpPr/>
          <p:nvPr/>
        </p:nvSpPr>
        <p:spPr>
          <a:xfrm>
            <a:off x="2057400" y="5458763"/>
            <a:ext cx="1705707" cy="106903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6" cstate="hq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4489" y="5524465"/>
            <a:ext cx="1300711" cy="94001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228600" y="5458763"/>
            <a:ext cx="1828800" cy="10690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Deployment</a:t>
            </a:r>
            <a:endParaRPr lang="en-US" sz="2400" b="1" dirty="0"/>
          </a:p>
        </p:txBody>
      </p:sp>
      <p:sp>
        <p:nvSpPr>
          <p:cNvPr id="23" name="Rectangle 22"/>
          <p:cNvSpPr/>
          <p:nvPr/>
        </p:nvSpPr>
        <p:spPr>
          <a:xfrm>
            <a:off x="3763107" y="5458763"/>
            <a:ext cx="8257443" cy="1069033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400" dirty="0" smtClean="0"/>
              <a:t>Deliver Software to Customer</a:t>
            </a:r>
          </a:p>
          <a:p>
            <a:r>
              <a:rPr lang="en-US" sz="2400" dirty="0" smtClean="0"/>
              <a:t>Collect feedback from customer based on evaluation</a:t>
            </a:r>
          </a:p>
          <a:p>
            <a:r>
              <a:rPr lang="en-US" sz="2400" dirty="0" smtClean="0"/>
              <a:t>Software Support</a:t>
            </a:r>
            <a:endParaRPr lang="en-US" sz="2400" dirty="0"/>
          </a:p>
        </p:txBody>
      </p:sp>
      <p:sp>
        <p:nvSpPr>
          <p:cNvPr id="3" name="Rectangle 2"/>
          <p:cNvSpPr/>
          <p:nvPr/>
        </p:nvSpPr>
        <p:spPr>
          <a:xfrm>
            <a:off x="174170" y="785674"/>
            <a:ext cx="11904436" cy="3847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900" dirty="0"/>
              <a:t>A process framework establishes the foundation for complete software engineering process, it encompasses five activities</a:t>
            </a:r>
          </a:p>
        </p:txBody>
      </p:sp>
    </p:spTree>
    <p:extLst>
      <p:ext uri="{BB962C8B-B14F-4D97-AF65-F5344CB8AC3E}">
        <p14:creationId xmlns:p14="http://schemas.microsoft.com/office/powerpoint/2010/main" val="4152682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5" grpId="0" animBg="1"/>
      <p:bldP spid="16" grpId="0" animBg="1"/>
      <p:bldP spid="17" grpId="0" animBg="1"/>
      <p:bldP spid="19" grpId="0" animBg="1"/>
      <p:bldP spid="20" grpId="0" animBg="1"/>
      <p:bldP spid="22" grpId="0" animBg="1"/>
      <p:bldP spid="2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Umbrella Activities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132757" y="850033"/>
            <a:ext cx="8523632" cy="1188517"/>
          </a:xfrm>
        </p:spPr>
        <p:txBody>
          <a:bodyPr>
            <a:normAutofit/>
          </a:bodyPr>
          <a:lstStyle/>
          <a:p>
            <a:r>
              <a:rPr lang="en-US" b="1" dirty="0" smtClean="0"/>
              <a:t>Umbrella </a:t>
            </a:r>
            <a:r>
              <a:rPr lang="en-US" b="1" dirty="0"/>
              <a:t>activities </a:t>
            </a:r>
            <a:r>
              <a:rPr lang="en-US" dirty="0"/>
              <a:t>applied </a:t>
            </a:r>
            <a:r>
              <a:rPr lang="en-US" dirty="0" smtClean="0"/>
              <a:t>throughout </a:t>
            </a:r>
            <a:r>
              <a:rPr lang="en-US" dirty="0"/>
              <a:t>the software </a:t>
            </a:r>
            <a:r>
              <a:rPr lang="en-US" dirty="0" smtClean="0"/>
              <a:t>project &amp; </a:t>
            </a:r>
            <a:r>
              <a:rPr lang="en-US" b="1" dirty="0" smtClean="0"/>
              <a:t>help </a:t>
            </a:r>
            <a:r>
              <a:rPr lang="en-US" b="1" dirty="0"/>
              <a:t>a software team to manage and </a:t>
            </a:r>
            <a:r>
              <a:rPr lang="en-US" b="1" dirty="0">
                <a:solidFill>
                  <a:srgbClr val="C00000"/>
                </a:solidFill>
              </a:rPr>
              <a:t>control progress, quality, change &amp; </a:t>
            </a:r>
            <a:r>
              <a:rPr lang="en-US" b="1" dirty="0" smtClean="0">
                <a:solidFill>
                  <a:srgbClr val="C00000"/>
                </a:solidFill>
              </a:rPr>
              <a:t>risks</a:t>
            </a:r>
            <a:endParaRPr lang="en-US" b="1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818" b="14647"/>
          <a:stretch/>
        </p:blipFill>
        <p:spPr>
          <a:xfrm>
            <a:off x="6610755" y="2819402"/>
            <a:ext cx="5202371" cy="380999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488" b="66112"/>
          <a:stretch/>
        </p:blipFill>
        <p:spPr>
          <a:xfrm>
            <a:off x="5274342" y="1208816"/>
            <a:ext cx="6934200" cy="176298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762565" y="3559791"/>
            <a:ext cx="2245653" cy="2677656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It </a:t>
            </a:r>
            <a:r>
              <a:rPr lang="en-US" sz="2800" b="1" dirty="0">
                <a:solidFill>
                  <a:schemeClr val="accent6"/>
                </a:solidFill>
              </a:rPr>
              <a:t>establish</a:t>
            </a:r>
            <a:r>
              <a:rPr lang="en-US" sz="2800" dirty="0">
                <a:solidFill>
                  <a:schemeClr val="accent6"/>
                </a:solidFill>
              </a:rPr>
              <a:t> a </a:t>
            </a:r>
            <a:r>
              <a:rPr lang="en-US" sz="2800" b="1" dirty="0">
                <a:solidFill>
                  <a:schemeClr val="accent6"/>
                </a:solidFill>
              </a:rPr>
              <a:t>skeleton</a:t>
            </a:r>
            <a:r>
              <a:rPr lang="en-US" sz="2800" dirty="0">
                <a:solidFill>
                  <a:schemeClr val="accent6"/>
                </a:solidFill>
              </a:rPr>
              <a:t> </a:t>
            </a:r>
            <a:r>
              <a:rPr lang="en-US" sz="2800" b="1" dirty="0">
                <a:solidFill>
                  <a:schemeClr val="accent6"/>
                </a:solidFill>
              </a:rPr>
              <a:t>architecture</a:t>
            </a:r>
            <a:r>
              <a:rPr lang="en-US" sz="2800" dirty="0"/>
              <a:t> for </a:t>
            </a:r>
            <a:r>
              <a:rPr lang="en-US" sz="2800" b="1" dirty="0">
                <a:solidFill>
                  <a:schemeClr val="accent6"/>
                </a:solidFill>
              </a:rPr>
              <a:t>software engineering work</a:t>
            </a:r>
            <a:r>
              <a:rPr lang="en-US" sz="2800" dirty="0" smtClean="0"/>
              <a:t>.</a:t>
            </a:r>
            <a:endParaRPr lang="en-US" sz="2800" dirty="0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105863" y="1998210"/>
            <a:ext cx="5128137" cy="12361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Umbrella activities are those which keep running in the background throughout the software development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8354" y="3417236"/>
            <a:ext cx="2916195" cy="876300"/>
          </a:xfrm>
          <a:prstGeom prst="rect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Software project Tracking &amp; Control</a:t>
            </a:r>
            <a:endParaRPr lang="en-US" sz="2400" b="1" dirty="0"/>
          </a:p>
        </p:txBody>
      </p:sp>
      <p:sp>
        <p:nvSpPr>
          <p:cNvPr id="12" name="Rectangle 11"/>
          <p:cNvSpPr/>
          <p:nvPr/>
        </p:nvSpPr>
        <p:spPr>
          <a:xfrm>
            <a:off x="3658791" y="3417236"/>
            <a:ext cx="2444580" cy="838200"/>
          </a:xfrm>
          <a:prstGeom prst="rect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Risk Management</a:t>
            </a:r>
            <a:endParaRPr lang="en-US" sz="2400" b="1" dirty="0"/>
          </a:p>
        </p:txBody>
      </p:sp>
      <p:sp>
        <p:nvSpPr>
          <p:cNvPr id="13" name="Rectangle 12"/>
          <p:cNvSpPr/>
          <p:nvPr/>
        </p:nvSpPr>
        <p:spPr>
          <a:xfrm>
            <a:off x="3658078" y="4373494"/>
            <a:ext cx="2444580" cy="631065"/>
          </a:xfrm>
          <a:prstGeom prst="rect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Measurement</a:t>
            </a:r>
            <a:endParaRPr lang="en-US" sz="2400" b="1" dirty="0"/>
          </a:p>
        </p:txBody>
      </p:sp>
      <p:sp>
        <p:nvSpPr>
          <p:cNvPr id="14" name="Rectangle 13"/>
          <p:cNvSpPr/>
          <p:nvPr/>
        </p:nvSpPr>
        <p:spPr>
          <a:xfrm>
            <a:off x="648354" y="4373494"/>
            <a:ext cx="2901780" cy="631065"/>
          </a:xfrm>
          <a:prstGeom prst="rect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Technical Reviews</a:t>
            </a:r>
            <a:endParaRPr lang="en-US" sz="2400" b="1" dirty="0"/>
          </a:p>
        </p:txBody>
      </p:sp>
      <p:sp>
        <p:nvSpPr>
          <p:cNvPr id="15" name="Rectangle 14"/>
          <p:cNvSpPr/>
          <p:nvPr/>
        </p:nvSpPr>
        <p:spPr>
          <a:xfrm>
            <a:off x="648354" y="5081294"/>
            <a:ext cx="5435439" cy="623554"/>
          </a:xfrm>
          <a:prstGeom prst="rect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Software Configuration Management</a:t>
            </a:r>
            <a:endParaRPr lang="en-US" sz="2400" b="1" dirty="0"/>
          </a:p>
        </p:txBody>
      </p:sp>
      <p:sp>
        <p:nvSpPr>
          <p:cNvPr id="16" name="Rectangle 15"/>
          <p:cNvSpPr/>
          <p:nvPr/>
        </p:nvSpPr>
        <p:spPr>
          <a:xfrm>
            <a:off x="6217989" y="3417236"/>
            <a:ext cx="2444580" cy="876300"/>
          </a:xfrm>
          <a:prstGeom prst="rect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Software quality assurance</a:t>
            </a:r>
            <a:endParaRPr lang="en-US" sz="2400" b="1" dirty="0"/>
          </a:p>
        </p:txBody>
      </p:sp>
      <p:sp>
        <p:nvSpPr>
          <p:cNvPr id="17" name="Rectangle 16"/>
          <p:cNvSpPr/>
          <p:nvPr/>
        </p:nvSpPr>
        <p:spPr>
          <a:xfrm>
            <a:off x="6211809" y="4373494"/>
            <a:ext cx="2444580" cy="1331354"/>
          </a:xfrm>
          <a:prstGeom prst="rect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Reusability Management</a:t>
            </a:r>
            <a:endParaRPr lang="en-US" sz="2400" b="1" dirty="0"/>
          </a:p>
        </p:txBody>
      </p:sp>
      <p:sp>
        <p:nvSpPr>
          <p:cNvPr id="18" name="Rectangle 17"/>
          <p:cNvSpPr/>
          <p:nvPr/>
        </p:nvSpPr>
        <p:spPr>
          <a:xfrm>
            <a:off x="636492" y="5777753"/>
            <a:ext cx="8019897" cy="623554"/>
          </a:xfrm>
          <a:prstGeom prst="rect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dk1"/>
                </a:solidFill>
              </a:rPr>
              <a:t>Work product preparation and production</a:t>
            </a:r>
          </a:p>
        </p:txBody>
      </p:sp>
    </p:spTree>
    <p:extLst>
      <p:ext uri="{BB962C8B-B14F-4D97-AF65-F5344CB8AC3E}">
        <p14:creationId xmlns:p14="http://schemas.microsoft.com/office/powerpoint/2010/main" val="3683702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Umbrella </a:t>
            </a:r>
            <a:r>
              <a:rPr lang="en-US" dirty="0" smtClean="0"/>
              <a:t>Activities Cont.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90500" y="990600"/>
            <a:ext cx="11589124" cy="53340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b="1" dirty="0">
                <a:solidFill>
                  <a:srgbClr val="C00000"/>
                </a:solidFill>
              </a:rPr>
              <a:t>Software project tracking and </a:t>
            </a:r>
            <a:r>
              <a:rPr lang="en-US" b="1" dirty="0" smtClean="0">
                <a:solidFill>
                  <a:srgbClr val="C00000"/>
                </a:solidFill>
              </a:rPr>
              <a:t>control: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allows </a:t>
            </a:r>
            <a:r>
              <a:rPr lang="en-US" dirty="0"/>
              <a:t>the software team to </a:t>
            </a:r>
            <a:r>
              <a:rPr lang="en-US" b="1" dirty="0"/>
              <a:t>assess progress against the project plan </a:t>
            </a:r>
            <a:r>
              <a:rPr lang="en-US" dirty="0"/>
              <a:t>and take any necessary action to maintain the schedule.</a:t>
            </a:r>
          </a:p>
          <a:p>
            <a:pPr>
              <a:lnSpc>
                <a:spcPct val="100000"/>
              </a:lnSpc>
            </a:pPr>
            <a:r>
              <a:rPr lang="en-US" b="1" dirty="0">
                <a:solidFill>
                  <a:srgbClr val="C00000"/>
                </a:solidFill>
              </a:rPr>
              <a:t>Risk </a:t>
            </a:r>
            <a:r>
              <a:rPr lang="en-US" b="1" dirty="0" smtClean="0">
                <a:solidFill>
                  <a:srgbClr val="C00000"/>
                </a:solidFill>
              </a:rPr>
              <a:t>management:</a:t>
            </a:r>
            <a:r>
              <a:rPr lang="en-US" dirty="0" smtClean="0"/>
              <a:t> assesses </a:t>
            </a:r>
            <a:r>
              <a:rPr lang="en-US" dirty="0"/>
              <a:t>(</a:t>
            </a:r>
            <a:r>
              <a:rPr lang="en-US" b="1" dirty="0"/>
              <a:t>evaluates</a:t>
            </a:r>
            <a:r>
              <a:rPr lang="en-US" dirty="0"/>
              <a:t>) </a:t>
            </a:r>
            <a:r>
              <a:rPr lang="en-US" b="1" dirty="0"/>
              <a:t>risks</a:t>
            </a:r>
            <a:r>
              <a:rPr lang="en-US" dirty="0"/>
              <a:t> that may affect the outcome of the project or the quality of the product</a:t>
            </a:r>
            <a:r>
              <a:rPr lang="en-US" dirty="0" smtClean="0"/>
              <a:t>.(future risk)</a:t>
            </a:r>
            <a:endParaRPr lang="en-US" dirty="0"/>
          </a:p>
          <a:p>
            <a:pPr>
              <a:lnSpc>
                <a:spcPct val="100000"/>
              </a:lnSpc>
            </a:pPr>
            <a:r>
              <a:rPr lang="en-US" b="1" dirty="0">
                <a:solidFill>
                  <a:srgbClr val="C00000"/>
                </a:solidFill>
              </a:rPr>
              <a:t>Software quality </a:t>
            </a:r>
            <a:r>
              <a:rPr lang="en-US" b="1" dirty="0" smtClean="0">
                <a:solidFill>
                  <a:srgbClr val="C00000"/>
                </a:solidFill>
              </a:rPr>
              <a:t>assurance:</a:t>
            </a:r>
            <a:r>
              <a:rPr lang="en-US" b="1" dirty="0" smtClean="0"/>
              <a:t> </a:t>
            </a:r>
            <a:r>
              <a:rPr lang="en-US" dirty="0" smtClean="0"/>
              <a:t>defines </a:t>
            </a:r>
            <a:r>
              <a:rPr lang="en-US" dirty="0"/>
              <a:t>and conducts the activities required to </a:t>
            </a:r>
            <a:r>
              <a:rPr lang="en-US" b="1" dirty="0"/>
              <a:t>ensure software quality</a:t>
            </a:r>
            <a:r>
              <a:rPr lang="en-US" dirty="0" smtClean="0"/>
              <a:t>.(fulfill customer requirements)</a:t>
            </a:r>
            <a:endParaRPr lang="en-US" dirty="0"/>
          </a:p>
          <a:p>
            <a:pPr>
              <a:lnSpc>
                <a:spcPct val="100000"/>
              </a:lnSpc>
            </a:pPr>
            <a:r>
              <a:rPr lang="en-US" b="1" dirty="0">
                <a:solidFill>
                  <a:srgbClr val="C00000"/>
                </a:solidFill>
              </a:rPr>
              <a:t>Technical </a:t>
            </a:r>
            <a:r>
              <a:rPr lang="en-US" b="1" dirty="0" smtClean="0">
                <a:solidFill>
                  <a:srgbClr val="C00000"/>
                </a:solidFill>
              </a:rPr>
              <a:t>reviews:</a:t>
            </a:r>
            <a:r>
              <a:rPr lang="en-US" dirty="0" smtClean="0"/>
              <a:t> </a:t>
            </a:r>
            <a:r>
              <a:rPr lang="en-US" b="1" dirty="0" smtClean="0"/>
              <a:t>assesses</a:t>
            </a:r>
            <a:r>
              <a:rPr lang="en-US" dirty="0" smtClean="0"/>
              <a:t> </a:t>
            </a:r>
            <a:r>
              <a:rPr lang="en-US" dirty="0"/>
              <a:t>software engineering </a:t>
            </a:r>
            <a:r>
              <a:rPr lang="en-US" b="1" dirty="0"/>
              <a:t>work</a:t>
            </a:r>
            <a:r>
              <a:rPr lang="en-US" dirty="0"/>
              <a:t> products in an effort </a:t>
            </a:r>
            <a:r>
              <a:rPr lang="en-US" b="1" dirty="0"/>
              <a:t>to uncover </a:t>
            </a:r>
            <a:r>
              <a:rPr lang="en-US" dirty="0"/>
              <a:t>and remove </a:t>
            </a:r>
            <a:r>
              <a:rPr lang="en-US" b="1" dirty="0"/>
              <a:t>errors</a:t>
            </a:r>
            <a:r>
              <a:rPr lang="en-US" dirty="0"/>
              <a:t> before they are propagated to the next activity.</a:t>
            </a:r>
          </a:p>
          <a:p>
            <a:pPr>
              <a:lnSpc>
                <a:spcPct val="100000"/>
              </a:lnSpc>
            </a:pPr>
            <a:r>
              <a:rPr lang="en-US" b="1" dirty="0" smtClean="0">
                <a:solidFill>
                  <a:srgbClr val="C00000"/>
                </a:solidFill>
              </a:rPr>
              <a:t>Measurement: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defines </a:t>
            </a:r>
            <a:r>
              <a:rPr lang="en-US" dirty="0"/>
              <a:t>and collects process, project and product measures that assist the team in delivering software that meets stakeholders’ needs</a:t>
            </a:r>
            <a:r>
              <a:rPr lang="en-US" dirty="0" smtClean="0"/>
              <a:t>.</a:t>
            </a:r>
          </a:p>
          <a:p>
            <a:pPr>
              <a:lnSpc>
                <a:spcPct val="100000"/>
              </a:lnSpc>
            </a:pPr>
            <a:r>
              <a:rPr lang="en-US" b="1" dirty="0">
                <a:solidFill>
                  <a:srgbClr val="C00000"/>
                </a:solidFill>
              </a:rPr>
              <a:t>Software configuration management: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it manages the effects of change throughout the software process.</a:t>
            </a:r>
          </a:p>
          <a:p>
            <a:pPr>
              <a:lnSpc>
                <a:spcPct val="100000"/>
              </a:lnSpc>
            </a:pPr>
            <a:endParaRPr lang="en-US" dirty="0" smtClean="0"/>
          </a:p>
          <a:p>
            <a:pPr>
              <a:lnSpc>
                <a:spcPct val="10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026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Umbrella Activities Cont.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190500" y="990600"/>
            <a:ext cx="11696700" cy="5334000"/>
          </a:xfrm>
        </p:spPr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Reusability management: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it defines </a:t>
            </a:r>
            <a:r>
              <a:rPr lang="en-US" dirty="0"/>
              <a:t>criteria for work product reuse (including software components) and establishes </a:t>
            </a:r>
            <a:r>
              <a:rPr lang="en-US" b="1" dirty="0"/>
              <a:t>mechanisms to achieve reusable components</a:t>
            </a:r>
            <a:r>
              <a:rPr lang="en-US" dirty="0"/>
              <a:t>.</a:t>
            </a:r>
          </a:p>
          <a:p>
            <a:r>
              <a:rPr lang="en-US" b="1" dirty="0">
                <a:solidFill>
                  <a:srgbClr val="C00000"/>
                </a:solidFill>
              </a:rPr>
              <a:t>Work product preparation and </a:t>
            </a:r>
            <a:r>
              <a:rPr lang="en-US" b="1" dirty="0" smtClean="0">
                <a:solidFill>
                  <a:srgbClr val="C00000"/>
                </a:solidFill>
              </a:rPr>
              <a:t>production: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it encompasses </a:t>
            </a:r>
            <a:r>
              <a:rPr lang="en-US" dirty="0"/>
              <a:t>(includes) the activities required to create work products such as </a:t>
            </a:r>
            <a:r>
              <a:rPr lang="en-US" b="1" dirty="0"/>
              <a:t>models, documents, logs, forms and lists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113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Myths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9923" y="899244"/>
            <a:ext cx="1526802" cy="152680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221" y="1060637"/>
            <a:ext cx="4533355" cy="2720013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7" name="Rectangle 6"/>
          <p:cNvSpPr/>
          <p:nvPr/>
        </p:nvSpPr>
        <p:spPr>
          <a:xfrm>
            <a:off x="3176586" y="113411"/>
            <a:ext cx="688361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Beliefs about software and the process used to build it.</a:t>
            </a:r>
          </a:p>
        </p:txBody>
      </p:sp>
      <p:sp>
        <p:nvSpPr>
          <p:cNvPr id="9" name="Rounded Rectangular Callout 8"/>
          <p:cNvSpPr/>
          <p:nvPr/>
        </p:nvSpPr>
        <p:spPr>
          <a:xfrm>
            <a:off x="880221" y="4131928"/>
            <a:ext cx="4673414" cy="2215082"/>
          </a:xfrm>
          <a:prstGeom prst="wedgeRoundRectCallout">
            <a:avLst>
              <a:gd name="adj1" fmla="val 10342"/>
              <a:gd name="adj2" fmla="val -74098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dirty="0"/>
              <a:t>“</a:t>
            </a:r>
            <a:r>
              <a:rPr lang="en-US" sz="3600" b="1" dirty="0">
                <a:solidFill>
                  <a:srgbClr val="C00000"/>
                </a:solidFill>
              </a:rPr>
              <a:t>Misleading Attitudes that cause serious problem</a:t>
            </a:r>
            <a:r>
              <a:rPr lang="en-US" sz="3600" dirty="0"/>
              <a:t>” are myths</a:t>
            </a:r>
            <a:r>
              <a:rPr lang="en-US" sz="3600" dirty="0" smtClean="0"/>
              <a:t>.</a:t>
            </a:r>
            <a:endParaRPr lang="en-US" sz="3600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3084" y="2854990"/>
            <a:ext cx="1534386" cy="153438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6522" y="4749223"/>
            <a:ext cx="1534386" cy="1534386"/>
          </a:xfrm>
          <a:prstGeom prst="rect">
            <a:avLst/>
          </a:prstGeom>
        </p:spPr>
      </p:pic>
      <p:sp>
        <p:nvSpPr>
          <p:cNvPr id="19" name="Oval Callout 18"/>
          <p:cNvSpPr/>
          <p:nvPr/>
        </p:nvSpPr>
        <p:spPr>
          <a:xfrm>
            <a:off x="8404412" y="1308261"/>
            <a:ext cx="3636555" cy="1117785"/>
          </a:xfrm>
          <a:prstGeom prst="wedgeEllipseCallout">
            <a:avLst>
              <a:gd name="adj1" fmla="val -71097"/>
              <a:gd name="adj2" fmla="val -66282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dk1"/>
                </a:solidFill>
              </a:rPr>
              <a:t>Management Myths</a:t>
            </a:r>
          </a:p>
        </p:txBody>
      </p:sp>
      <p:sp>
        <p:nvSpPr>
          <p:cNvPr id="20" name="Oval Callout 19"/>
          <p:cNvSpPr/>
          <p:nvPr/>
        </p:nvSpPr>
        <p:spPr>
          <a:xfrm>
            <a:off x="8624047" y="3063290"/>
            <a:ext cx="3416920" cy="1117785"/>
          </a:xfrm>
          <a:prstGeom prst="wedgeEllipseCallout">
            <a:avLst>
              <a:gd name="adj1" fmla="val -86839"/>
              <a:gd name="adj2" fmla="val -49440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chemeClr val="dk1"/>
                </a:solidFill>
              </a:rPr>
              <a:t>Customer </a:t>
            </a:r>
            <a:r>
              <a:rPr lang="en-US" sz="2400" dirty="0">
                <a:solidFill>
                  <a:schemeClr val="dk1"/>
                </a:solidFill>
              </a:rPr>
              <a:t>Myths</a:t>
            </a:r>
          </a:p>
        </p:txBody>
      </p:sp>
      <p:sp>
        <p:nvSpPr>
          <p:cNvPr id="21" name="Oval Callout 20"/>
          <p:cNvSpPr/>
          <p:nvPr/>
        </p:nvSpPr>
        <p:spPr>
          <a:xfrm>
            <a:off x="8624047" y="4599895"/>
            <a:ext cx="3416920" cy="1117785"/>
          </a:xfrm>
          <a:prstGeom prst="wedgeEllipseCallout">
            <a:avLst>
              <a:gd name="adj1" fmla="val -83297"/>
              <a:gd name="adj2" fmla="val -3726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400" dirty="0"/>
              <a:t>Practitioner's (Developer) Myths</a:t>
            </a:r>
          </a:p>
        </p:txBody>
      </p:sp>
    </p:spTree>
    <p:extLst>
      <p:ext uri="{BB962C8B-B14F-4D97-AF65-F5344CB8AC3E}">
        <p14:creationId xmlns:p14="http://schemas.microsoft.com/office/powerpoint/2010/main" val="1332516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9" grpId="0" animBg="1"/>
      <p:bldP spid="20" grpId="0" animBg="1"/>
      <p:bldP spid="2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Management </a:t>
            </a:r>
            <a:r>
              <a:rPr lang="en-US" dirty="0" smtClean="0"/>
              <a:t>myth - 1 &amp; 2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6967" y="856511"/>
            <a:ext cx="1016022" cy="1016022"/>
          </a:xfrm>
          <a:prstGeom prst="rect">
            <a:avLst/>
          </a:prstGeom>
        </p:spPr>
      </p:pic>
      <p:sp>
        <p:nvSpPr>
          <p:cNvPr id="5" name="Rounded Rectangular Callout 4"/>
          <p:cNvSpPr/>
          <p:nvPr/>
        </p:nvSpPr>
        <p:spPr>
          <a:xfrm>
            <a:off x="161925" y="893713"/>
            <a:ext cx="4847093" cy="1045863"/>
          </a:xfrm>
          <a:prstGeom prst="wedgeRoundRectCallout">
            <a:avLst>
              <a:gd name="adj1" fmla="val 64395"/>
              <a:gd name="adj2" fmla="val -30158"/>
              <a:gd name="adj3" fmla="val 1666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We </a:t>
            </a:r>
            <a:r>
              <a:rPr lang="en-US" sz="2400" b="1" dirty="0">
                <a:solidFill>
                  <a:srgbClr val="C00000"/>
                </a:solidFill>
              </a:rPr>
              <a:t>have standards and procedures </a:t>
            </a:r>
            <a:r>
              <a:rPr lang="en-US" sz="2400" dirty="0"/>
              <a:t>to build a system, which is enough</a:t>
            </a:r>
            <a:r>
              <a:rPr lang="en-US" sz="2400" dirty="0" smtClean="0"/>
              <a:t>.</a:t>
            </a:r>
            <a:endParaRPr lang="en-US" sz="2400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61925" y="2765940"/>
            <a:ext cx="5773727" cy="3693600"/>
          </a:xfrm>
        </p:spPr>
        <p:txBody>
          <a:bodyPr/>
          <a:lstStyle/>
          <a:p>
            <a:r>
              <a:rPr lang="en-US" dirty="0" smtClean="0"/>
              <a:t>Are </a:t>
            </a:r>
            <a:r>
              <a:rPr lang="en-US" dirty="0"/>
              <a:t>software </a:t>
            </a:r>
            <a:r>
              <a:rPr lang="en-US" b="1" dirty="0"/>
              <a:t>practitioners aware </a:t>
            </a:r>
            <a:r>
              <a:rPr lang="en-US" dirty="0"/>
              <a:t>of standard’s existence? </a:t>
            </a:r>
          </a:p>
          <a:p>
            <a:r>
              <a:rPr lang="en-US" dirty="0"/>
              <a:t>Does it </a:t>
            </a:r>
            <a:r>
              <a:rPr lang="en-US" b="1" dirty="0"/>
              <a:t>reflect modern software engineering </a:t>
            </a:r>
            <a:r>
              <a:rPr lang="en-US" dirty="0"/>
              <a:t>practice? </a:t>
            </a:r>
          </a:p>
          <a:p>
            <a:r>
              <a:rPr lang="en-US" dirty="0"/>
              <a:t>Is it </a:t>
            </a:r>
            <a:r>
              <a:rPr lang="en-US" b="1" dirty="0"/>
              <a:t>complete</a:t>
            </a:r>
            <a:r>
              <a:rPr lang="en-US" dirty="0"/>
              <a:t>? </a:t>
            </a:r>
          </a:p>
          <a:p>
            <a:r>
              <a:rPr lang="en-US" dirty="0"/>
              <a:t>Is it streamlined to </a:t>
            </a:r>
            <a:r>
              <a:rPr lang="en-US" b="1" dirty="0"/>
              <a:t>improve time to delivery </a:t>
            </a:r>
            <a:r>
              <a:rPr lang="en-US" dirty="0"/>
              <a:t>while </a:t>
            </a:r>
            <a:r>
              <a:rPr lang="en-US" b="1" dirty="0"/>
              <a:t>still maintaining a focus on quality</a:t>
            </a:r>
            <a:r>
              <a:rPr lang="en-US" dirty="0"/>
              <a:t>? </a:t>
            </a:r>
          </a:p>
          <a:p>
            <a:r>
              <a:rPr lang="en-US" dirty="0"/>
              <a:t>In many cases, the answer to all of these questions is "no.“</a:t>
            </a:r>
          </a:p>
        </p:txBody>
      </p:sp>
      <p:sp>
        <p:nvSpPr>
          <p:cNvPr id="7" name="Rectangle 6"/>
          <p:cNvSpPr/>
          <p:nvPr/>
        </p:nvSpPr>
        <p:spPr>
          <a:xfrm>
            <a:off x="161926" y="2149711"/>
            <a:ext cx="1095374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chemeClr val="bg1"/>
                </a:solidFill>
              </a:rPr>
              <a:t>Reality</a:t>
            </a:r>
            <a:endParaRPr lang="en-US" sz="2400" b="1" dirty="0">
              <a:solidFill>
                <a:schemeClr val="bg1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1257300" y="2611376"/>
            <a:ext cx="4678352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0" name="Rounded Rectangular Callout 9"/>
          <p:cNvSpPr/>
          <p:nvPr/>
        </p:nvSpPr>
        <p:spPr>
          <a:xfrm>
            <a:off x="7387771" y="976073"/>
            <a:ext cx="4613729" cy="963503"/>
          </a:xfrm>
          <a:prstGeom prst="wedgeRoundRectCallout">
            <a:avLst>
              <a:gd name="adj1" fmla="val -65852"/>
              <a:gd name="adj2" fmla="val -42287"/>
              <a:gd name="adj3" fmla="val 1666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We have </a:t>
            </a:r>
            <a:r>
              <a:rPr lang="en-US" sz="2400" b="1" dirty="0">
                <a:solidFill>
                  <a:srgbClr val="C00000"/>
                </a:solidFill>
              </a:rPr>
              <a:t>the newest computers and development tools</a:t>
            </a:r>
            <a:r>
              <a:rPr lang="en-US" sz="2400" dirty="0"/>
              <a:t>.</a:t>
            </a: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6575311" y="2765940"/>
            <a:ext cx="5426189" cy="2286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It </a:t>
            </a:r>
            <a:r>
              <a:rPr lang="en-US" b="1" dirty="0" smtClean="0"/>
              <a:t>takes much more than the latest model </a:t>
            </a:r>
            <a:r>
              <a:rPr lang="en-US" dirty="0" smtClean="0"/>
              <a:t>computers to do high-quality software development. </a:t>
            </a:r>
          </a:p>
          <a:p>
            <a:r>
              <a:rPr lang="en-US" b="1" dirty="0" smtClean="0"/>
              <a:t>Computer-aided software engineering (CASE) </a:t>
            </a:r>
            <a:r>
              <a:rPr lang="en-US" dirty="0" smtClean="0"/>
              <a:t>tools are more important than hardware.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10906126" y="2149711"/>
            <a:ext cx="1095374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chemeClr val="bg1"/>
                </a:solidFill>
              </a:rPr>
              <a:t>Reality</a:t>
            </a:r>
            <a:endParaRPr lang="en-US" sz="2400" b="1" dirty="0">
              <a:solidFill>
                <a:schemeClr val="bg1"/>
              </a:solidFill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6575311" y="2611595"/>
            <a:ext cx="4323100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6240791" y="2149705"/>
            <a:ext cx="29381" cy="446009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9566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uiExpand="1" build="p"/>
      <p:bldP spid="7" grpId="0" animBg="1"/>
      <p:bldP spid="10" grpId="0" animBg="1"/>
      <p:bldP spid="11" grpId="0"/>
      <p:bldP spid="1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Management </a:t>
            </a:r>
            <a:r>
              <a:rPr lang="en-US" dirty="0" smtClean="0"/>
              <a:t>myth - 3 &amp; 4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6967" y="856511"/>
            <a:ext cx="1016022" cy="1016022"/>
          </a:xfrm>
          <a:prstGeom prst="rect">
            <a:avLst/>
          </a:prstGeom>
        </p:spPr>
      </p:pic>
      <p:sp>
        <p:nvSpPr>
          <p:cNvPr id="5" name="Rounded Rectangular Callout 4"/>
          <p:cNvSpPr/>
          <p:nvPr/>
        </p:nvSpPr>
        <p:spPr>
          <a:xfrm>
            <a:off x="161925" y="893713"/>
            <a:ext cx="4847093" cy="1045863"/>
          </a:xfrm>
          <a:prstGeom prst="wedgeRoundRectCallout">
            <a:avLst>
              <a:gd name="adj1" fmla="val 64395"/>
              <a:gd name="adj2" fmla="val -30158"/>
              <a:gd name="adj3" fmla="val 1666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We </a:t>
            </a:r>
            <a:r>
              <a:rPr lang="en-US" sz="2400" b="1" dirty="0">
                <a:solidFill>
                  <a:srgbClr val="C00000"/>
                </a:solidFill>
              </a:rPr>
              <a:t>can add more programmers </a:t>
            </a:r>
            <a:r>
              <a:rPr lang="en-US" sz="2400" dirty="0"/>
              <a:t>and can catch up the schedule.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61925" y="2765940"/>
            <a:ext cx="5773727" cy="3693600"/>
          </a:xfrm>
        </p:spPr>
        <p:txBody>
          <a:bodyPr/>
          <a:lstStyle/>
          <a:p>
            <a:r>
              <a:rPr lang="en-US" dirty="0"/>
              <a:t>Software </a:t>
            </a:r>
            <a:r>
              <a:rPr lang="en-US" b="1" dirty="0"/>
              <a:t>development is not a mechanistic process </a:t>
            </a:r>
            <a:r>
              <a:rPr lang="en-US" dirty="0"/>
              <a:t>like manufacturing. </a:t>
            </a:r>
          </a:p>
          <a:p>
            <a:r>
              <a:rPr lang="en-US" dirty="0"/>
              <a:t>In the words of Fred Brooks : "</a:t>
            </a:r>
            <a:r>
              <a:rPr lang="en-US" b="1" dirty="0"/>
              <a:t>adding people to a late software project makes it later.</a:t>
            </a:r>
            <a:r>
              <a:rPr lang="en-US" dirty="0"/>
              <a:t>" </a:t>
            </a:r>
          </a:p>
          <a:p>
            <a:r>
              <a:rPr lang="en-US" b="1" dirty="0"/>
              <a:t>People</a:t>
            </a:r>
            <a:r>
              <a:rPr lang="en-US" dirty="0"/>
              <a:t> who were </a:t>
            </a:r>
            <a:r>
              <a:rPr lang="en-US" b="1" dirty="0"/>
              <a:t>working</a:t>
            </a:r>
            <a:r>
              <a:rPr lang="en-US" dirty="0"/>
              <a:t> must </a:t>
            </a:r>
            <a:r>
              <a:rPr lang="en-US" b="1" dirty="0"/>
              <a:t>spend time educating </a:t>
            </a:r>
            <a:r>
              <a:rPr lang="en-US" dirty="0"/>
              <a:t>the newcomers.</a:t>
            </a:r>
          </a:p>
          <a:p>
            <a:r>
              <a:rPr lang="en-US" dirty="0"/>
              <a:t>People can be added but only </a:t>
            </a:r>
            <a:r>
              <a:rPr lang="en-US" b="1" dirty="0"/>
              <a:t>in a planned and well-coordinated </a:t>
            </a:r>
            <a:r>
              <a:rPr lang="en-US" dirty="0"/>
              <a:t>manner.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161926" y="2149711"/>
            <a:ext cx="1095374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chemeClr val="bg1"/>
                </a:solidFill>
              </a:rPr>
              <a:t>Reality</a:t>
            </a:r>
            <a:endParaRPr lang="en-US" sz="2400" b="1" dirty="0">
              <a:solidFill>
                <a:schemeClr val="bg1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1257300" y="2611376"/>
            <a:ext cx="4678352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0" name="Rounded Rectangular Callout 9"/>
          <p:cNvSpPr/>
          <p:nvPr/>
        </p:nvSpPr>
        <p:spPr>
          <a:xfrm>
            <a:off x="7039429" y="856511"/>
            <a:ext cx="4962071" cy="1191596"/>
          </a:xfrm>
          <a:prstGeom prst="wedgeRoundRectCallout">
            <a:avLst>
              <a:gd name="adj1" fmla="val -56700"/>
              <a:gd name="adj2" fmla="val -36472"/>
              <a:gd name="adj3" fmla="val 1666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I </a:t>
            </a:r>
            <a:r>
              <a:rPr lang="en-US" sz="2400" b="1" dirty="0">
                <a:solidFill>
                  <a:srgbClr val="C00000"/>
                </a:solidFill>
              </a:rPr>
              <a:t>outsourced the development </a:t>
            </a:r>
            <a:r>
              <a:rPr lang="en-US" sz="2400" dirty="0"/>
              <a:t>activity, now I </a:t>
            </a:r>
            <a:r>
              <a:rPr lang="en-US" sz="2400" b="1" dirty="0">
                <a:solidFill>
                  <a:srgbClr val="C00000"/>
                </a:solidFill>
              </a:rPr>
              <a:t>can relax </a:t>
            </a:r>
            <a:r>
              <a:rPr lang="en-US" sz="2400" dirty="0"/>
              <a:t>and </a:t>
            </a:r>
            <a:r>
              <a:rPr lang="en-US" sz="2400" b="1" dirty="0">
                <a:solidFill>
                  <a:srgbClr val="C00000"/>
                </a:solidFill>
              </a:rPr>
              <a:t>can wait </a:t>
            </a:r>
            <a:r>
              <a:rPr lang="en-US" sz="2400" dirty="0"/>
              <a:t>for the </a:t>
            </a:r>
            <a:r>
              <a:rPr lang="en-US" sz="2400" b="1" dirty="0">
                <a:solidFill>
                  <a:srgbClr val="C00000"/>
                </a:solidFill>
              </a:rPr>
              <a:t>final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working </a:t>
            </a:r>
            <a:r>
              <a:rPr lang="en-US" sz="2400" b="1" dirty="0">
                <a:solidFill>
                  <a:srgbClr val="C00000"/>
                </a:solidFill>
              </a:rPr>
              <a:t>product</a:t>
            </a:r>
            <a:r>
              <a:rPr lang="en-US" sz="2400" dirty="0"/>
              <a:t>.</a:t>
            </a: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6575311" y="2765940"/>
            <a:ext cx="5426189" cy="2286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If an </a:t>
            </a:r>
            <a:r>
              <a:rPr lang="en-US" b="1" dirty="0"/>
              <a:t>organization</a:t>
            </a:r>
            <a:r>
              <a:rPr lang="en-US" dirty="0"/>
              <a:t> does </a:t>
            </a:r>
            <a:r>
              <a:rPr lang="en-US" b="1" dirty="0">
                <a:solidFill>
                  <a:schemeClr val="accent6"/>
                </a:solidFill>
              </a:rPr>
              <a:t>not understand </a:t>
            </a:r>
            <a:r>
              <a:rPr lang="en-US" b="1" dirty="0"/>
              <a:t>how to manage </a:t>
            </a:r>
            <a:r>
              <a:rPr lang="en-US" dirty="0"/>
              <a:t>and </a:t>
            </a:r>
            <a:r>
              <a:rPr lang="en-US" b="1" dirty="0"/>
              <a:t>control</a:t>
            </a:r>
            <a:r>
              <a:rPr lang="en-US" dirty="0"/>
              <a:t> software projects internally, it will invariably struggle when it outsources software projects.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06126" y="2149711"/>
            <a:ext cx="1095374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chemeClr val="bg1"/>
                </a:solidFill>
              </a:rPr>
              <a:t>Reality</a:t>
            </a:r>
            <a:endParaRPr lang="en-US" sz="2400" b="1" dirty="0">
              <a:solidFill>
                <a:schemeClr val="bg1"/>
              </a:solidFill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6575311" y="2611595"/>
            <a:ext cx="4323100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6240791" y="2149705"/>
            <a:ext cx="29381" cy="446009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7051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uiExpand="1" build="p"/>
      <p:bldP spid="7" grpId="0" animBg="1"/>
      <p:bldP spid="10" grpId="0" animBg="1"/>
      <p:bldP spid="11" grpId="0"/>
      <p:bldP spid="1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Customer myth - 1 &amp; 2</a:t>
            </a:r>
            <a:endParaRPr lang="en-US" dirty="0"/>
          </a:p>
        </p:txBody>
      </p:sp>
      <p:sp>
        <p:nvSpPr>
          <p:cNvPr id="5" name="Rounded Rectangular Callout 4"/>
          <p:cNvSpPr/>
          <p:nvPr/>
        </p:nvSpPr>
        <p:spPr>
          <a:xfrm>
            <a:off x="161925" y="893713"/>
            <a:ext cx="4847093" cy="1045863"/>
          </a:xfrm>
          <a:prstGeom prst="wedgeRoundRectCallout">
            <a:avLst>
              <a:gd name="adj1" fmla="val 64395"/>
              <a:gd name="adj2" fmla="val -30158"/>
              <a:gd name="adj3" fmla="val 1666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A </a:t>
            </a:r>
            <a:r>
              <a:rPr lang="en-US" sz="2400" b="1" dirty="0">
                <a:solidFill>
                  <a:srgbClr val="C00000"/>
                </a:solidFill>
              </a:rPr>
              <a:t>general statement of objectives </a:t>
            </a:r>
            <a:r>
              <a:rPr lang="en-US" sz="2400" dirty="0"/>
              <a:t>(requirements) is </a:t>
            </a:r>
            <a:r>
              <a:rPr lang="en-US" sz="2400" b="1" dirty="0">
                <a:solidFill>
                  <a:srgbClr val="C00000"/>
                </a:solidFill>
              </a:rPr>
              <a:t>sufficient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to start a development. 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61925" y="2765940"/>
            <a:ext cx="5773727" cy="3693600"/>
          </a:xfrm>
        </p:spPr>
        <p:txBody>
          <a:bodyPr/>
          <a:lstStyle/>
          <a:p>
            <a:r>
              <a:rPr lang="en-US" dirty="0"/>
              <a:t>Comprehensive (</a:t>
            </a:r>
            <a:r>
              <a:rPr lang="en-US" b="1" dirty="0"/>
              <a:t>detailed</a:t>
            </a:r>
            <a:r>
              <a:rPr lang="en-US" dirty="0"/>
              <a:t>) </a:t>
            </a:r>
            <a:r>
              <a:rPr lang="en-US" b="1" dirty="0"/>
              <a:t>statements</a:t>
            </a:r>
            <a:r>
              <a:rPr lang="en-US" dirty="0"/>
              <a:t> of requirements is not always possible, an </a:t>
            </a:r>
            <a:r>
              <a:rPr lang="en-US" b="1" dirty="0"/>
              <a:t>ambiguous</a:t>
            </a:r>
            <a:r>
              <a:rPr lang="en-US" dirty="0"/>
              <a:t> (unclear) “</a:t>
            </a:r>
            <a:r>
              <a:rPr lang="en-US" b="1" dirty="0"/>
              <a:t>statement of objectives</a:t>
            </a:r>
            <a:r>
              <a:rPr lang="en-US" dirty="0"/>
              <a:t>” can lead to disaster. 	</a:t>
            </a:r>
          </a:p>
          <a:p>
            <a:r>
              <a:rPr lang="en-US" dirty="0"/>
              <a:t>Unambiguous (clear) requirements can be gathered only through effective and continuous communication between customer and developer. </a:t>
            </a:r>
          </a:p>
        </p:txBody>
      </p:sp>
      <p:sp>
        <p:nvSpPr>
          <p:cNvPr id="7" name="Rectangle 6"/>
          <p:cNvSpPr/>
          <p:nvPr/>
        </p:nvSpPr>
        <p:spPr>
          <a:xfrm>
            <a:off x="161926" y="2149711"/>
            <a:ext cx="1095374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chemeClr val="bg1"/>
                </a:solidFill>
              </a:rPr>
              <a:t>Reality</a:t>
            </a:r>
            <a:endParaRPr lang="en-US" sz="2400" b="1" dirty="0">
              <a:solidFill>
                <a:schemeClr val="bg1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1257300" y="2611376"/>
            <a:ext cx="4678352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0" name="Rounded Rectangular Callout 9"/>
          <p:cNvSpPr/>
          <p:nvPr/>
        </p:nvSpPr>
        <p:spPr>
          <a:xfrm>
            <a:off x="7039429" y="856511"/>
            <a:ext cx="4962071" cy="1191596"/>
          </a:xfrm>
          <a:prstGeom prst="wedgeRoundRectCallout">
            <a:avLst>
              <a:gd name="adj1" fmla="val -60035"/>
              <a:gd name="adj2" fmla="val -33305"/>
              <a:gd name="adj3" fmla="val 1666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C00000"/>
                </a:solidFill>
              </a:rPr>
              <a:t>Requirement Changes</a:t>
            </a:r>
            <a:r>
              <a:rPr lang="en-US" sz="2400" dirty="0"/>
              <a:t> can be </a:t>
            </a:r>
            <a:r>
              <a:rPr lang="en-US" sz="2400" b="1" dirty="0">
                <a:solidFill>
                  <a:srgbClr val="C00000"/>
                </a:solidFill>
              </a:rPr>
              <a:t>easily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b="1" dirty="0">
                <a:solidFill>
                  <a:srgbClr val="C00000"/>
                </a:solidFill>
              </a:rPr>
              <a:t>accommodated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because software is very flexible.</a:t>
            </a: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6575311" y="2765940"/>
            <a:ext cx="5426189" cy="2286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It is true that software </a:t>
            </a:r>
            <a:r>
              <a:rPr lang="en-US" b="1" dirty="0"/>
              <a:t>requirements change</a:t>
            </a:r>
            <a:r>
              <a:rPr lang="en-US" dirty="0"/>
              <a:t>, but the </a:t>
            </a:r>
            <a:r>
              <a:rPr lang="en-US" b="1" dirty="0"/>
              <a:t>impact</a:t>
            </a:r>
            <a:r>
              <a:rPr lang="en-US" dirty="0"/>
              <a:t> of change </a:t>
            </a:r>
            <a:r>
              <a:rPr lang="en-US" b="1" dirty="0"/>
              <a:t>varies with the time</a:t>
            </a:r>
            <a:r>
              <a:rPr lang="en-US" dirty="0"/>
              <a:t> at which it is </a:t>
            </a:r>
            <a:r>
              <a:rPr lang="en-US" dirty="0" smtClean="0"/>
              <a:t>introduced.</a:t>
            </a:r>
          </a:p>
          <a:p>
            <a:r>
              <a:rPr lang="en-US" dirty="0" smtClean="0"/>
              <a:t>When </a:t>
            </a:r>
            <a:r>
              <a:rPr lang="en-US" dirty="0"/>
              <a:t>requirements changes are requested early the cost impact is relatively small.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06126" y="2149711"/>
            <a:ext cx="1095374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chemeClr val="bg1"/>
                </a:solidFill>
              </a:rPr>
              <a:t>Reality</a:t>
            </a:r>
            <a:endParaRPr lang="en-US" sz="2400" b="1" dirty="0">
              <a:solidFill>
                <a:schemeClr val="bg1"/>
              </a:solidFill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6575311" y="2611595"/>
            <a:ext cx="4323100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6121283" y="2144615"/>
            <a:ext cx="52051" cy="446009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6629" y="791831"/>
            <a:ext cx="1101713" cy="1101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363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uiExpand="1" build="p"/>
      <p:bldP spid="7" grpId="0" animBg="1"/>
      <p:bldP spid="10" grpId="0" animBg="1"/>
      <p:bldP spid="11" grpId="0"/>
      <p:bldP spid="1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Practitioner's (Developer) </a:t>
            </a:r>
            <a:r>
              <a:rPr lang="en-US" dirty="0" smtClean="0"/>
              <a:t>myth – 1 &amp; 2</a:t>
            </a:r>
            <a:endParaRPr lang="en-US" dirty="0"/>
          </a:p>
        </p:txBody>
      </p:sp>
      <p:sp>
        <p:nvSpPr>
          <p:cNvPr id="4" name="Rounded Rectangular Callout 3"/>
          <p:cNvSpPr/>
          <p:nvPr/>
        </p:nvSpPr>
        <p:spPr>
          <a:xfrm>
            <a:off x="161925" y="893713"/>
            <a:ext cx="4847093" cy="1045863"/>
          </a:xfrm>
          <a:prstGeom prst="wedgeRoundRectCallout">
            <a:avLst>
              <a:gd name="adj1" fmla="val 67389"/>
              <a:gd name="adj2" fmla="val -13504"/>
              <a:gd name="adj3" fmla="val 1666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C00000"/>
                </a:solidFill>
              </a:rPr>
              <a:t>Once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we </a:t>
            </a:r>
            <a:r>
              <a:rPr lang="en-US" sz="2400" b="1" dirty="0">
                <a:solidFill>
                  <a:srgbClr val="C00000"/>
                </a:solidFill>
              </a:rPr>
              <a:t>write</a:t>
            </a:r>
            <a:r>
              <a:rPr lang="en-US" sz="2400" dirty="0"/>
              <a:t> the </a:t>
            </a:r>
            <a:r>
              <a:rPr lang="en-US" sz="2400" b="1" dirty="0">
                <a:solidFill>
                  <a:srgbClr val="C00000"/>
                </a:solidFill>
              </a:rPr>
              <a:t>program</a:t>
            </a:r>
            <a:r>
              <a:rPr lang="en-US" sz="2400" dirty="0"/>
              <a:t>, our </a:t>
            </a:r>
            <a:r>
              <a:rPr lang="en-US" sz="2400" b="1" dirty="0">
                <a:solidFill>
                  <a:srgbClr val="C00000"/>
                </a:solidFill>
              </a:rPr>
              <a:t>job is done</a:t>
            </a:r>
            <a:r>
              <a:rPr lang="en-US" sz="2400" dirty="0"/>
              <a:t>. 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61925" y="2765940"/>
            <a:ext cx="5773727" cy="3693600"/>
          </a:xfrm>
        </p:spPr>
        <p:txBody>
          <a:bodyPr/>
          <a:lstStyle/>
          <a:p>
            <a:r>
              <a:rPr lang="en-US" dirty="0"/>
              <a:t>Experts say "</a:t>
            </a:r>
            <a:r>
              <a:rPr lang="en-US" b="1" dirty="0"/>
              <a:t>the sooner you begin 'writing code', the longer it will take you to get done.</a:t>
            </a:r>
            <a:r>
              <a:rPr lang="en-US" dirty="0"/>
              <a:t>" </a:t>
            </a:r>
          </a:p>
          <a:p>
            <a:r>
              <a:rPr lang="en-US" dirty="0"/>
              <a:t>Industry data indicates that 60 to 80 % effort expended on software will be after it is delivered to the customer for the first time. </a:t>
            </a:r>
          </a:p>
        </p:txBody>
      </p:sp>
      <p:sp>
        <p:nvSpPr>
          <p:cNvPr id="6" name="Rectangle 5"/>
          <p:cNvSpPr/>
          <p:nvPr/>
        </p:nvSpPr>
        <p:spPr>
          <a:xfrm>
            <a:off x="161926" y="2149711"/>
            <a:ext cx="1095374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chemeClr val="bg1"/>
                </a:solidFill>
              </a:rPr>
              <a:t>Reality</a:t>
            </a:r>
            <a:endParaRPr lang="en-US" sz="2400" b="1" dirty="0">
              <a:solidFill>
                <a:schemeClr val="bg1"/>
              </a:solidFill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1257300" y="2611376"/>
            <a:ext cx="4678352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8" name="Rounded Rectangular Callout 7"/>
          <p:cNvSpPr/>
          <p:nvPr/>
        </p:nvSpPr>
        <p:spPr>
          <a:xfrm>
            <a:off x="7039429" y="893713"/>
            <a:ext cx="4962071" cy="1045863"/>
          </a:xfrm>
          <a:prstGeom prst="wedgeRoundRectCallout">
            <a:avLst>
              <a:gd name="adj1" fmla="val -63135"/>
              <a:gd name="adj2" fmla="val -26728"/>
              <a:gd name="adj3" fmla="val 1666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I</a:t>
            </a:r>
            <a:r>
              <a:rPr lang="en-US" sz="2400" b="1" dirty="0">
                <a:solidFill>
                  <a:srgbClr val="C00000"/>
                </a:solidFill>
              </a:rPr>
              <a:t> can’t </a:t>
            </a:r>
            <a:r>
              <a:rPr lang="en-US" sz="2400" dirty="0"/>
              <a:t>access </a:t>
            </a:r>
            <a:r>
              <a:rPr lang="en-US" sz="2400" b="1" dirty="0">
                <a:solidFill>
                  <a:srgbClr val="C00000"/>
                </a:solidFill>
              </a:rPr>
              <a:t>quality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b="1" dirty="0">
                <a:solidFill>
                  <a:srgbClr val="C00000"/>
                </a:solidFill>
              </a:rPr>
              <a:t>until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it is </a:t>
            </a:r>
            <a:r>
              <a:rPr lang="en-US" sz="2400" b="1" dirty="0">
                <a:solidFill>
                  <a:srgbClr val="C00000"/>
                </a:solidFill>
              </a:rPr>
              <a:t>running</a:t>
            </a:r>
            <a:r>
              <a:rPr lang="en-US" sz="2400" dirty="0"/>
              <a:t>.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6575311" y="2765940"/>
            <a:ext cx="5426189" cy="2286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One of the most effective software </a:t>
            </a:r>
            <a:r>
              <a:rPr lang="en-US" b="1" dirty="0"/>
              <a:t>quality assurance mechanisms </a:t>
            </a:r>
            <a:r>
              <a:rPr lang="en-US" dirty="0"/>
              <a:t>can be </a:t>
            </a:r>
            <a:r>
              <a:rPr lang="en-US" b="1" dirty="0"/>
              <a:t>applied from</a:t>
            </a:r>
            <a:r>
              <a:rPr lang="en-US" dirty="0"/>
              <a:t> the </a:t>
            </a:r>
            <a:r>
              <a:rPr lang="en-US" b="1" dirty="0"/>
              <a:t>beginning</a:t>
            </a:r>
            <a:r>
              <a:rPr lang="en-US" dirty="0"/>
              <a:t> of a project - </a:t>
            </a:r>
            <a:r>
              <a:rPr lang="en-US" b="1" dirty="0"/>
              <a:t>the technical review</a:t>
            </a:r>
            <a:r>
              <a:rPr lang="en-US" dirty="0"/>
              <a:t>. </a:t>
            </a:r>
          </a:p>
          <a:p>
            <a:r>
              <a:rPr lang="en-US" dirty="0"/>
              <a:t>Software reviews are more effective “quality filter” than testing for finding software defects. 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06126" y="2149711"/>
            <a:ext cx="1095374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chemeClr val="bg1"/>
                </a:solidFill>
              </a:rPr>
              <a:t>Reality</a:t>
            </a:r>
            <a:endParaRPr lang="en-US" sz="2400" b="1" dirty="0">
              <a:solidFill>
                <a:schemeClr val="bg1"/>
              </a:solidFill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6575311" y="2611595"/>
            <a:ext cx="4323100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5034" y="863194"/>
            <a:ext cx="1221526" cy="1221526"/>
          </a:xfrm>
          <a:prstGeom prst="rect">
            <a:avLst/>
          </a:prstGeom>
        </p:spPr>
      </p:pic>
      <p:cxnSp>
        <p:nvCxnSpPr>
          <p:cNvPr id="15" name="Straight Connector 14"/>
          <p:cNvCxnSpPr/>
          <p:nvPr/>
        </p:nvCxnSpPr>
        <p:spPr>
          <a:xfrm>
            <a:off x="6160472" y="2143107"/>
            <a:ext cx="52051" cy="446009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8434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uiExpand="1" build="p"/>
      <p:bldP spid="6" grpId="0" animBg="1"/>
      <p:bldP spid="8" grpId="0" animBg="1"/>
      <p:bldP spid="9" grpId="0"/>
      <p:bldP spid="1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Practitioner's (Developer) </a:t>
            </a:r>
            <a:r>
              <a:rPr lang="en-US" dirty="0" smtClean="0"/>
              <a:t>myth – 3 &amp; 4</a:t>
            </a:r>
            <a:endParaRPr lang="en-US" dirty="0"/>
          </a:p>
        </p:txBody>
      </p:sp>
      <p:sp>
        <p:nvSpPr>
          <p:cNvPr id="4" name="Rounded Rectangular Callout 3"/>
          <p:cNvSpPr/>
          <p:nvPr/>
        </p:nvSpPr>
        <p:spPr>
          <a:xfrm>
            <a:off x="161925" y="893713"/>
            <a:ext cx="4847093" cy="1045863"/>
          </a:xfrm>
          <a:prstGeom prst="wedgeRoundRectCallout">
            <a:avLst>
              <a:gd name="adj1" fmla="val 67389"/>
              <a:gd name="adj2" fmla="val -13504"/>
              <a:gd name="adj3" fmla="val 1666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Working </a:t>
            </a:r>
            <a:r>
              <a:rPr lang="en-US" sz="2400" b="1" dirty="0">
                <a:solidFill>
                  <a:srgbClr val="C00000"/>
                </a:solidFill>
              </a:rPr>
              <a:t>program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is the </a:t>
            </a:r>
            <a:r>
              <a:rPr lang="en-US" sz="2400" b="1" dirty="0">
                <a:solidFill>
                  <a:srgbClr val="C00000"/>
                </a:solidFill>
              </a:rPr>
              <a:t>only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b="1" dirty="0">
                <a:solidFill>
                  <a:srgbClr val="C00000"/>
                </a:solidFill>
              </a:rPr>
              <a:t>deliverable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work </a:t>
            </a:r>
            <a:r>
              <a:rPr lang="en-US" sz="2400" b="1" dirty="0">
                <a:solidFill>
                  <a:srgbClr val="C00000"/>
                </a:solidFill>
              </a:rPr>
              <a:t>product</a:t>
            </a:r>
            <a:r>
              <a:rPr lang="en-US" sz="2400" dirty="0"/>
              <a:t>.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61925" y="2765940"/>
            <a:ext cx="5773727" cy="3693600"/>
          </a:xfrm>
        </p:spPr>
        <p:txBody>
          <a:bodyPr/>
          <a:lstStyle/>
          <a:p>
            <a:r>
              <a:rPr lang="en-US" b="1" dirty="0"/>
              <a:t>A working program </a:t>
            </a:r>
            <a:r>
              <a:rPr lang="en-US" dirty="0"/>
              <a:t>is only one </a:t>
            </a:r>
            <a:r>
              <a:rPr lang="en-US" b="1" dirty="0"/>
              <a:t>part of </a:t>
            </a:r>
            <a:r>
              <a:rPr lang="en-US" dirty="0"/>
              <a:t>a </a:t>
            </a:r>
            <a:r>
              <a:rPr lang="en-US" b="1" dirty="0"/>
              <a:t>software configuration</a:t>
            </a:r>
            <a:r>
              <a:rPr lang="en-US" dirty="0"/>
              <a:t>. </a:t>
            </a:r>
          </a:p>
          <a:p>
            <a:r>
              <a:rPr lang="en-US" dirty="0"/>
              <a:t>A variety of work products (e.g., </a:t>
            </a:r>
            <a:r>
              <a:rPr lang="en-US" b="1" dirty="0"/>
              <a:t>models, documents, plans</a:t>
            </a:r>
            <a:r>
              <a:rPr lang="en-US" dirty="0"/>
              <a:t>) provide a foundation for successful engineering and, more important, guidance for software support. </a:t>
            </a:r>
          </a:p>
        </p:txBody>
      </p:sp>
      <p:sp>
        <p:nvSpPr>
          <p:cNvPr id="6" name="Rectangle 5"/>
          <p:cNvSpPr/>
          <p:nvPr/>
        </p:nvSpPr>
        <p:spPr>
          <a:xfrm>
            <a:off x="161926" y="2149711"/>
            <a:ext cx="1095374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chemeClr val="bg1"/>
                </a:solidFill>
              </a:rPr>
              <a:t>Reality</a:t>
            </a:r>
            <a:endParaRPr lang="en-US" sz="2400" b="1" dirty="0">
              <a:solidFill>
                <a:schemeClr val="bg1"/>
              </a:solidFill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1257300" y="2611376"/>
            <a:ext cx="4678352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8" name="Rounded Rectangular Callout 7"/>
          <p:cNvSpPr/>
          <p:nvPr/>
        </p:nvSpPr>
        <p:spPr>
          <a:xfrm>
            <a:off x="7039429" y="893713"/>
            <a:ext cx="4962071" cy="1045863"/>
          </a:xfrm>
          <a:prstGeom prst="wedgeRoundRectCallout">
            <a:avLst>
              <a:gd name="adj1" fmla="val -63135"/>
              <a:gd name="adj2" fmla="val -26728"/>
              <a:gd name="adj3" fmla="val 1666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C00000"/>
                </a:solidFill>
              </a:rPr>
              <a:t>Software engineering</a:t>
            </a:r>
            <a:r>
              <a:rPr lang="en-US" sz="2400" dirty="0"/>
              <a:t> is about </a:t>
            </a:r>
            <a:r>
              <a:rPr lang="en-US" sz="2400" b="1" dirty="0">
                <a:solidFill>
                  <a:srgbClr val="C00000"/>
                </a:solidFill>
              </a:rPr>
              <a:t>unnecessary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documentation.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6575311" y="2765940"/>
            <a:ext cx="5426189" cy="2286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Software engineering is not about creating documents. It is about </a:t>
            </a:r>
            <a:r>
              <a:rPr lang="en-US" b="1" dirty="0"/>
              <a:t>creating a quality product</a:t>
            </a:r>
            <a:r>
              <a:rPr lang="en-US" dirty="0"/>
              <a:t>. </a:t>
            </a:r>
          </a:p>
          <a:p>
            <a:r>
              <a:rPr lang="en-US" dirty="0"/>
              <a:t>Better quality leads to reduced rework. And reduced rework results in faster delivery times. 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06126" y="2149711"/>
            <a:ext cx="1095374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chemeClr val="bg1"/>
                </a:solidFill>
              </a:rPr>
              <a:t>Reality</a:t>
            </a:r>
            <a:endParaRPr lang="en-US" sz="2400" b="1" dirty="0">
              <a:solidFill>
                <a:schemeClr val="bg1"/>
              </a:solidFill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6575311" y="2611595"/>
            <a:ext cx="4323100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6121283" y="2143107"/>
            <a:ext cx="52051" cy="446009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5034" y="863194"/>
            <a:ext cx="1221526" cy="1221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404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uiExpand="1" build="p"/>
      <p:bldP spid="6" grpId="0" animBg="1"/>
      <p:bldP spid="8" grpId="0" animBg="1"/>
      <p:bldP spid="9" grpId="0"/>
      <p:bldP spid="1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Process Models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147221" y="874033"/>
            <a:ext cx="6481357" cy="5334000"/>
          </a:xfrm>
        </p:spPr>
        <p:txBody>
          <a:bodyPr/>
          <a:lstStyle/>
          <a:p>
            <a:r>
              <a:rPr lang="en-US" dirty="0" smtClean="0"/>
              <a:t>Also known as </a:t>
            </a:r>
            <a:r>
              <a:rPr lang="en-US" b="1" dirty="0" smtClean="0">
                <a:solidFill>
                  <a:srgbClr val="C00000"/>
                </a:solidFill>
              </a:rPr>
              <a:t>Software development life cycle (SDLC) </a:t>
            </a:r>
            <a:r>
              <a:rPr lang="en-US" dirty="0" smtClean="0"/>
              <a:t>or Application development life cycle Models</a:t>
            </a:r>
          </a:p>
          <a:p>
            <a:r>
              <a:rPr lang="en-US" dirty="0" smtClean="0"/>
              <a:t>Process models </a:t>
            </a:r>
            <a:r>
              <a:rPr lang="en-US" b="1" dirty="0" smtClean="0">
                <a:solidFill>
                  <a:srgbClr val="C00000"/>
                </a:solidFill>
              </a:rPr>
              <a:t>prescribe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a distinct set of </a:t>
            </a:r>
            <a:r>
              <a:rPr lang="en-US" b="1" dirty="0" smtClean="0">
                <a:solidFill>
                  <a:srgbClr val="C00000"/>
                </a:solidFill>
              </a:rPr>
              <a:t>activities, actions, tasks and milestones (deliverables)</a:t>
            </a:r>
            <a:r>
              <a:rPr lang="en-US" dirty="0" smtClean="0"/>
              <a:t> required to engineer high quality software.</a:t>
            </a:r>
          </a:p>
          <a:p>
            <a:r>
              <a:rPr lang="en-US" dirty="0" smtClean="0"/>
              <a:t>Process </a:t>
            </a:r>
            <a:r>
              <a:rPr lang="en-US" b="1" dirty="0" smtClean="0">
                <a:solidFill>
                  <a:srgbClr val="C00000"/>
                </a:solidFill>
              </a:rPr>
              <a:t>models are not perfect, </a:t>
            </a:r>
            <a:r>
              <a:rPr lang="en-US" dirty="0" smtClean="0"/>
              <a:t>but </a:t>
            </a:r>
            <a:r>
              <a:rPr lang="en-US" b="1" dirty="0" smtClean="0">
                <a:solidFill>
                  <a:srgbClr val="C00000"/>
                </a:solidFill>
              </a:rPr>
              <a:t>provide roadmap</a:t>
            </a:r>
            <a:r>
              <a:rPr lang="en-US" dirty="0" smtClean="0"/>
              <a:t> for software engineering work.</a:t>
            </a:r>
          </a:p>
          <a:p>
            <a:r>
              <a:rPr lang="en-US" dirty="0" smtClean="0"/>
              <a:t>Software models provide stability, control and organization to a process that if not managed can easily get out of control.</a:t>
            </a:r>
          </a:p>
          <a:p>
            <a:r>
              <a:rPr lang="en-US" dirty="0" smtClean="0"/>
              <a:t>Software process models are adapted (adjusted) to meet the needs of software engineers and managers for a specific project.</a:t>
            </a: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7619221" y="1495205"/>
            <a:ext cx="3936013" cy="3936014"/>
          </a:xfrm>
          <a:prstGeom prst="ellipse">
            <a:avLst/>
          </a:prstGeom>
          <a:noFill/>
          <a:ln w="190500">
            <a:solidFill>
              <a:schemeClr val="bg2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8758593" y="992583"/>
            <a:ext cx="1469362" cy="1469362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8739342" y="1529021"/>
            <a:ext cx="1553630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700" b="1" dirty="0" smtClean="0">
                <a:solidFill>
                  <a:schemeClr val="bg1"/>
                </a:solidFill>
              </a:rPr>
              <a:t>Communication</a:t>
            </a:r>
            <a:endParaRPr lang="en-US" sz="1700" b="1" dirty="0">
              <a:solidFill>
                <a:schemeClr val="bg1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10623020" y="2166482"/>
            <a:ext cx="1469362" cy="1469362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0899232" y="2702919"/>
            <a:ext cx="918366" cy="3346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b="1" dirty="0" smtClean="0">
                <a:solidFill>
                  <a:schemeClr val="bg1"/>
                </a:solidFill>
              </a:rPr>
              <a:t>Planning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9982293" y="4326372"/>
            <a:ext cx="1469362" cy="1469362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10190711" y="4915927"/>
            <a:ext cx="990998" cy="3346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 err="1" smtClean="0">
                <a:solidFill>
                  <a:schemeClr val="bg1"/>
                </a:solidFill>
              </a:rPr>
              <a:t>Modeling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7565443" y="4307121"/>
            <a:ext cx="1469362" cy="1469362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7652403" y="4843558"/>
            <a:ext cx="1274846" cy="3346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 smtClean="0">
                <a:solidFill>
                  <a:schemeClr val="bg1"/>
                </a:solidFill>
              </a:rPr>
              <a:t>Construction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6943967" y="2166482"/>
            <a:ext cx="1469362" cy="1469362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7023643" y="2702919"/>
            <a:ext cx="1233359" cy="3346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 smtClean="0">
                <a:solidFill>
                  <a:schemeClr val="bg1"/>
                </a:solidFill>
              </a:rPr>
              <a:t>Deployment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012910" y="2530998"/>
            <a:ext cx="1116043" cy="64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b="1" dirty="0" smtClean="0"/>
              <a:t>SDLC</a:t>
            </a:r>
            <a:endParaRPr lang="en-US" sz="4000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8683314" y="3180149"/>
            <a:ext cx="1732547" cy="14224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 smtClean="0"/>
              <a:t>Software</a:t>
            </a:r>
          </a:p>
          <a:p>
            <a:pPr algn="ctr"/>
            <a:r>
              <a:rPr lang="en-US" sz="2400" dirty="0" smtClean="0"/>
              <a:t>Development</a:t>
            </a:r>
          </a:p>
          <a:p>
            <a:pPr algn="ctr"/>
            <a:r>
              <a:rPr lang="en-US" sz="2400" dirty="0" smtClean="0"/>
              <a:t>Life</a:t>
            </a:r>
          </a:p>
          <a:p>
            <a:pPr algn="ctr"/>
            <a:r>
              <a:rPr lang="en-US" sz="2400" dirty="0" smtClean="0"/>
              <a:t>Cycle</a:t>
            </a:r>
            <a:endParaRPr lang="en-US" sz="2400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8954554" y="3172488"/>
            <a:ext cx="1236157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384029" y="295893"/>
            <a:ext cx="57518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The </a:t>
            </a:r>
            <a:r>
              <a:rPr lang="en-US" b="1" dirty="0"/>
              <a:t>process model </a:t>
            </a:r>
            <a:r>
              <a:rPr lang="en-US" dirty="0"/>
              <a:t>is the abstract representation of process.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930032" y="986230"/>
            <a:ext cx="128884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SDLC Phases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6774089" y="711201"/>
            <a:ext cx="68771" cy="58928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7596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/>
      <p:bldP spid="8" grpId="0" animBg="1"/>
      <p:bldP spid="9" grpId="0"/>
      <p:bldP spid="10" grpId="0" animBg="1"/>
      <p:bldP spid="11" grpId="0"/>
      <p:bldP spid="12" grpId="0" animBg="1"/>
      <p:bldP spid="13" grpId="0"/>
      <p:bldP spid="14" grpId="0" animBg="1"/>
      <p:bldP spid="15" grpId="0"/>
      <p:bldP spid="16" grpId="0"/>
      <p:bldP spid="17" grpId="0"/>
      <p:bldP spid="2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 Process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27181" y="1463213"/>
            <a:ext cx="5598108" cy="2931808"/>
          </a:xfrm>
        </p:spPr>
        <p:txBody>
          <a:bodyPr/>
          <a:lstStyle/>
          <a:p>
            <a:r>
              <a:rPr lang="en-US" dirty="0"/>
              <a:t>Waterfall Model (Linear Sequential Model)</a:t>
            </a:r>
          </a:p>
          <a:p>
            <a:r>
              <a:rPr lang="en-US" dirty="0"/>
              <a:t>Incremental Process Model</a:t>
            </a:r>
          </a:p>
          <a:p>
            <a:r>
              <a:rPr lang="en-US" dirty="0"/>
              <a:t>Prototyping Model</a:t>
            </a:r>
          </a:p>
          <a:p>
            <a:r>
              <a:rPr lang="en-US" dirty="0"/>
              <a:t>The Spiral Model</a:t>
            </a:r>
          </a:p>
          <a:p>
            <a:r>
              <a:rPr lang="en-US" dirty="0"/>
              <a:t>Rapid Application Development Model</a:t>
            </a:r>
          </a:p>
          <a:p>
            <a:r>
              <a:rPr lang="en-US" dirty="0"/>
              <a:t>Agile Model</a:t>
            </a:r>
          </a:p>
          <a:p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234419" y="809368"/>
            <a:ext cx="5340471" cy="29318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Process model is selected based on different parameters</a:t>
            </a:r>
          </a:p>
          <a:p>
            <a:pPr lvl="1"/>
            <a:r>
              <a:rPr lang="en-US" dirty="0" smtClean="0"/>
              <a:t>Type of the project &amp; people</a:t>
            </a:r>
          </a:p>
          <a:p>
            <a:pPr lvl="1"/>
            <a:r>
              <a:rPr lang="en-US" dirty="0" smtClean="0"/>
              <a:t>Complexity of the project</a:t>
            </a:r>
          </a:p>
          <a:p>
            <a:pPr lvl="1"/>
            <a:r>
              <a:rPr lang="en-US" dirty="0" smtClean="0"/>
              <a:t>Size of team</a:t>
            </a:r>
          </a:p>
          <a:p>
            <a:pPr lvl="1"/>
            <a:r>
              <a:rPr lang="en-US" dirty="0" smtClean="0"/>
              <a:t>Expertise of people in team</a:t>
            </a:r>
          </a:p>
          <a:p>
            <a:pPr lvl="1"/>
            <a:r>
              <a:rPr lang="en-US" dirty="0" smtClean="0"/>
              <a:t>Working environment of team</a:t>
            </a:r>
          </a:p>
          <a:p>
            <a:pPr lvl="1"/>
            <a:r>
              <a:rPr lang="en-US" dirty="0" smtClean="0"/>
              <a:t>Software delivery deadline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6227181" y="881615"/>
            <a:ext cx="2179400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 smtClean="0"/>
              <a:t>Process Models</a:t>
            </a:r>
            <a:endParaRPr lang="en-US" sz="2400" b="1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7322555" y="1343280"/>
            <a:ext cx="4678352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5732202" y="711201"/>
            <a:ext cx="68771" cy="58928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51" r="28537"/>
          <a:stretch/>
        </p:blipFill>
        <p:spPr>
          <a:xfrm>
            <a:off x="1426457" y="3839343"/>
            <a:ext cx="2741203" cy="2719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143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  <p:bldP spid="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Waterfall Model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58887831"/>
              </p:ext>
            </p:extLst>
          </p:nvPr>
        </p:nvGraphicFramePr>
        <p:xfrm>
          <a:off x="204787" y="926817"/>
          <a:ext cx="11773853" cy="43113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Rectangle 4"/>
          <p:cNvSpPr/>
          <p:nvPr/>
        </p:nvSpPr>
        <p:spPr>
          <a:xfrm>
            <a:off x="7467600" y="273085"/>
            <a:ext cx="47244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>
                <a:solidFill>
                  <a:schemeClr val="accent6"/>
                </a:solidFill>
              </a:rPr>
              <a:t>Classic </a:t>
            </a:r>
            <a:r>
              <a:rPr lang="en-US" sz="2000" b="1" dirty="0">
                <a:solidFill>
                  <a:schemeClr val="accent6"/>
                </a:solidFill>
              </a:rPr>
              <a:t>life cycle</a:t>
            </a:r>
            <a:r>
              <a:rPr lang="en-US" sz="2000" b="1" dirty="0">
                <a:solidFill>
                  <a:schemeClr val="accent2"/>
                </a:solidFill>
              </a:rPr>
              <a:t> </a:t>
            </a:r>
            <a:r>
              <a:rPr lang="en-US" sz="2000" dirty="0"/>
              <a:t>or </a:t>
            </a:r>
            <a:r>
              <a:rPr lang="en-US" sz="2000" b="1" dirty="0">
                <a:solidFill>
                  <a:schemeClr val="accent6"/>
                </a:solidFill>
              </a:rPr>
              <a:t>linear sequential </a:t>
            </a:r>
            <a:r>
              <a:rPr lang="en-US" sz="2000" b="1" dirty="0" smtClean="0">
                <a:solidFill>
                  <a:schemeClr val="accent6"/>
                </a:solidFill>
              </a:rPr>
              <a:t>model</a:t>
            </a:r>
            <a:endParaRPr lang="en-US" sz="2000" dirty="0"/>
          </a:p>
        </p:txBody>
      </p:sp>
      <p:sp>
        <p:nvSpPr>
          <p:cNvPr id="6" name="Rectangle 5"/>
          <p:cNvSpPr/>
          <p:nvPr/>
        </p:nvSpPr>
        <p:spPr>
          <a:xfrm>
            <a:off x="204786" y="5446871"/>
            <a:ext cx="1177385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When </a:t>
            </a:r>
            <a:r>
              <a:rPr lang="en-US" sz="2800" b="1" dirty="0">
                <a:solidFill>
                  <a:schemeClr val="accent6"/>
                </a:solidFill>
              </a:rPr>
              <a:t>requirements</a:t>
            </a:r>
            <a:r>
              <a:rPr lang="en-US" sz="2800" dirty="0">
                <a:solidFill>
                  <a:schemeClr val="accent2"/>
                </a:solidFill>
              </a:rPr>
              <a:t> </a:t>
            </a:r>
            <a:r>
              <a:rPr lang="en-US" sz="2800" dirty="0"/>
              <a:t>for a problems are </a:t>
            </a:r>
            <a:r>
              <a:rPr lang="en-US" sz="2800" b="1" dirty="0">
                <a:solidFill>
                  <a:schemeClr val="accent6"/>
                </a:solidFill>
              </a:rPr>
              <a:t>well understood</a:t>
            </a:r>
            <a:r>
              <a:rPr lang="en-US" sz="2800" b="1" dirty="0">
                <a:solidFill>
                  <a:schemeClr val="accent2"/>
                </a:solidFill>
              </a:rPr>
              <a:t> </a:t>
            </a:r>
            <a:r>
              <a:rPr lang="en-US" sz="2800" dirty="0"/>
              <a:t>then this model is used in which </a:t>
            </a:r>
            <a:r>
              <a:rPr lang="en-US" sz="2800" b="1" dirty="0">
                <a:solidFill>
                  <a:schemeClr val="accent6"/>
                </a:solidFill>
              </a:rPr>
              <a:t>work flow</a:t>
            </a:r>
            <a:r>
              <a:rPr lang="en-US" sz="2800" b="1" dirty="0">
                <a:solidFill>
                  <a:schemeClr val="accent2"/>
                </a:solidFill>
              </a:rPr>
              <a:t> </a:t>
            </a:r>
            <a:r>
              <a:rPr lang="en-US" sz="2800" dirty="0"/>
              <a:t>from communication to deployment is </a:t>
            </a:r>
            <a:r>
              <a:rPr lang="en-US" sz="2800" b="1" dirty="0" smtClean="0">
                <a:solidFill>
                  <a:schemeClr val="accent6"/>
                </a:solidFill>
              </a:rPr>
              <a:t>linear</a:t>
            </a:r>
            <a:endParaRPr lang="en-US" sz="2800" b="1" dirty="0">
              <a:solidFill>
                <a:schemeClr val="accent6"/>
              </a:solidFill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204787" y="5339736"/>
            <a:ext cx="11773853" cy="0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1010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 uiExpand="1">
        <p:bldAsOne/>
      </p:bldGraphic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Waterfall Model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6214327" y="1501771"/>
            <a:ext cx="5773726" cy="45849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 smtClean="0">
                <a:solidFill>
                  <a:schemeClr val="accent6"/>
                </a:solidFill>
              </a:rPr>
              <a:t>Simple to implement</a:t>
            </a:r>
            <a:r>
              <a:rPr lang="en-US" dirty="0" smtClean="0"/>
              <a:t> and manage</a:t>
            </a:r>
            <a:endParaRPr lang="en-US" dirty="0"/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139700" y="1501771"/>
            <a:ext cx="5651500" cy="3911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 smtClean="0">
                <a:solidFill>
                  <a:schemeClr val="accent6"/>
                </a:solidFill>
              </a:rPr>
              <a:t>Requirements</a:t>
            </a:r>
            <a:r>
              <a:rPr lang="en-US" dirty="0" smtClean="0"/>
              <a:t> </a:t>
            </a:r>
            <a:r>
              <a:rPr lang="en-US" dirty="0"/>
              <a:t>are very well </a:t>
            </a:r>
            <a:r>
              <a:rPr lang="en-US" b="1" dirty="0">
                <a:solidFill>
                  <a:schemeClr val="accent6"/>
                </a:solidFill>
              </a:rPr>
              <a:t>known</a:t>
            </a:r>
            <a:r>
              <a:rPr lang="en-US" dirty="0"/>
              <a:t>, </a:t>
            </a:r>
            <a:r>
              <a:rPr lang="en-US" b="1" dirty="0">
                <a:solidFill>
                  <a:schemeClr val="accent6"/>
                </a:solidFill>
              </a:rPr>
              <a:t>clear</a:t>
            </a:r>
            <a:r>
              <a:rPr lang="en-US" dirty="0"/>
              <a:t> and </a:t>
            </a:r>
            <a:r>
              <a:rPr lang="en-US" b="1" dirty="0">
                <a:solidFill>
                  <a:schemeClr val="accent6"/>
                </a:solidFill>
              </a:rPr>
              <a:t>fixed</a:t>
            </a:r>
          </a:p>
          <a:p>
            <a:r>
              <a:rPr lang="en-US" dirty="0"/>
              <a:t>Product </a:t>
            </a:r>
            <a:r>
              <a:rPr lang="en-US" b="1" dirty="0">
                <a:solidFill>
                  <a:schemeClr val="accent6"/>
                </a:solidFill>
              </a:rPr>
              <a:t>definition</a:t>
            </a:r>
            <a:r>
              <a:rPr lang="en-US" dirty="0"/>
              <a:t> is </a:t>
            </a:r>
            <a:r>
              <a:rPr lang="en-US" b="1" dirty="0">
                <a:solidFill>
                  <a:schemeClr val="accent6"/>
                </a:solidFill>
              </a:rPr>
              <a:t>stable</a:t>
            </a:r>
          </a:p>
          <a:p>
            <a:r>
              <a:rPr lang="en-US" b="1" dirty="0">
                <a:solidFill>
                  <a:schemeClr val="accent6"/>
                </a:solidFill>
              </a:rPr>
              <a:t>Technology</a:t>
            </a:r>
            <a:r>
              <a:rPr lang="en-US" dirty="0"/>
              <a:t> is </a:t>
            </a:r>
            <a:r>
              <a:rPr lang="en-US" b="1" dirty="0">
                <a:solidFill>
                  <a:schemeClr val="accent6"/>
                </a:solidFill>
              </a:rPr>
              <a:t>understood</a:t>
            </a:r>
          </a:p>
          <a:p>
            <a:r>
              <a:rPr lang="en-US" dirty="0"/>
              <a:t>There are </a:t>
            </a:r>
            <a:r>
              <a:rPr lang="en-US" b="1" dirty="0">
                <a:solidFill>
                  <a:schemeClr val="accent6"/>
                </a:solidFill>
              </a:rPr>
              <a:t>no ambiguous</a:t>
            </a:r>
            <a:r>
              <a:rPr lang="en-US" dirty="0"/>
              <a:t> (unclear) </a:t>
            </a:r>
            <a:r>
              <a:rPr lang="en-US" b="1" dirty="0">
                <a:solidFill>
                  <a:schemeClr val="accent6"/>
                </a:solidFill>
              </a:rPr>
              <a:t>requirements</a:t>
            </a:r>
          </a:p>
          <a:p>
            <a:r>
              <a:rPr lang="en-US" dirty="0"/>
              <a:t>Ample (</a:t>
            </a:r>
            <a:r>
              <a:rPr lang="en-US" b="1" dirty="0">
                <a:solidFill>
                  <a:schemeClr val="accent6"/>
                </a:solidFill>
              </a:rPr>
              <a:t>sufficient</a:t>
            </a:r>
            <a:r>
              <a:rPr lang="en-US" dirty="0"/>
              <a:t>) </a:t>
            </a:r>
            <a:r>
              <a:rPr lang="en-US" b="1" dirty="0">
                <a:solidFill>
                  <a:schemeClr val="accent6"/>
                </a:solidFill>
              </a:rPr>
              <a:t>resources</a:t>
            </a:r>
            <a:r>
              <a:rPr lang="en-US" dirty="0"/>
              <a:t> with required </a:t>
            </a:r>
            <a:r>
              <a:rPr lang="en-US" b="1" dirty="0">
                <a:solidFill>
                  <a:schemeClr val="accent6"/>
                </a:solidFill>
              </a:rPr>
              <a:t>expertise</a:t>
            </a:r>
            <a:r>
              <a:rPr lang="en-US" dirty="0"/>
              <a:t> are </a:t>
            </a:r>
            <a:r>
              <a:rPr lang="en-US" b="1" dirty="0">
                <a:solidFill>
                  <a:schemeClr val="accent6"/>
                </a:solidFill>
              </a:rPr>
              <a:t>available</a:t>
            </a:r>
            <a:r>
              <a:rPr lang="en-US" dirty="0"/>
              <a:t> freely</a:t>
            </a:r>
          </a:p>
          <a:p>
            <a:r>
              <a:rPr lang="en-US" dirty="0"/>
              <a:t>The </a:t>
            </a:r>
            <a:r>
              <a:rPr lang="en-US" b="1" dirty="0">
                <a:solidFill>
                  <a:schemeClr val="accent6"/>
                </a:solidFill>
              </a:rPr>
              <a:t>project</a:t>
            </a:r>
            <a:r>
              <a:rPr lang="en-US" dirty="0"/>
              <a:t> is </a:t>
            </a:r>
            <a:r>
              <a:rPr lang="en-US" b="1" dirty="0" smtClean="0">
                <a:solidFill>
                  <a:schemeClr val="accent6"/>
                </a:solidFill>
              </a:rPr>
              <a:t>short</a:t>
            </a:r>
            <a:endParaRPr lang="en-US" b="1" dirty="0">
              <a:solidFill>
                <a:schemeClr val="accent6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43727" y="937568"/>
            <a:ext cx="2009774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When to use ?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1239101" y="1399233"/>
            <a:ext cx="4678352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6214327" y="899467"/>
            <a:ext cx="2009774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Advantages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7309701" y="1361132"/>
            <a:ext cx="4678352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6214327" y="2138656"/>
            <a:ext cx="2009774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Drawbacks</a:t>
            </a:r>
          </a:p>
        </p:txBody>
      </p:sp>
      <p:cxnSp>
        <p:nvCxnSpPr>
          <p:cNvPr id="18" name="Straight Connector 17"/>
          <p:cNvCxnSpPr/>
          <p:nvPr/>
        </p:nvCxnSpPr>
        <p:spPr>
          <a:xfrm>
            <a:off x="7309701" y="2600321"/>
            <a:ext cx="4678352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9" name="Content Placeholder 2"/>
          <p:cNvSpPr txBox="1">
            <a:spLocks/>
          </p:cNvSpPr>
          <p:nvPr/>
        </p:nvSpPr>
        <p:spPr>
          <a:xfrm>
            <a:off x="6214327" y="2710674"/>
            <a:ext cx="5773726" cy="38171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chemeClr val="accent6"/>
                </a:solidFill>
              </a:rPr>
              <a:t>Unable to accommodate changes</a:t>
            </a:r>
            <a:r>
              <a:rPr lang="en-US" b="1" dirty="0">
                <a:solidFill>
                  <a:schemeClr val="accent2"/>
                </a:solidFill>
              </a:rPr>
              <a:t> </a:t>
            </a:r>
            <a:r>
              <a:rPr lang="en-US" dirty="0"/>
              <a:t>at </a:t>
            </a:r>
            <a:r>
              <a:rPr lang="en-US" b="1" dirty="0"/>
              <a:t>later stages</a:t>
            </a:r>
            <a:r>
              <a:rPr lang="en-US" dirty="0"/>
              <a:t>, that is required in most of the cases.</a:t>
            </a:r>
          </a:p>
          <a:p>
            <a:r>
              <a:rPr lang="en-US" b="1" dirty="0">
                <a:solidFill>
                  <a:schemeClr val="accent6"/>
                </a:solidFill>
              </a:rPr>
              <a:t>Working version</a:t>
            </a:r>
            <a:r>
              <a:rPr lang="en-US" b="1" dirty="0">
                <a:solidFill>
                  <a:schemeClr val="accent2"/>
                </a:solidFill>
              </a:rPr>
              <a:t> </a:t>
            </a:r>
            <a:r>
              <a:rPr lang="en-US" dirty="0"/>
              <a:t>is </a:t>
            </a:r>
            <a:r>
              <a:rPr lang="en-US" b="1" dirty="0">
                <a:solidFill>
                  <a:schemeClr val="accent6"/>
                </a:solidFill>
              </a:rPr>
              <a:t>not available</a:t>
            </a:r>
            <a:r>
              <a:rPr lang="en-US" dirty="0"/>
              <a:t> during development. Which can lead the development with major mistakes.</a:t>
            </a:r>
          </a:p>
          <a:p>
            <a:r>
              <a:rPr lang="en-US" b="1" dirty="0">
                <a:solidFill>
                  <a:schemeClr val="accent6"/>
                </a:solidFill>
              </a:rPr>
              <a:t>Deadlock can occur</a:t>
            </a:r>
            <a:r>
              <a:rPr lang="en-US" b="1" dirty="0">
                <a:solidFill>
                  <a:schemeClr val="accent2"/>
                </a:solidFill>
              </a:rPr>
              <a:t> </a:t>
            </a:r>
            <a:r>
              <a:rPr lang="en-US" dirty="0"/>
              <a:t>due to delay in any step.</a:t>
            </a:r>
          </a:p>
          <a:p>
            <a:r>
              <a:rPr lang="en-US" b="1" dirty="0">
                <a:solidFill>
                  <a:schemeClr val="accent6"/>
                </a:solidFill>
              </a:rPr>
              <a:t>Not suitable</a:t>
            </a:r>
            <a:r>
              <a:rPr lang="en-US" dirty="0"/>
              <a:t> for </a:t>
            </a:r>
            <a:r>
              <a:rPr lang="en-US" b="1" dirty="0">
                <a:solidFill>
                  <a:schemeClr val="accent6"/>
                </a:solidFill>
              </a:rPr>
              <a:t>large projects</a:t>
            </a:r>
            <a:r>
              <a:rPr lang="en-US" dirty="0"/>
              <a:t>.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6012089" y="711201"/>
            <a:ext cx="68771" cy="58928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8527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2" grpId="0" animBg="1"/>
      <p:bldP spid="14" grpId="0" animBg="1"/>
      <p:bldP spid="17" grpId="0" animBg="1"/>
      <p:bldP spid="19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Incremental Process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many situations in which </a:t>
            </a:r>
            <a:r>
              <a:rPr lang="en-US" b="1" dirty="0">
                <a:solidFill>
                  <a:schemeClr val="accent6"/>
                </a:solidFill>
              </a:rPr>
              <a:t>initial software requirements</a:t>
            </a:r>
            <a:r>
              <a:rPr lang="en-US" dirty="0"/>
              <a:t> are reasonably </a:t>
            </a:r>
            <a:r>
              <a:rPr lang="en-US" b="1" dirty="0">
                <a:solidFill>
                  <a:schemeClr val="accent6"/>
                </a:solidFill>
              </a:rPr>
              <a:t>well defined</a:t>
            </a:r>
            <a:r>
              <a:rPr lang="en-US" dirty="0"/>
              <a:t>, but the </a:t>
            </a:r>
            <a:r>
              <a:rPr lang="en-US" b="1" dirty="0">
                <a:solidFill>
                  <a:schemeClr val="accent6"/>
                </a:solidFill>
              </a:rPr>
              <a:t>overall scope of the development</a:t>
            </a:r>
            <a:r>
              <a:rPr lang="en-US" dirty="0"/>
              <a:t> effort </a:t>
            </a:r>
            <a:r>
              <a:rPr lang="en-US" dirty="0" smtClean="0"/>
              <a:t>prevent </a:t>
            </a:r>
            <a:r>
              <a:rPr lang="en-US" dirty="0"/>
              <a:t>a purely </a:t>
            </a:r>
            <a:r>
              <a:rPr lang="en-US" dirty="0" smtClean="0"/>
              <a:t>linear process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In </a:t>
            </a:r>
            <a:r>
              <a:rPr lang="en-US" dirty="0"/>
              <a:t>addition, there may be a </a:t>
            </a:r>
            <a:r>
              <a:rPr lang="en-US" b="1" dirty="0">
                <a:solidFill>
                  <a:schemeClr val="accent6"/>
                </a:solidFill>
              </a:rPr>
              <a:t>compelling need</a:t>
            </a:r>
            <a:r>
              <a:rPr lang="en-US" dirty="0"/>
              <a:t> to provide a </a:t>
            </a:r>
            <a:r>
              <a:rPr lang="en-US" b="1" dirty="0">
                <a:solidFill>
                  <a:schemeClr val="accent6"/>
                </a:solidFill>
              </a:rPr>
              <a:t>limited set of software functionality</a:t>
            </a:r>
            <a:r>
              <a:rPr lang="en-US" dirty="0"/>
              <a:t> to users </a:t>
            </a:r>
            <a:r>
              <a:rPr lang="en-US" b="1" dirty="0">
                <a:solidFill>
                  <a:schemeClr val="accent6"/>
                </a:solidFill>
              </a:rPr>
              <a:t>quickly</a:t>
            </a:r>
            <a:r>
              <a:rPr lang="en-US" dirty="0"/>
              <a:t> and then</a:t>
            </a:r>
            <a:r>
              <a:rPr lang="en-US" b="1" dirty="0">
                <a:solidFill>
                  <a:schemeClr val="accent6"/>
                </a:solidFill>
              </a:rPr>
              <a:t> refine and expand on that functionality </a:t>
            </a:r>
            <a:r>
              <a:rPr lang="en-US" dirty="0"/>
              <a:t>in later software releases. </a:t>
            </a:r>
            <a:endParaRPr lang="en-US" dirty="0" smtClean="0"/>
          </a:p>
          <a:p>
            <a:r>
              <a:rPr lang="en-US" dirty="0" smtClean="0"/>
              <a:t>In </a:t>
            </a:r>
            <a:r>
              <a:rPr lang="en-US" dirty="0"/>
              <a:t>such cases, </a:t>
            </a:r>
            <a:r>
              <a:rPr lang="en-US" dirty="0" smtClean="0"/>
              <a:t>there is a need of a </a:t>
            </a:r>
            <a:r>
              <a:rPr lang="en-US" dirty="0"/>
              <a:t>process model that is designed to produce the software in increments</a:t>
            </a:r>
            <a:r>
              <a:rPr lang="en-US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11257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Incremental Process Model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0200" y="1995765"/>
            <a:ext cx="2667000" cy="182693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2" y="2755900"/>
            <a:ext cx="4310570" cy="106680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7905" y="2070101"/>
            <a:ext cx="4402341" cy="107743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3755" y="757880"/>
            <a:ext cx="4229100" cy="16954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11805" y="3486516"/>
            <a:ext cx="22028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Project Calendar Time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91032" y="743860"/>
            <a:ext cx="461665" cy="3160481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dirty="0" smtClean="0"/>
              <a:t>Software Functionality &amp; Features</a:t>
            </a:r>
            <a:endParaRPr lang="en-US" dirty="0"/>
          </a:p>
        </p:txBody>
      </p:sp>
      <p:cxnSp>
        <p:nvCxnSpPr>
          <p:cNvPr id="13" name="Straight Arrow Connector 12"/>
          <p:cNvCxnSpPr/>
          <p:nvPr/>
        </p:nvCxnSpPr>
        <p:spPr>
          <a:xfrm flipV="1">
            <a:off x="565351" y="846781"/>
            <a:ext cx="0" cy="302671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571500" y="3873500"/>
            <a:ext cx="81534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8" name="Content Placeholder 2"/>
          <p:cNvSpPr>
            <a:spLocks noGrp="1"/>
          </p:cNvSpPr>
          <p:nvPr>
            <p:ph idx="1"/>
          </p:nvPr>
        </p:nvSpPr>
        <p:spPr>
          <a:xfrm>
            <a:off x="404705" y="4321826"/>
            <a:ext cx="11482495" cy="1979431"/>
          </a:xfrm>
        </p:spPr>
        <p:txBody>
          <a:bodyPr>
            <a:normAutofit/>
          </a:bodyPr>
          <a:lstStyle/>
          <a:p>
            <a:r>
              <a:rPr lang="en-US" dirty="0" smtClean="0"/>
              <a:t>The incremental model </a:t>
            </a:r>
            <a:r>
              <a:rPr lang="en-US" b="1" dirty="0" smtClean="0">
                <a:solidFill>
                  <a:schemeClr val="accent6"/>
                </a:solidFill>
              </a:rPr>
              <a:t>combines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elements of</a:t>
            </a:r>
            <a:r>
              <a:rPr lang="en-US" b="1" dirty="0" smtClean="0">
                <a:solidFill>
                  <a:schemeClr val="accent2"/>
                </a:solidFill>
              </a:rPr>
              <a:t> </a:t>
            </a:r>
            <a:r>
              <a:rPr lang="en-US" b="1" dirty="0" smtClean="0">
                <a:solidFill>
                  <a:schemeClr val="accent6"/>
                </a:solidFill>
              </a:rPr>
              <a:t>linear</a:t>
            </a:r>
            <a:r>
              <a:rPr lang="en-US" dirty="0" smtClean="0"/>
              <a:t> and </a:t>
            </a:r>
            <a:r>
              <a:rPr lang="en-US" b="1" dirty="0" smtClean="0">
                <a:solidFill>
                  <a:schemeClr val="accent6"/>
                </a:solidFill>
              </a:rPr>
              <a:t>parallel</a:t>
            </a:r>
            <a:r>
              <a:rPr lang="en-US" dirty="0" smtClean="0">
                <a:solidFill>
                  <a:schemeClr val="accent2"/>
                </a:solidFill>
              </a:rPr>
              <a:t> </a:t>
            </a:r>
            <a:r>
              <a:rPr lang="en-US" dirty="0" smtClean="0"/>
              <a:t>process flows.</a:t>
            </a:r>
          </a:p>
          <a:p>
            <a:r>
              <a:rPr lang="en-US" dirty="0" smtClean="0"/>
              <a:t>This model applies linear sequence in a </a:t>
            </a:r>
            <a:r>
              <a:rPr lang="en-US" dirty="0"/>
              <a:t>iterative manner</a:t>
            </a:r>
            <a:r>
              <a:rPr lang="en-US" dirty="0" smtClean="0"/>
              <a:t>.</a:t>
            </a:r>
          </a:p>
          <a:p>
            <a:r>
              <a:rPr lang="en-US" dirty="0"/>
              <a:t>Initially </a:t>
            </a:r>
            <a:r>
              <a:rPr lang="en-US" b="1" dirty="0">
                <a:solidFill>
                  <a:schemeClr val="accent6"/>
                </a:solidFill>
              </a:rPr>
              <a:t>core working product</a:t>
            </a:r>
            <a:r>
              <a:rPr lang="en-US" b="1" dirty="0">
                <a:solidFill>
                  <a:schemeClr val="accent2"/>
                </a:solidFill>
              </a:rPr>
              <a:t> </a:t>
            </a:r>
            <a:r>
              <a:rPr lang="en-US" dirty="0"/>
              <a:t>is </a:t>
            </a:r>
            <a:r>
              <a:rPr lang="en-US" b="1" dirty="0">
                <a:solidFill>
                  <a:schemeClr val="accent6"/>
                </a:solidFill>
              </a:rPr>
              <a:t>delivered</a:t>
            </a:r>
            <a:r>
              <a:rPr lang="en-US" dirty="0"/>
              <a:t>.</a:t>
            </a:r>
          </a:p>
          <a:p>
            <a:r>
              <a:rPr lang="en-US" b="1" dirty="0" smtClean="0">
                <a:solidFill>
                  <a:schemeClr val="accent6"/>
                </a:solidFill>
              </a:rPr>
              <a:t>Each</a:t>
            </a:r>
            <a:r>
              <a:rPr lang="en-US" dirty="0" smtClean="0">
                <a:solidFill>
                  <a:schemeClr val="accent2"/>
                </a:solidFill>
              </a:rPr>
              <a:t> </a:t>
            </a:r>
            <a:r>
              <a:rPr lang="en-US" dirty="0" smtClean="0"/>
              <a:t>linear </a:t>
            </a:r>
            <a:r>
              <a:rPr lang="en-US" b="1" dirty="0" smtClean="0">
                <a:solidFill>
                  <a:schemeClr val="accent6"/>
                </a:solidFill>
              </a:rPr>
              <a:t>sequence</a:t>
            </a:r>
            <a:r>
              <a:rPr lang="en-US" dirty="0" smtClean="0">
                <a:solidFill>
                  <a:schemeClr val="accent2"/>
                </a:solidFill>
              </a:rPr>
              <a:t> </a:t>
            </a:r>
            <a:r>
              <a:rPr lang="en-US" dirty="0" smtClean="0"/>
              <a:t>produces deliverable </a:t>
            </a:r>
            <a:r>
              <a:rPr lang="en-US" b="1" dirty="0" smtClean="0">
                <a:solidFill>
                  <a:schemeClr val="accent6"/>
                </a:solidFill>
              </a:rPr>
              <a:t>“increments”</a:t>
            </a:r>
            <a:r>
              <a:rPr lang="en-US" b="1" dirty="0" smtClean="0">
                <a:solidFill>
                  <a:schemeClr val="accent2"/>
                </a:solidFill>
              </a:rPr>
              <a:t> </a:t>
            </a:r>
            <a:r>
              <a:rPr lang="en-US" dirty="0" smtClean="0"/>
              <a:t>of the software.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6750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8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Incremental Process Model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90500" y="4137968"/>
            <a:ext cx="2009774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When to use ?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1285874" y="4599633"/>
            <a:ext cx="5330826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7" name="Content Placeholder 2"/>
          <p:cNvSpPr txBox="1">
            <a:spLocks/>
          </p:cNvSpPr>
          <p:nvPr/>
        </p:nvSpPr>
        <p:spPr>
          <a:xfrm>
            <a:off x="190500" y="4832052"/>
            <a:ext cx="6426200" cy="15179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When the </a:t>
            </a:r>
            <a:r>
              <a:rPr lang="en-US" b="1" dirty="0">
                <a:solidFill>
                  <a:schemeClr val="accent6"/>
                </a:solidFill>
              </a:rPr>
              <a:t>requirements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/>
              <a:t>of the </a:t>
            </a:r>
            <a:r>
              <a:rPr lang="en-US" b="1" dirty="0">
                <a:solidFill>
                  <a:schemeClr val="accent6"/>
                </a:solidFill>
              </a:rPr>
              <a:t>complete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/>
              <a:t>system are clearly </a:t>
            </a:r>
            <a:r>
              <a:rPr lang="en-US" b="1" dirty="0">
                <a:solidFill>
                  <a:schemeClr val="accent6"/>
                </a:solidFill>
              </a:rPr>
              <a:t>defined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/>
              <a:t>and understood but </a:t>
            </a:r>
            <a:r>
              <a:rPr lang="en-US" b="1" dirty="0">
                <a:solidFill>
                  <a:schemeClr val="accent6"/>
                </a:solidFill>
              </a:rPr>
              <a:t>staffing is unavailable</a:t>
            </a:r>
            <a:r>
              <a:rPr lang="en-US" b="1" dirty="0">
                <a:solidFill>
                  <a:schemeClr val="accent2"/>
                </a:solidFill>
              </a:rPr>
              <a:t> </a:t>
            </a:r>
            <a:r>
              <a:rPr lang="en-US" dirty="0"/>
              <a:t>for a </a:t>
            </a:r>
            <a:r>
              <a:rPr lang="en-US" b="1" dirty="0">
                <a:solidFill>
                  <a:schemeClr val="accent6"/>
                </a:solidFill>
              </a:rPr>
              <a:t>complete implementation</a:t>
            </a:r>
            <a:r>
              <a:rPr lang="en-US" dirty="0"/>
              <a:t> by the business deadline.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9956800" y="1953969"/>
            <a:ext cx="2009774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Advantages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7200900" y="2415634"/>
            <a:ext cx="4770426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0" name="Content Placeholder 2"/>
          <p:cNvSpPr txBox="1">
            <a:spLocks/>
          </p:cNvSpPr>
          <p:nvPr/>
        </p:nvSpPr>
        <p:spPr>
          <a:xfrm>
            <a:off x="7086600" y="2482998"/>
            <a:ext cx="4978400" cy="39940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Generates </a:t>
            </a:r>
            <a:r>
              <a:rPr lang="en-US" b="1" dirty="0">
                <a:solidFill>
                  <a:schemeClr val="accent6"/>
                </a:solidFill>
              </a:rPr>
              <a:t>working software quickly</a:t>
            </a:r>
            <a:r>
              <a:rPr lang="en-US" b="1" dirty="0">
                <a:solidFill>
                  <a:schemeClr val="accent2"/>
                </a:solidFill>
              </a:rPr>
              <a:t> </a:t>
            </a:r>
            <a:r>
              <a:rPr lang="en-US" dirty="0"/>
              <a:t>and early during the software life cycle.</a:t>
            </a:r>
          </a:p>
          <a:p>
            <a:r>
              <a:rPr lang="en-US" dirty="0"/>
              <a:t>It is </a:t>
            </a:r>
            <a:r>
              <a:rPr lang="en-US" b="1" dirty="0">
                <a:solidFill>
                  <a:schemeClr val="accent6"/>
                </a:solidFill>
              </a:rPr>
              <a:t>easier to test </a:t>
            </a:r>
            <a:r>
              <a:rPr lang="en-US" dirty="0"/>
              <a:t>and debug during a smaller iteration.</a:t>
            </a:r>
          </a:p>
          <a:p>
            <a:r>
              <a:rPr lang="en-US" b="1" dirty="0">
                <a:solidFill>
                  <a:schemeClr val="accent6"/>
                </a:solidFill>
              </a:rPr>
              <a:t>Customer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/>
              <a:t>can </a:t>
            </a:r>
            <a:r>
              <a:rPr lang="en-US" b="1" dirty="0">
                <a:solidFill>
                  <a:schemeClr val="accent6"/>
                </a:solidFill>
              </a:rPr>
              <a:t>respond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/>
              <a:t>to each built.</a:t>
            </a:r>
          </a:p>
          <a:p>
            <a:r>
              <a:rPr lang="en-US" b="1" dirty="0">
                <a:solidFill>
                  <a:schemeClr val="accent6"/>
                </a:solidFill>
              </a:rPr>
              <a:t>Lowers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b="1" dirty="0">
                <a:solidFill>
                  <a:schemeClr val="accent6"/>
                </a:solidFill>
              </a:rPr>
              <a:t>initial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/>
              <a:t>delivery </a:t>
            </a:r>
            <a:r>
              <a:rPr lang="en-US" b="1" dirty="0">
                <a:solidFill>
                  <a:schemeClr val="accent6"/>
                </a:solidFill>
              </a:rPr>
              <a:t>cost</a:t>
            </a:r>
            <a:r>
              <a:rPr lang="en-US" dirty="0"/>
              <a:t>.</a:t>
            </a:r>
          </a:p>
          <a:p>
            <a:r>
              <a:rPr lang="en-US" b="1" dirty="0">
                <a:solidFill>
                  <a:schemeClr val="accent6"/>
                </a:solidFill>
              </a:rPr>
              <a:t>Easier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/>
              <a:t>to </a:t>
            </a:r>
            <a:r>
              <a:rPr lang="en-US" b="1" dirty="0">
                <a:solidFill>
                  <a:schemeClr val="accent6"/>
                </a:solidFill>
              </a:rPr>
              <a:t>manage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b="1" dirty="0">
                <a:solidFill>
                  <a:schemeClr val="accent6"/>
                </a:solidFill>
              </a:rPr>
              <a:t>risk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/>
              <a:t>because risky pieces are identified and handled during iteration.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0500" y="819204"/>
            <a:ext cx="93091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e.g. </a:t>
            </a:r>
            <a:r>
              <a:rPr lang="en-US" sz="2400" b="1" dirty="0"/>
              <a:t>word-processing software</a:t>
            </a:r>
            <a:r>
              <a:rPr lang="en-US" sz="2400" dirty="0"/>
              <a:t> developed </a:t>
            </a:r>
            <a:r>
              <a:rPr lang="en-US" sz="2400" b="1" dirty="0"/>
              <a:t>using</a:t>
            </a:r>
            <a:r>
              <a:rPr lang="en-US" sz="2400" dirty="0"/>
              <a:t> the </a:t>
            </a:r>
            <a:r>
              <a:rPr lang="en-US" sz="2400" b="1" dirty="0"/>
              <a:t>incremental model</a:t>
            </a:r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190500" y="1355375"/>
            <a:ext cx="6718300" cy="26237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300" dirty="0"/>
              <a:t>It might deliver basic file management, editing and document production functions in the first increment</a:t>
            </a:r>
          </a:p>
          <a:p>
            <a:r>
              <a:rPr lang="en-US" sz="2300" dirty="0"/>
              <a:t>more sophisticated editing in the second increment; </a:t>
            </a:r>
          </a:p>
          <a:p>
            <a:r>
              <a:rPr lang="en-US" sz="2300" dirty="0"/>
              <a:t>spelling and grammar checking in the third increment; and </a:t>
            </a:r>
          </a:p>
          <a:p>
            <a:r>
              <a:rPr lang="en-US" sz="2300" dirty="0"/>
              <a:t>advanced page layout capability in the fourth increment</a:t>
            </a:r>
            <a:r>
              <a:rPr lang="en-US" sz="2300" dirty="0" smtClean="0"/>
              <a:t>.</a:t>
            </a:r>
            <a:endParaRPr lang="en-US" sz="2300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59407" y="1355375"/>
            <a:ext cx="61253" cy="524862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4977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  <p:bldP spid="8" grpId="0" animBg="1"/>
      <p:bldP spid="10" grpId="0"/>
      <p:bldP spid="11" grpId="0"/>
      <p:bldP spid="1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Evolutionary Process Models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When a set of </a:t>
            </a:r>
            <a:r>
              <a:rPr lang="en-US" b="1" dirty="0" smtClean="0">
                <a:solidFill>
                  <a:srgbClr val="C00000"/>
                </a:solidFill>
              </a:rPr>
              <a:t>core product </a:t>
            </a:r>
            <a:r>
              <a:rPr lang="en-US" dirty="0" smtClean="0"/>
              <a:t>or system requirements is </a:t>
            </a:r>
            <a:r>
              <a:rPr lang="en-US" b="1" dirty="0" smtClean="0">
                <a:solidFill>
                  <a:srgbClr val="C00000"/>
                </a:solidFill>
              </a:rPr>
              <a:t>well understood</a:t>
            </a:r>
            <a:r>
              <a:rPr lang="en-US" dirty="0" smtClean="0"/>
              <a:t> but the </a:t>
            </a:r>
            <a:r>
              <a:rPr lang="en-US" b="1" dirty="0" smtClean="0">
                <a:solidFill>
                  <a:srgbClr val="C00000"/>
                </a:solidFill>
              </a:rPr>
              <a:t>details of product </a:t>
            </a:r>
            <a:r>
              <a:rPr lang="en-US" dirty="0" smtClean="0"/>
              <a:t>or system extensions have </a:t>
            </a:r>
            <a:r>
              <a:rPr lang="en-US" b="1" dirty="0" smtClean="0">
                <a:solidFill>
                  <a:srgbClr val="C00000"/>
                </a:solidFill>
              </a:rPr>
              <a:t>yet to be defined</a:t>
            </a:r>
            <a:r>
              <a:rPr lang="en-US" dirty="0" smtClean="0"/>
              <a:t>.</a:t>
            </a:r>
          </a:p>
          <a:p>
            <a:r>
              <a:rPr lang="en-US" dirty="0" smtClean="0"/>
              <a:t>In this situation there is </a:t>
            </a:r>
            <a:r>
              <a:rPr lang="en-US" b="1" dirty="0" smtClean="0"/>
              <a:t>a need of process model </a:t>
            </a:r>
            <a:r>
              <a:rPr lang="en-US" dirty="0" smtClean="0"/>
              <a:t>which specially designed to accommodate </a:t>
            </a:r>
            <a:r>
              <a:rPr lang="en-US" b="1" dirty="0" smtClean="0">
                <a:solidFill>
                  <a:srgbClr val="C00000"/>
                </a:solidFill>
              </a:rPr>
              <a:t>product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that </a:t>
            </a:r>
            <a:r>
              <a:rPr lang="en-US" b="1" dirty="0" smtClean="0">
                <a:solidFill>
                  <a:srgbClr val="C00000"/>
                </a:solidFill>
              </a:rPr>
              <a:t>evolve with time</a:t>
            </a:r>
            <a:r>
              <a:rPr lang="en-US" dirty="0" smtClean="0"/>
              <a:t>.</a:t>
            </a:r>
          </a:p>
          <a:p>
            <a:r>
              <a:rPr lang="en-US" b="1" dirty="0" smtClean="0">
                <a:solidFill>
                  <a:srgbClr val="C00000"/>
                </a:solidFill>
              </a:rPr>
              <a:t>Evolutionary Process Models </a:t>
            </a:r>
            <a:r>
              <a:rPr lang="en-US" dirty="0" smtClean="0"/>
              <a:t>are specially meant for that which produce </a:t>
            </a:r>
            <a:r>
              <a:rPr lang="en-US" dirty="0"/>
              <a:t>an increasingly more complete version of the software with each iteration.</a:t>
            </a:r>
          </a:p>
          <a:p>
            <a:r>
              <a:rPr lang="en-US" dirty="0"/>
              <a:t>Evolutionary Models are </a:t>
            </a:r>
            <a:r>
              <a:rPr lang="en-US" b="1" dirty="0">
                <a:solidFill>
                  <a:srgbClr val="C00000"/>
                </a:solidFill>
              </a:rPr>
              <a:t>iterative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/>
              <a:t>They are characterized in a manner that enables you to develop </a:t>
            </a:r>
            <a:r>
              <a:rPr lang="en-US" b="1" dirty="0"/>
              <a:t>increasingly more complete versions of the software</a:t>
            </a:r>
            <a:r>
              <a:rPr lang="en-US" dirty="0"/>
              <a:t>.</a:t>
            </a:r>
          </a:p>
          <a:p>
            <a:r>
              <a:rPr lang="en-US" dirty="0"/>
              <a:t>Evolutionary </a:t>
            </a:r>
            <a:r>
              <a:rPr lang="en-US" dirty="0" smtClean="0"/>
              <a:t>models are</a:t>
            </a:r>
            <a:endParaRPr lang="en-US" dirty="0"/>
          </a:p>
          <a:p>
            <a:pPr lvl="1"/>
            <a:r>
              <a:rPr lang="en-US" b="1" dirty="0"/>
              <a:t>Prototyping Model</a:t>
            </a:r>
          </a:p>
          <a:p>
            <a:pPr lvl="1"/>
            <a:r>
              <a:rPr lang="en-US" b="1" dirty="0"/>
              <a:t>Spiral </a:t>
            </a:r>
            <a:r>
              <a:rPr lang="en-US" b="1" dirty="0" smtClean="0"/>
              <a:t>Model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9421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Prototyping model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310934" y="1465308"/>
            <a:ext cx="11535925" cy="1398916"/>
          </a:xfrm>
        </p:spPr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Customers have </a:t>
            </a:r>
            <a:r>
              <a:rPr lang="en-US" dirty="0" smtClean="0"/>
              <a:t>general </a:t>
            </a:r>
            <a:r>
              <a:rPr lang="en-US" b="1" dirty="0" smtClean="0">
                <a:solidFill>
                  <a:srgbClr val="C00000"/>
                </a:solidFill>
              </a:rPr>
              <a:t>objectives of software</a:t>
            </a:r>
            <a:r>
              <a:rPr lang="en-US" dirty="0" smtClean="0"/>
              <a:t> but </a:t>
            </a:r>
            <a:r>
              <a:rPr lang="en-US" b="1" dirty="0" smtClean="0">
                <a:solidFill>
                  <a:srgbClr val="C00000"/>
                </a:solidFill>
              </a:rPr>
              <a:t>do not have detailed requirements</a:t>
            </a:r>
            <a:r>
              <a:rPr lang="en-US" dirty="0" smtClean="0"/>
              <a:t> for functions &amp; features.</a:t>
            </a:r>
          </a:p>
          <a:p>
            <a:r>
              <a:rPr lang="en-US" b="1" dirty="0" smtClean="0">
                <a:solidFill>
                  <a:srgbClr val="C00000"/>
                </a:solidFill>
              </a:rPr>
              <a:t>Developers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are </a:t>
            </a:r>
            <a:r>
              <a:rPr lang="en-US" b="1" dirty="0" smtClean="0">
                <a:solidFill>
                  <a:srgbClr val="C00000"/>
                </a:solidFill>
              </a:rPr>
              <a:t>not sure </a:t>
            </a:r>
            <a:r>
              <a:rPr lang="en-US" dirty="0" smtClean="0"/>
              <a:t>about </a:t>
            </a:r>
            <a:r>
              <a:rPr lang="en-US" b="1" dirty="0" smtClean="0"/>
              <a:t>efficiency of </a:t>
            </a:r>
            <a:r>
              <a:rPr lang="en-US" b="1" dirty="0"/>
              <a:t>an algorithm </a:t>
            </a:r>
            <a:r>
              <a:rPr lang="en-US" dirty="0"/>
              <a:t>&amp; </a:t>
            </a:r>
            <a:r>
              <a:rPr lang="en-US" b="1" dirty="0"/>
              <a:t>technical feasibilities</a:t>
            </a:r>
            <a:r>
              <a:rPr lang="en-US" dirty="0"/>
              <a:t>.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292733" y="3221121"/>
            <a:ext cx="11554126" cy="225183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It serves as a </a:t>
            </a:r>
            <a:r>
              <a:rPr lang="en-US" b="1" dirty="0" smtClean="0"/>
              <a:t>mechanism</a:t>
            </a:r>
            <a:r>
              <a:rPr lang="en-US" dirty="0" smtClean="0"/>
              <a:t> for </a:t>
            </a:r>
            <a:r>
              <a:rPr lang="en-US" b="1" dirty="0" smtClean="0">
                <a:solidFill>
                  <a:srgbClr val="C00000"/>
                </a:solidFill>
              </a:rPr>
              <a:t>identifying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b="1" dirty="0" smtClean="0">
                <a:solidFill>
                  <a:srgbClr val="C00000"/>
                </a:solidFill>
              </a:rPr>
              <a:t>software requirements</a:t>
            </a:r>
            <a:r>
              <a:rPr lang="en-US" dirty="0" smtClean="0"/>
              <a:t>.</a:t>
            </a:r>
          </a:p>
          <a:p>
            <a:r>
              <a:rPr lang="en-US" dirty="0" smtClean="0"/>
              <a:t>Prototype can be serve as “</a:t>
            </a:r>
            <a:r>
              <a:rPr lang="en-US" b="1" dirty="0" smtClean="0">
                <a:solidFill>
                  <a:srgbClr val="C00000"/>
                </a:solidFill>
              </a:rPr>
              <a:t>the first system</a:t>
            </a:r>
            <a:r>
              <a:rPr lang="en-US" dirty="0" smtClean="0"/>
              <a:t>”.</a:t>
            </a:r>
          </a:p>
          <a:p>
            <a:r>
              <a:rPr lang="en-US" dirty="0"/>
              <a:t>Both stakeholders and software engineers like prototyping model</a:t>
            </a:r>
          </a:p>
          <a:p>
            <a:pPr lvl="1"/>
            <a:r>
              <a:rPr lang="en-US" dirty="0"/>
              <a:t>Users get feel for the actual system</a:t>
            </a:r>
          </a:p>
          <a:p>
            <a:pPr lvl="1"/>
            <a:r>
              <a:rPr lang="en-US" dirty="0"/>
              <a:t>Developers get to build something immediately</a:t>
            </a:r>
          </a:p>
          <a:p>
            <a:pPr marL="0" indent="0">
              <a:buNone/>
            </a:pPr>
            <a:endParaRPr lang="en-US" dirty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292733" y="849558"/>
            <a:ext cx="2009774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When to use ?</a:t>
            </a:r>
          </a:p>
        </p:txBody>
      </p:sp>
      <p:cxnSp>
        <p:nvCxnSpPr>
          <p:cNvPr id="18" name="Straight Connector 17"/>
          <p:cNvCxnSpPr/>
          <p:nvPr/>
        </p:nvCxnSpPr>
        <p:spPr>
          <a:xfrm>
            <a:off x="1388107" y="1311223"/>
            <a:ext cx="10458752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363700" y="2920939"/>
            <a:ext cx="1148315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5927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Prototyping </a:t>
            </a:r>
            <a:r>
              <a:rPr lang="en-US" dirty="0" smtClean="0"/>
              <a:t>model cont.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92733" y="849558"/>
            <a:ext cx="2410126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It works as follow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1388107" y="1311223"/>
            <a:ext cx="10445305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6" name="Freeform 5"/>
          <p:cNvSpPr/>
          <p:nvPr/>
        </p:nvSpPr>
        <p:spPr>
          <a:xfrm>
            <a:off x="3693066" y="2158357"/>
            <a:ext cx="2308946" cy="511097"/>
          </a:xfrm>
          <a:custGeom>
            <a:avLst/>
            <a:gdLst>
              <a:gd name="connsiteX0" fmla="*/ 0 w 2308946"/>
              <a:gd name="connsiteY0" fmla="*/ 0 h 511097"/>
              <a:gd name="connsiteX1" fmla="*/ 2308946 w 2308946"/>
              <a:gd name="connsiteY1" fmla="*/ 0 h 511097"/>
              <a:gd name="connsiteX2" fmla="*/ 2308946 w 2308946"/>
              <a:gd name="connsiteY2" fmla="*/ 511097 h 511097"/>
              <a:gd name="connsiteX3" fmla="*/ 0 w 2308946"/>
              <a:gd name="connsiteY3" fmla="*/ 511097 h 511097"/>
              <a:gd name="connsiteX4" fmla="*/ 0 w 2308946"/>
              <a:gd name="connsiteY4" fmla="*/ 0 h 5110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8946" h="511097">
                <a:moveTo>
                  <a:pt x="0" y="0"/>
                </a:moveTo>
                <a:lnTo>
                  <a:pt x="2308946" y="0"/>
                </a:lnTo>
                <a:lnTo>
                  <a:pt x="2308946" y="511097"/>
                </a:lnTo>
                <a:lnTo>
                  <a:pt x="0" y="511097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spcFirstLastPara="0" vert="horz" wrap="square" lIns="30480" tIns="30480" rIns="30480" bIns="30480" numCol="1" spcCol="1270" anchor="ctr" anchorCtr="0">
            <a:noAutofit/>
          </a:bodyPr>
          <a:lstStyle/>
          <a:p>
            <a:pPr lvl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b="1" kern="1200" dirty="0" smtClean="0"/>
              <a:t>Communication</a:t>
            </a:r>
            <a:endParaRPr lang="en-US" sz="2400" b="1" kern="1200" dirty="0"/>
          </a:p>
        </p:txBody>
      </p:sp>
      <p:sp>
        <p:nvSpPr>
          <p:cNvPr id="7" name="Circular Arrow 6"/>
          <p:cNvSpPr/>
          <p:nvPr/>
        </p:nvSpPr>
        <p:spPr>
          <a:xfrm>
            <a:off x="840264" y="1386150"/>
            <a:ext cx="4787267" cy="4787267"/>
          </a:xfrm>
          <a:prstGeom prst="circularArrow">
            <a:avLst>
              <a:gd name="adj1" fmla="val 5201"/>
              <a:gd name="adj2" fmla="val 336003"/>
              <a:gd name="adj3" fmla="val 664695"/>
              <a:gd name="adj4" fmla="val 19708849"/>
              <a:gd name="adj5" fmla="val 6068"/>
            </a:avLst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8" name="Freeform 7"/>
          <p:cNvSpPr/>
          <p:nvPr/>
        </p:nvSpPr>
        <p:spPr>
          <a:xfrm>
            <a:off x="4350041" y="4389332"/>
            <a:ext cx="1692003" cy="490627"/>
          </a:xfrm>
          <a:custGeom>
            <a:avLst/>
            <a:gdLst>
              <a:gd name="connsiteX0" fmla="*/ 0 w 1692003"/>
              <a:gd name="connsiteY0" fmla="*/ 0 h 490627"/>
              <a:gd name="connsiteX1" fmla="*/ 1692003 w 1692003"/>
              <a:gd name="connsiteY1" fmla="*/ 0 h 490627"/>
              <a:gd name="connsiteX2" fmla="*/ 1692003 w 1692003"/>
              <a:gd name="connsiteY2" fmla="*/ 490627 h 490627"/>
              <a:gd name="connsiteX3" fmla="*/ 0 w 1692003"/>
              <a:gd name="connsiteY3" fmla="*/ 490627 h 490627"/>
              <a:gd name="connsiteX4" fmla="*/ 0 w 1692003"/>
              <a:gd name="connsiteY4" fmla="*/ 0 h 490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92003" h="490627">
                <a:moveTo>
                  <a:pt x="0" y="0"/>
                </a:moveTo>
                <a:lnTo>
                  <a:pt x="1692003" y="0"/>
                </a:lnTo>
                <a:lnTo>
                  <a:pt x="1692003" y="490627"/>
                </a:lnTo>
                <a:lnTo>
                  <a:pt x="0" y="490627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spcFirstLastPara="0" vert="horz" wrap="square" lIns="30480" tIns="30480" rIns="30480" bIns="30480" numCol="1" spcCol="1270" anchor="ctr" anchorCtr="0">
            <a:noAutofit/>
          </a:bodyPr>
          <a:lstStyle/>
          <a:p>
            <a:pPr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b="1" dirty="0">
                <a:solidFill>
                  <a:schemeClr val="dk1"/>
                </a:solidFill>
              </a:rPr>
              <a:t>Quick Plan</a:t>
            </a:r>
          </a:p>
        </p:txBody>
      </p:sp>
      <p:sp>
        <p:nvSpPr>
          <p:cNvPr id="9" name="Circular Arrow 8"/>
          <p:cNvSpPr/>
          <p:nvPr/>
        </p:nvSpPr>
        <p:spPr>
          <a:xfrm>
            <a:off x="843845" y="1447158"/>
            <a:ext cx="4787267" cy="4787267"/>
          </a:xfrm>
          <a:prstGeom prst="circularArrow">
            <a:avLst>
              <a:gd name="adj1" fmla="val 5201"/>
              <a:gd name="adj2" fmla="val 336003"/>
              <a:gd name="adj3" fmla="val 3294539"/>
              <a:gd name="adj4" fmla="val 1757590"/>
              <a:gd name="adj5" fmla="val 6068"/>
            </a:avLst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2069221" y="5642407"/>
            <a:ext cx="2213814" cy="725100"/>
          </a:xfrm>
          <a:custGeom>
            <a:avLst/>
            <a:gdLst>
              <a:gd name="connsiteX0" fmla="*/ 0 w 2213814"/>
              <a:gd name="connsiteY0" fmla="*/ 0 h 725100"/>
              <a:gd name="connsiteX1" fmla="*/ 2213814 w 2213814"/>
              <a:gd name="connsiteY1" fmla="*/ 0 h 725100"/>
              <a:gd name="connsiteX2" fmla="*/ 2213814 w 2213814"/>
              <a:gd name="connsiteY2" fmla="*/ 725100 h 725100"/>
              <a:gd name="connsiteX3" fmla="*/ 0 w 2213814"/>
              <a:gd name="connsiteY3" fmla="*/ 725100 h 725100"/>
              <a:gd name="connsiteX4" fmla="*/ 0 w 2213814"/>
              <a:gd name="connsiteY4" fmla="*/ 0 h 725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13814" h="725100">
                <a:moveTo>
                  <a:pt x="0" y="0"/>
                </a:moveTo>
                <a:lnTo>
                  <a:pt x="2213814" y="0"/>
                </a:lnTo>
                <a:lnTo>
                  <a:pt x="2213814" y="725100"/>
                </a:lnTo>
                <a:lnTo>
                  <a:pt x="0" y="7251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spcFirstLastPara="0" vert="horz" wrap="square" lIns="30480" tIns="30480" rIns="30480" bIns="30480" numCol="1" spcCol="1270" anchor="ctr" anchorCtr="0">
            <a:noAutofit/>
          </a:bodyPr>
          <a:lstStyle/>
          <a:p>
            <a:pPr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b="1" dirty="0">
                <a:solidFill>
                  <a:schemeClr val="dk1"/>
                </a:solidFill>
              </a:rPr>
              <a:t>Modeling Quick Design</a:t>
            </a:r>
          </a:p>
        </p:txBody>
      </p:sp>
      <p:sp>
        <p:nvSpPr>
          <p:cNvPr id="11" name="Circular Arrow 10"/>
          <p:cNvSpPr/>
          <p:nvPr/>
        </p:nvSpPr>
        <p:spPr>
          <a:xfrm>
            <a:off x="725414" y="1449580"/>
            <a:ext cx="4787267" cy="4787267"/>
          </a:xfrm>
          <a:prstGeom prst="circularArrow">
            <a:avLst>
              <a:gd name="adj1" fmla="val 5201"/>
              <a:gd name="adj2" fmla="val 336003"/>
              <a:gd name="adj3" fmla="val 8662662"/>
              <a:gd name="adj4" fmla="val 7177404"/>
              <a:gd name="adj5" fmla="val 6068"/>
            </a:avLst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2" name="Freeform 11"/>
          <p:cNvSpPr/>
          <p:nvPr/>
        </p:nvSpPr>
        <p:spPr>
          <a:xfrm>
            <a:off x="125237" y="4117941"/>
            <a:ext cx="1989365" cy="787926"/>
          </a:xfrm>
          <a:custGeom>
            <a:avLst/>
            <a:gdLst>
              <a:gd name="connsiteX0" fmla="*/ 0 w 1989365"/>
              <a:gd name="connsiteY0" fmla="*/ 0 h 787926"/>
              <a:gd name="connsiteX1" fmla="*/ 1989365 w 1989365"/>
              <a:gd name="connsiteY1" fmla="*/ 0 h 787926"/>
              <a:gd name="connsiteX2" fmla="*/ 1989365 w 1989365"/>
              <a:gd name="connsiteY2" fmla="*/ 787926 h 787926"/>
              <a:gd name="connsiteX3" fmla="*/ 0 w 1989365"/>
              <a:gd name="connsiteY3" fmla="*/ 787926 h 787926"/>
              <a:gd name="connsiteX4" fmla="*/ 0 w 1989365"/>
              <a:gd name="connsiteY4" fmla="*/ 0 h 7879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89365" h="787926">
                <a:moveTo>
                  <a:pt x="0" y="0"/>
                </a:moveTo>
                <a:lnTo>
                  <a:pt x="1989365" y="0"/>
                </a:lnTo>
                <a:lnTo>
                  <a:pt x="1989365" y="787926"/>
                </a:lnTo>
                <a:lnTo>
                  <a:pt x="0" y="787926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spcFirstLastPara="0" vert="horz" wrap="square" lIns="30480" tIns="30480" rIns="30480" bIns="30480" numCol="1" spcCol="1270" anchor="ctr" anchorCtr="0">
            <a:noAutofit/>
          </a:bodyPr>
          <a:lstStyle/>
          <a:p>
            <a:pPr lvl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b="1" kern="1200" dirty="0" smtClean="0"/>
              <a:t>Construction of Prototype</a:t>
            </a:r>
            <a:endParaRPr lang="en-US" sz="2400" b="1" kern="1200" dirty="0"/>
          </a:p>
        </p:txBody>
      </p:sp>
      <p:sp>
        <p:nvSpPr>
          <p:cNvPr id="13" name="Circular Arrow 12"/>
          <p:cNvSpPr/>
          <p:nvPr/>
        </p:nvSpPr>
        <p:spPr>
          <a:xfrm>
            <a:off x="750236" y="1413346"/>
            <a:ext cx="4787267" cy="4787267"/>
          </a:xfrm>
          <a:prstGeom prst="circularArrow">
            <a:avLst>
              <a:gd name="adj1" fmla="val 5201"/>
              <a:gd name="adj2" fmla="val 336003"/>
              <a:gd name="adj3" fmla="val 12036943"/>
              <a:gd name="adj4" fmla="val 10294857"/>
              <a:gd name="adj5" fmla="val 6068"/>
            </a:avLst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358046" y="2060342"/>
            <a:ext cx="2317591" cy="808408"/>
          </a:xfrm>
          <a:custGeom>
            <a:avLst/>
            <a:gdLst>
              <a:gd name="connsiteX0" fmla="*/ 0 w 2317591"/>
              <a:gd name="connsiteY0" fmla="*/ 0 h 808408"/>
              <a:gd name="connsiteX1" fmla="*/ 2317591 w 2317591"/>
              <a:gd name="connsiteY1" fmla="*/ 0 h 808408"/>
              <a:gd name="connsiteX2" fmla="*/ 2317591 w 2317591"/>
              <a:gd name="connsiteY2" fmla="*/ 808408 h 808408"/>
              <a:gd name="connsiteX3" fmla="*/ 0 w 2317591"/>
              <a:gd name="connsiteY3" fmla="*/ 808408 h 808408"/>
              <a:gd name="connsiteX4" fmla="*/ 0 w 2317591"/>
              <a:gd name="connsiteY4" fmla="*/ 0 h 8084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17591" h="808408">
                <a:moveTo>
                  <a:pt x="0" y="0"/>
                </a:moveTo>
                <a:lnTo>
                  <a:pt x="2317591" y="0"/>
                </a:lnTo>
                <a:lnTo>
                  <a:pt x="2317591" y="808408"/>
                </a:lnTo>
                <a:lnTo>
                  <a:pt x="0" y="808408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spcFirstLastPara="0" vert="horz" wrap="square" lIns="30480" tIns="30480" rIns="30480" bIns="30480" numCol="1" spcCol="1270" anchor="ctr" anchorCtr="0">
            <a:noAutofit/>
          </a:bodyPr>
          <a:lstStyle/>
          <a:p>
            <a:pPr lvl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b="1" kern="1200" dirty="0" smtClean="0"/>
              <a:t>Deployment &amp; Feedback</a:t>
            </a:r>
            <a:endParaRPr lang="en-US" sz="2400" b="1" kern="1200" dirty="0"/>
          </a:p>
        </p:txBody>
      </p:sp>
      <p:sp>
        <p:nvSpPr>
          <p:cNvPr id="15" name="Circular Arrow 14"/>
          <p:cNvSpPr/>
          <p:nvPr/>
        </p:nvSpPr>
        <p:spPr>
          <a:xfrm>
            <a:off x="823281" y="1394909"/>
            <a:ext cx="4787267" cy="4787267"/>
          </a:xfrm>
          <a:prstGeom prst="circularArrow">
            <a:avLst>
              <a:gd name="adj1" fmla="val 5201"/>
              <a:gd name="adj2" fmla="val 336003"/>
              <a:gd name="adj3" fmla="val 18255926"/>
              <a:gd name="adj4" fmla="val 14067544"/>
              <a:gd name="adj5" fmla="val 6068"/>
            </a:avLst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6" name="Content Placeholder 2"/>
          <p:cNvSpPr>
            <a:spLocks noGrp="1"/>
          </p:cNvSpPr>
          <p:nvPr>
            <p:ph idx="1"/>
          </p:nvPr>
        </p:nvSpPr>
        <p:spPr>
          <a:xfrm>
            <a:off x="6360457" y="1394030"/>
            <a:ext cx="5486400" cy="814313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Communicate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/>
              <a:t>with stockholders &amp; </a:t>
            </a:r>
            <a:r>
              <a:rPr lang="en-US" b="1" dirty="0">
                <a:solidFill>
                  <a:srgbClr val="C00000"/>
                </a:solidFill>
              </a:rPr>
              <a:t>define objective </a:t>
            </a:r>
            <a:r>
              <a:rPr lang="en-US" dirty="0"/>
              <a:t>of </a:t>
            </a:r>
            <a:r>
              <a:rPr lang="en-US" dirty="0" smtClean="0"/>
              <a:t>Software</a:t>
            </a:r>
            <a:endParaRPr lang="en-US" dirty="0"/>
          </a:p>
        </p:txBody>
      </p:sp>
      <p:sp>
        <p:nvSpPr>
          <p:cNvPr id="18" name="Content Placeholder 2"/>
          <p:cNvSpPr txBox="1">
            <a:spLocks/>
          </p:cNvSpPr>
          <p:nvPr/>
        </p:nvSpPr>
        <p:spPr>
          <a:xfrm>
            <a:off x="6360457" y="5353113"/>
            <a:ext cx="5647767" cy="8203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Iteration occurs and </a:t>
            </a:r>
            <a:r>
              <a:rPr lang="en-US" b="1" dirty="0" smtClean="0">
                <a:solidFill>
                  <a:srgbClr val="C00000"/>
                </a:solidFill>
              </a:rPr>
              <a:t>prototype</a:t>
            </a:r>
            <a:r>
              <a:rPr lang="en-US" dirty="0" smtClean="0"/>
              <a:t> is </a:t>
            </a:r>
            <a:r>
              <a:rPr lang="en-US" b="1" dirty="0" smtClean="0">
                <a:solidFill>
                  <a:srgbClr val="C00000"/>
                </a:solidFill>
              </a:rPr>
              <a:t>tuned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based on </a:t>
            </a:r>
            <a:r>
              <a:rPr lang="en-US" b="1" dirty="0" smtClean="0">
                <a:solidFill>
                  <a:srgbClr val="C00000"/>
                </a:solidFill>
              </a:rPr>
              <a:t>feedback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19" name="Content Placeholder 2"/>
          <p:cNvSpPr txBox="1">
            <a:spLocks/>
          </p:cNvSpPr>
          <p:nvPr/>
        </p:nvSpPr>
        <p:spPr>
          <a:xfrm>
            <a:off x="6360457" y="2329127"/>
            <a:ext cx="5647767" cy="4632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 smtClean="0">
                <a:solidFill>
                  <a:srgbClr val="C00000"/>
                </a:solidFill>
              </a:rPr>
              <a:t>Identify requirements </a:t>
            </a:r>
            <a:r>
              <a:rPr lang="en-US" dirty="0" smtClean="0"/>
              <a:t>&amp; design </a:t>
            </a:r>
            <a:r>
              <a:rPr lang="en-US" b="1" dirty="0" smtClean="0">
                <a:solidFill>
                  <a:srgbClr val="C00000"/>
                </a:solidFill>
              </a:rPr>
              <a:t>quick plan</a:t>
            </a:r>
          </a:p>
        </p:txBody>
      </p:sp>
      <p:sp>
        <p:nvSpPr>
          <p:cNvPr id="20" name="Content Placeholder 2"/>
          <p:cNvSpPr txBox="1">
            <a:spLocks/>
          </p:cNvSpPr>
          <p:nvPr/>
        </p:nvSpPr>
        <p:spPr>
          <a:xfrm>
            <a:off x="6360457" y="2913124"/>
            <a:ext cx="5647767" cy="83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 smtClean="0">
                <a:solidFill>
                  <a:srgbClr val="C00000"/>
                </a:solidFill>
              </a:rPr>
              <a:t>Model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a quick </a:t>
            </a:r>
            <a:r>
              <a:rPr lang="en-US" b="1" dirty="0" smtClean="0">
                <a:solidFill>
                  <a:srgbClr val="C00000"/>
                </a:solidFill>
              </a:rPr>
              <a:t>design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(focuses on visible part of software)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22" name="Content Placeholder 2"/>
          <p:cNvSpPr txBox="1">
            <a:spLocks/>
          </p:cNvSpPr>
          <p:nvPr/>
        </p:nvSpPr>
        <p:spPr>
          <a:xfrm>
            <a:off x="6360457" y="3869670"/>
            <a:ext cx="5647767" cy="4779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 smtClean="0">
                <a:solidFill>
                  <a:srgbClr val="C00000"/>
                </a:solidFill>
              </a:rPr>
              <a:t>Construct Prototype</a:t>
            </a:r>
            <a:r>
              <a:rPr lang="en-US" dirty="0" smtClean="0"/>
              <a:t> &amp; deploy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23" name="Content Placeholder 2"/>
          <p:cNvSpPr txBox="1">
            <a:spLocks/>
          </p:cNvSpPr>
          <p:nvPr/>
        </p:nvSpPr>
        <p:spPr>
          <a:xfrm>
            <a:off x="6360457" y="4468401"/>
            <a:ext cx="5647767" cy="7639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Stakeholders </a:t>
            </a:r>
            <a:r>
              <a:rPr lang="en-US" b="1" dirty="0" smtClean="0">
                <a:solidFill>
                  <a:srgbClr val="C00000"/>
                </a:solidFill>
              </a:rPr>
              <a:t>evaluate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this </a:t>
            </a:r>
            <a:r>
              <a:rPr lang="en-US" b="1" dirty="0" smtClean="0">
                <a:solidFill>
                  <a:srgbClr val="C00000"/>
                </a:solidFill>
              </a:rPr>
              <a:t>prototype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and provides </a:t>
            </a:r>
            <a:r>
              <a:rPr lang="en-US" b="1" dirty="0" smtClean="0">
                <a:solidFill>
                  <a:srgbClr val="C00000"/>
                </a:solidFill>
              </a:rPr>
              <a:t>feedback</a:t>
            </a:r>
            <a:endParaRPr lang="en-US" dirty="0" smtClean="0"/>
          </a:p>
          <a:p>
            <a:endParaRPr lang="en-US" dirty="0"/>
          </a:p>
        </p:txBody>
      </p:sp>
      <p:cxnSp>
        <p:nvCxnSpPr>
          <p:cNvPr id="24" name="Straight Connector 23"/>
          <p:cNvCxnSpPr/>
          <p:nvPr/>
        </p:nvCxnSpPr>
        <p:spPr>
          <a:xfrm>
            <a:off x="6164117" y="1338117"/>
            <a:ext cx="61253" cy="524862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6457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  <p:bldP spid="10" grpId="0" animBg="1"/>
      <p:bldP spid="12" grpId="0" animBg="1"/>
      <p:bldP spid="14" grpId="0" animBg="1"/>
      <p:bldP spid="16" grpId="0" build="p"/>
      <p:bldP spid="18" grpId="0"/>
      <p:bldP spid="19" grpId="0"/>
      <p:bldP spid="20" grpId="0"/>
      <p:bldP spid="22" grpId="0"/>
      <p:bldP spid="23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Prototyping model cont.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292733" y="849558"/>
            <a:ext cx="2410126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Problem Areas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1388107" y="1311223"/>
            <a:ext cx="10445305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292733" y="1378458"/>
            <a:ext cx="11540679" cy="1714365"/>
          </a:xfrm>
        </p:spPr>
        <p:txBody>
          <a:bodyPr>
            <a:normAutofit/>
          </a:bodyPr>
          <a:lstStyle/>
          <a:p>
            <a:r>
              <a:rPr lang="en-US" b="1" dirty="0" smtClean="0"/>
              <a:t>Customer </a:t>
            </a:r>
            <a:r>
              <a:rPr lang="en-US" b="1" dirty="0"/>
              <a:t>demand</a:t>
            </a:r>
            <a:r>
              <a:rPr lang="en-US" dirty="0"/>
              <a:t> that “</a:t>
            </a:r>
            <a:r>
              <a:rPr lang="en-US" b="1" dirty="0">
                <a:solidFill>
                  <a:srgbClr val="C00000"/>
                </a:solidFill>
              </a:rPr>
              <a:t>a few fixes</a:t>
            </a:r>
            <a:r>
              <a:rPr lang="en-US" dirty="0"/>
              <a:t>” be applied to </a:t>
            </a:r>
            <a:r>
              <a:rPr lang="en-US" b="1" dirty="0"/>
              <a:t>make</a:t>
            </a:r>
            <a:r>
              <a:rPr lang="en-US" dirty="0"/>
              <a:t> the </a:t>
            </a:r>
            <a:r>
              <a:rPr lang="en-US" b="1" dirty="0"/>
              <a:t>prototype a working product</a:t>
            </a:r>
            <a:r>
              <a:rPr lang="en-US" dirty="0"/>
              <a:t>, due to that software quality suffers as a </a:t>
            </a:r>
            <a:r>
              <a:rPr lang="en-US" dirty="0" smtClean="0"/>
              <a:t>result</a:t>
            </a:r>
            <a:endParaRPr lang="en-US" dirty="0"/>
          </a:p>
          <a:p>
            <a:r>
              <a:rPr lang="en-US" b="1" dirty="0">
                <a:solidFill>
                  <a:srgbClr val="C00000"/>
                </a:solidFill>
              </a:rPr>
              <a:t>Developer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often makes </a:t>
            </a:r>
            <a:r>
              <a:rPr lang="en-US" b="1" dirty="0">
                <a:solidFill>
                  <a:srgbClr val="C00000"/>
                </a:solidFill>
              </a:rPr>
              <a:t>implementation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in order to get a prototype working quickly; </a:t>
            </a:r>
            <a:r>
              <a:rPr lang="en-US" b="1" dirty="0">
                <a:solidFill>
                  <a:srgbClr val="C00000"/>
                </a:solidFill>
              </a:rPr>
              <a:t>without considering other factors</a:t>
            </a:r>
            <a:r>
              <a:rPr lang="en-US" dirty="0"/>
              <a:t> in mind like OS, Programming language, etc</a:t>
            </a:r>
            <a:r>
              <a:rPr lang="en-US" dirty="0" smtClean="0"/>
              <a:t>.</a:t>
            </a:r>
            <a:endParaRPr lang="en-US" dirty="0"/>
          </a:p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92733" y="3092823"/>
            <a:ext cx="2410126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Advantages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388107" y="3554488"/>
            <a:ext cx="10445305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9" name="Content Placeholder 2"/>
          <p:cNvSpPr txBox="1">
            <a:spLocks/>
          </p:cNvSpPr>
          <p:nvPr/>
        </p:nvSpPr>
        <p:spPr>
          <a:xfrm>
            <a:off x="292733" y="3648617"/>
            <a:ext cx="11540679" cy="17143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rgbClr val="C00000"/>
                </a:solidFill>
              </a:rPr>
              <a:t>Users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are actively </a:t>
            </a:r>
            <a:r>
              <a:rPr lang="en-US" b="1" dirty="0">
                <a:solidFill>
                  <a:srgbClr val="C00000"/>
                </a:solidFill>
              </a:rPr>
              <a:t>involved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in the </a:t>
            </a:r>
            <a:r>
              <a:rPr lang="en-US" b="1" dirty="0">
                <a:solidFill>
                  <a:srgbClr val="C00000"/>
                </a:solidFill>
              </a:rPr>
              <a:t>development</a:t>
            </a:r>
          </a:p>
          <a:p>
            <a:r>
              <a:rPr lang="en-US" dirty="0"/>
              <a:t>Since in this methodology a working model of the system is provided, the </a:t>
            </a:r>
            <a:r>
              <a:rPr lang="en-US" b="1" dirty="0">
                <a:solidFill>
                  <a:srgbClr val="C00000"/>
                </a:solidFill>
              </a:rPr>
              <a:t>users get a better understanding</a:t>
            </a:r>
            <a:r>
              <a:rPr lang="en-US" dirty="0"/>
              <a:t> of the </a:t>
            </a:r>
            <a:r>
              <a:rPr lang="en-US" b="1" dirty="0">
                <a:solidFill>
                  <a:srgbClr val="C00000"/>
                </a:solidFill>
              </a:rPr>
              <a:t>system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being developed</a:t>
            </a:r>
          </a:p>
          <a:p>
            <a:r>
              <a:rPr lang="en-US" b="1" dirty="0">
                <a:solidFill>
                  <a:srgbClr val="C00000"/>
                </a:solidFill>
              </a:rPr>
              <a:t>Errors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can be </a:t>
            </a:r>
            <a:r>
              <a:rPr lang="en-US" b="1" dirty="0">
                <a:solidFill>
                  <a:srgbClr val="C00000"/>
                </a:solidFill>
              </a:rPr>
              <a:t>detected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much </a:t>
            </a:r>
            <a:r>
              <a:rPr lang="en-US" b="1" dirty="0">
                <a:solidFill>
                  <a:srgbClr val="C00000"/>
                </a:solidFill>
              </a:rPr>
              <a:t>earlier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9997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Spiral Model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5862918" y="1075763"/>
            <a:ext cx="6212541" cy="5136778"/>
          </a:xfrm>
        </p:spPr>
        <p:txBody>
          <a:bodyPr/>
          <a:lstStyle/>
          <a:p>
            <a:r>
              <a:rPr lang="en-US" dirty="0" smtClean="0"/>
              <a:t>It provides the </a:t>
            </a:r>
            <a:r>
              <a:rPr lang="en-US" b="1" dirty="0" smtClean="0">
                <a:solidFill>
                  <a:srgbClr val="C00000"/>
                </a:solidFill>
              </a:rPr>
              <a:t>potential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for </a:t>
            </a:r>
            <a:r>
              <a:rPr lang="en-US" b="1" dirty="0" smtClean="0">
                <a:solidFill>
                  <a:srgbClr val="C00000"/>
                </a:solidFill>
              </a:rPr>
              <a:t>rapid development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dirty="0" smtClean="0"/>
              <a:t>Software is developed </a:t>
            </a:r>
            <a:r>
              <a:rPr lang="en-US" dirty="0"/>
              <a:t>in a series of evolutionary </a:t>
            </a:r>
            <a:r>
              <a:rPr lang="en-US" dirty="0" smtClean="0"/>
              <a:t>releases.</a:t>
            </a:r>
            <a:endParaRPr lang="en-US" dirty="0"/>
          </a:p>
          <a:p>
            <a:r>
              <a:rPr lang="en-US" b="1" dirty="0" smtClean="0">
                <a:solidFill>
                  <a:srgbClr val="C00000"/>
                </a:solidFill>
              </a:rPr>
              <a:t>Early iteration </a:t>
            </a:r>
            <a:r>
              <a:rPr lang="en-US" dirty="0"/>
              <a:t>release might be </a:t>
            </a:r>
            <a:r>
              <a:rPr lang="en-US" b="1" dirty="0" smtClean="0">
                <a:solidFill>
                  <a:srgbClr val="C00000"/>
                </a:solidFill>
              </a:rPr>
              <a:t>prototype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but </a:t>
            </a:r>
            <a:r>
              <a:rPr lang="en-US" b="1" dirty="0" smtClean="0">
                <a:solidFill>
                  <a:srgbClr val="C00000"/>
                </a:solidFill>
              </a:rPr>
              <a:t>later iterations</a:t>
            </a:r>
            <a:r>
              <a:rPr lang="en-US" dirty="0" smtClean="0"/>
              <a:t> provides </a:t>
            </a:r>
            <a:r>
              <a:rPr lang="en-US" dirty="0"/>
              <a:t>more </a:t>
            </a:r>
            <a:r>
              <a:rPr lang="en-US" b="1" dirty="0">
                <a:solidFill>
                  <a:srgbClr val="C00000"/>
                </a:solidFill>
              </a:rPr>
              <a:t>complete version of software</a:t>
            </a:r>
            <a:r>
              <a:rPr lang="en-US" dirty="0"/>
              <a:t>.</a:t>
            </a:r>
          </a:p>
          <a:p>
            <a:r>
              <a:rPr lang="en-US" dirty="0" smtClean="0"/>
              <a:t>It is divided </a:t>
            </a:r>
            <a:r>
              <a:rPr lang="en-US" dirty="0"/>
              <a:t>into framework activities (C,P,M,C,D). Each activity represent one </a:t>
            </a:r>
            <a:r>
              <a:rPr lang="en-US" dirty="0" smtClean="0"/>
              <a:t>segment of the spiral</a:t>
            </a:r>
          </a:p>
          <a:p>
            <a:r>
              <a:rPr lang="en-US" b="1" dirty="0" smtClean="0">
                <a:solidFill>
                  <a:srgbClr val="C00000"/>
                </a:solidFill>
              </a:rPr>
              <a:t>Each pass</a:t>
            </a:r>
            <a:r>
              <a:rPr lang="en-US" dirty="0" smtClean="0"/>
              <a:t> through the </a:t>
            </a:r>
            <a:r>
              <a:rPr lang="en-US" b="1" dirty="0" smtClean="0">
                <a:solidFill>
                  <a:srgbClr val="C00000"/>
                </a:solidFill>
              </a:rPr>
              <a:t>planning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region results in  </a:t>
            </a:r>
            <a:r>
              <a:rPr lang="en-US" b="1" dirty="0" smtClean="0">
                <a:solidFill>
                  <a:srgbClr val="C00000"/>
                </a:solidFill>
              </a:rPr>
              <a:t>adjustments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to</a:t>
            </a:r>
          </a:p>
          <a:p>
            <a:pPr lvl="1"/>
            <a:r>
              <a:rPr lang="en-US" dirty="0" smtClean="0"/>
              <a:t>the </a:t>
            </a:r>
            <a:r>
              <a:rPr lang="en-US" b="1" dirty="0" smtClean="0"/>
              <a:t>project plan</a:t>
            </a:r>
          </a:p>
          <a:p>
            <a:pPr lvl="1"/>
            <a:r>
              <a:rPr lang="en-US" b="1" dirty="0" smtClean="0"/>
              <a:t>Cost</a:t>
            </a:r>
            <a:r>
              <a:rPr lang="en-US" dirty="0" smtClean="0"/>
              <a:t> &amp; </a:t>
            </a:r>
            <a:r>
              <a:rPr lang="en-US" b="1" dirty="0" smtClean="0"/>
              <a:t>schedule </a:t>
            </a:r>
            <a:r>
              <a:rPr lang="en-US" dirty="0" smtClean="0"/>
              <a:t>based on feedback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121" y="1586752"/>
            <a:ext cx="5200491" cy="34441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8" name="Straight Connector 7"/>
          <p:cNvCxnSpPr/>
          <p:nvPr/>
        </p:nvCxnSpPr>
        <p:spPr>
          <a:xfrm>
            <a:off x="5568338" y="711201"/>
            <a:ext cx="68771" cy="58928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7174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Spiral </a:t>
            </a:r>
            <a:r>
              <a:rPr lang="en-US" dirty="0" smtClean="0"/>
              <a:t>Model Cont.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92732" y="849558"/>
            <a:ext cx="3674149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When to use Spiral Model?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1388107" y="1311223"/>
            <a:ext cx="3247197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279286" y="1391905"/>
            <a:ext cx="4451690" cy="4363436"/>
          </a:xfrm>
        </p:spPr>
        <p:txBody>
          <a:bodyPr>
            <a:normAutofit/>
          </a:bodyPr>
          <a:lstStyle/>
          <a:p>
            <a:r>
              <a:rPr lang="en-US" dirty="0"/>
              <a:t>For development of </a:t>
            </a:r>
            <a:r>
              <a:rPr lang="en-US" b="1" dirty="0">
                <a:solidFill>
                  <a:srgbClr val="C00000"/>
                </a:solidFill>
              </a:rPr>
              <a:t>large scale /  high-risk projects</a:t>
            </a:r>
            <a:r>
              <a:rPr lang="en-US" dirty="0"/>
              <a:t>.</a:t>
            </a:r>
          </a:p>
          <a:p>
            <a:r>
              <a:rPr lang="en-US" dirty="0"/>
              <a:t>When costs and </a:t>
            </a:r>
            <a:r>
              <a:rPr lang="en-US" b="1" dirty="0">
                <a:solidFill>
                  <a:srgbClr val="C00000"/>
                </a:solidFill>
              </a:rPr>
              <a:t>risk evaluation is important</a:t>
            </a:r>
            <a:r>
              <a:rPr lang="en-US" dirty="0"/>
              <a:t>.</a:t>
            </a:r>
          </a:p>
          <a:p>
            <a:r>
              <a:rPr lang="en-US" dirty="0"/>
              <a:t>Users are </a:t>
            </a:r>
            <a:r>
              <a:rPr lang="en-US" b="1" dirty="0">
                <a:solidFill>
                  <a:srgbClr val="C00000"/>
                </a:solidFill>
              </a:rPr>
              <a:t>unsure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of their </a:t>
            </a:r>
            <a:r>
              <a:rPr lang="en-US" b="1" dirty="0">
                <a:solidFill>
                  <a:srgbClr val="C00000"/>
                </a:solidFill>
              </a:rPr>
              <a:t>needs</a:t>
            </a:r>
            <a:r>
              <a:rPr lang="en-US" dirty="0"/>
              <a:t>.</a:t>
            </a:r>
          </a:p>
          <a:p>
            <a:r>
              <a:rPr lang="en-US" b="1" dirty="0">
                <a:solidFill>
                  <a:srgbClr val="C00000"/>
                </a:solidFill>
              </a:rPr>
              <a:t>Requirements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are </a:t>
            </a:r>
            <a:r>
              <a:rPr lang="en-US" b="1" dirty="0">
                <a:solidFill>
                  <a:srgbClr val="C00000"/>
                </a:solidFill>
              </a:rPr>
              <a:t>complex</a:t>
            </a:r>
            <a:r>
              <a:rPr lang="en-US" dirty="0"/>
              <a:t>.</a:t>
            </a:r>
          </a:p>
          <a:p>
            <a:r>
              <a:rPr lang="en-US" dirty="0"/>
              <a:t>New product line.</a:t>
            </a:r>
          </a:p>
          <a:p>
            <a:r>
              <a:rPr lang="en-US" dirty="0"/>
              <a:t>Significant (</a:t>
            </a:r>
            <a:r>
              <a:rPr lang="en-US" b="1" dirty="0">
                <a:solidFill>
                  <a:srgbClr val="C00000"/>
                </a:solidFill>
              </a:rPr>
              <a:t>considerable</a:t>
            </a:r>
            <a:r>
              <a:rPr lang="en-US" dirty="0"/>
              <a:t>) </a:t>
            </a:r>
            <a:r>
              <a:rPr lang="en-US" b="1" dirty="0">
                <a:solidFill>
                  <a:srgbClr val="C00000"/>
                </a:solidFill>
              </a:rPr>
              <a:t>changes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are expected.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4852425" y="718059"/>
            <a:ext cx="68771" cy="58928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138316" y="849558"/>
            <a:ext cx="1988629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Advantages</a:t>
            </a:r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5042645" y="1378458"/>
            <a:ext cx="6992471" cy="22970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High amount of risk analysis hence, </a:t>
            </a:r>
            <a:r>
              <a:rPr lang="en-US" b="1" dirty="0">
                <a:solidFill>
                  <a:srgbClr val="C00000"/>
                </a:solidFill>
              </a:rPr>
              <a:t>avoidance of Risk</a:t>
            </a:r>
            <a:r>
              <a:rPr lang="en-US" dirty="0"/>
              <a:t> is enhanced.</a:t>
            </a:r>
          </a:p>
          <a:p>
            <a:r>
              <a:rPr lang="en-US" b="1" dirty="0"/>
              <a:t>Strong</a:t>
            </a:r>
            <a:r>
              <a:rPr lang="en-US" dirty="0"/>
              <a:t> </a:t>
            </a:r>
            <a:r>
              <a:rPr lang="en-US" b="1" dirty="0">
                <a:solidFill>
                  <a:srgbClr val="C00000"/>
                </a:solidFill>
              </a:rPr>
              <a:t>approval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and </a:t>
            </a:r>
            <a:r>
              <a:rPr lang="en-US" b="1" dirty="0">
                <a:solidFill>
                  <a:srgbClr val="C00000"/>
                </a:solidFill>
              </a:rPr>
              <a:t>documentation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control.</a:t>
            </a:r>
          </a:p>
          <a:p>
            <a:r>
              <a:rPr lang="en-US" b="1" dirty="0">
                <a:solidFill>
                  <a:srgbClr val="C00000"/>
                </a:solidFill>
              </a:rPr>
              <a:t>Additional functionality </a:t>
            </a:r>
            <a:r>
              <a:rPr lang="en-US" dirty="0"/>
              <a:t>can be </a:t>
            </a:r>
            <a:r>
              <a:rPr lang="en-US" b="1" dirty="0">
                <a:solidFill>
                  <a:srgbClr val="C00000"/>
                </a:solidFill>
              </a:rPr>
              <a:t>added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at a later date.</a:t>
            </a:r>
          </a:p>
          <a:p>
            <a:r>
              <a:rPr lang="en-US" b="1" dirty="0">
                <a:solidFill>
                  <a:srgbClr val="C00000"/>
                </a:solidFill>
              </a:rPr>
              <a:t>Software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is </a:t>
            </a:r>
            <a:r>
              <a:rPr lang="en-US" b="1" dirty="0">
                <a:solidFill>
                  <a:srgbClr val="C00000"/>
                </a:solidFill>
              </a:rPr>
              <a:t>produced early </a:t>
            </a:r>
            <a:r>
              <a:rPr lang="en-US" dirty="0"/>
              <a:t>in the Software Life Cycle.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7115827" y="1307324"/>
            <a:ext cx="4862367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5134818" y="3681796"/>
            <a:ext cx="1988629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Disadvantages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7123447" y="4147182"/>
            <a:ext cx="4669624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8" name="Content Placeholder 2"/>
          <p:cNvSpPr txBox="1">
            <a:spLocks/>
          </p:cNvSpPr>
          <p:nvPr/>
        </p:nvSpPr>
        <p:spPr>
          <a:xfrm>
            <a:off x="5095187" y="4279593"/>
            <a:ext cx="6890627" cy="29246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Can be </a:t>
            </a:r>
            <a:r>
              <a:rPr lang="en-US" b="1" dirty="0">
                <a:solidFill>
                  <a:srgbClr val="C00000"/>
                </a:solidFill>
              </a:rPr>
              <a:t>a costly model</a:t>
            </a:r>
            <a:r>
              <a:rPr lang="en-US" dirty="0"/>
              <a:t> to use.</a:t>
            </a:r>
          </a:p>
          <a:p>
            <a:r>
              <a:rPr lang="en-US" dirty="0"/>
              <a:t>Risk analysis </a:t>
            </a:r>
            <a:r>
              <a:rPr lang="en-US" b="1" dirty="0">
                <a:solidFill>
                  <a:srgbClr val="C00000"/>
                </a:solidFill>
              </a:rPr>
              <a:t>requires highly specific expertise</a:t>
            </a:r>
            <a:r>
              <a:rPr lang="en-US" dirty="0"/>
              <a:t>.</a:t>
            </a:r>
          </a:p>
          <a:p>
            <a:r>
              <a:rPr lang="en-US" dirty="0"/>
              <a:t>Project’s success is highly dependent on the risk analysis phase.</a:t>
            </a:r>
          </a:p>
          <a:p>
            <a:r>
              <a:rPr lang="en-US" dirty="0"/>
              <a:t>Doesn’t work well for smaller projects.</a:t>
            </a:r>
          </a:p>
        </p:txBody>
      </p:sp>
    </p:spTree>
    <p:extLst>
      <p:ext uri="{BB962C8B-B14F-4D97-AF65-F5344CB8AC3E}">
        <p14:creationId xmlns:p14="http://schemas.microsoft.com/office/powerpoint/2010/main" val="2196704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3" grpId="0" animBg="1"/>
      <p:bldP spid="16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Rapid Application Development </a:t>
            </a:r>
            <a:r>
              <a:rPr lang="en-US" dirty="0" smtClean="0"/>
              <a:t>Model (RAD)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40612" y="1229886"/>
            <a:ext cx="22098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Communication</a:t>
            </a:r>
            <a:endParaRPr lang="en-US" sz="2400" b="1" dirty="0"/>
          </a:p>
        </p:txBody>
      </p:sp>
      <p:sp>
        <p:nvSpPr>
          <p:cNvPr id="5" name="Rectangle 4"/>
          <p:cNvSpPr/>
          <p:nvPr/>
        </p:nvSpPr>
        <p:spPr>
          <a:xfrm>
            <a:off x="140612" y="2220486"/>
            <a:ext cx="189943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Planning</a:t>
            </a:r>
            <a:endParaRPr lang="en-US" sz="2400" b="1" dirty="0"/>
          </a:p>
        </p:txBody>
      </p:sp>
      <p:sp>
        <p:nvSpPr>
          <p:cNvPr id="6" name="Rectangle 5"/>
          <p:cNvSpPr/>
          <p:nvPr/>
        </p:nvSpPr>
        <p:spPr>
          <a:xfrm>
            <a:off x="7171765" y="3562130"/>
            <a:ext cx="17526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Deployment</a:t>
            </a:r>
            <a:endParaRPr lang="en-US" sz="2400" b="1" dirty="0"/>
          </a:p>
        </p:txBody>
      </p:sp>
      <p:sp>
        <p:nvSpPr>
          <p:cNvPr id="7" name="Rectangle 6"/>
          <p:cNvSpPr/>
          <p:nvPr/>
        </p:nvSpPr>
        <p:spPr>
          <a:xfrm>
            <a:off x="2752165" y="934034"/>
            <a:ext cx="4038600" cy="54102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904565" y="1048871"/>
            <a:ext cx="3733800" cy="169115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2904565" y="1050181"/>
            <a:ext cx="3733800" cy="4572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Team - 1</a:t>
            </a:r>
            <a:endParaRPr lang="en-US" sz="2400" b="1" dirty="0"/>
          </a:p>
        </p:txBody>
      </p:sp>
      <p:sp>
        <p:nvSpPr>
          <p:cNvPr id="10" name="Rectangle 9"/>
          <p:cNvSpPr/>
          <p:nvPr/>
        </p:nvSpPr>
        <p:spPr>
          <a:xfrm>
            <a:off x="3168045" y="1621713"/>
            <a:ext cx="1333500" cy="41051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Modeling</a:t>
            </a:r>
            <a:endParaRPr lang="en-US" b="1" dirty="0"/>
          </a:p>
        </p:txBody>
      </p:sp>
      <p:sp>
        <p:nvSpPr>
          <p:cNvPr id="11" name="Rectangle 10"/>
          <p:cNvSpPr/>
          <p:nvPr/>
        </p:nvSpPr>
        <p:spPr>
          <a:xfrm>
            <a:off x="4797223" y="2130428"/>
            <a:ext cx="1485900" cy="41051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Construction</a:t>
            </a:r>
          </a:p>
        </p:txBody>
      </p:sp>
      <p:sp>
        <p:nvSpPr>
          <p:cNvPr id="12" name="Bent-Up Arrow 11"/>
          <p:cNvSpPr/>
          <p:nvPr/>
        </p:nvSpPr>
        <p:spPr>
          <a:xfrm rot="5400000">
            <a:off x="4029183" y="1692949"/>
            <a:ext cx="403001" cy="1081557"/>
          </a:xfrm>
          <a:prstGeom prst="bentUp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own Arrow 12"/>
          <p:cNvSpPr/>
          <p:nvPr/>
        </p:nvSpPr>
        <p:spPr>
          <a:xfrm>
            <a:off x="826412" y="1763286"/>
            <a:ext cx="228600" cy="457200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ight Arrow 13"/>
          <p:cNvSpPr/>
          <p:nvPr/>
        </p:nvSpPr>
        <p:spPr>
          <a:xfrm>
            <a:off x="2009573" y="2332545"/>
            <a:ext cx="742592" cy="343346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2904565" y="2816228"/>
            <a:ext cx="3733800" cy="169115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2904565" y="2817538"/>
            <a:ext cx="3733800" cy="4572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Team - 2</a:t>
            </a:r>
            <a:endParaRPr lang="en-US" sz="2400" b="1" dirty="0"/>
          </a:p>
        </p:txBody>
      </p:sp>
      <p:sp>
        <p:nvSpPr>
          <p:cNvPr id="17" name="Rectangle 16"/>
          <p:cNvSpPr/>
          <p:nvPr/>
        </p:nvSpPr>
        <p:spPr>
          <a:xfrm>
            <a:off x="3168045" y="3389070"/>
            <a:ext cx="1333500" cy="41051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Modeling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97223" y="3897785"/>
            <a:ext cx="1485900" cy="41051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Construction</a:t>
            </a:r>
          </a:p>
        </p:txBody>
      </p:sp>
      <p:sp>
        <p:nvSpPr>
          <p:cNvPr id="19" name="Bent-Up Arrow 18"/>
          <p:cNvSpPr/>
          <p:nvPr/>
        </p:nvSpPr>
        <p:spPr>
          <a:xfrm rot="5400000">
            <a:off x="4029183" y="3460306"/>
            <a:ext cx="403001" cy="1081557"/>
          </a:xfrm>
          <a:prstGeom prst="bentUp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2904565" y="4552761"/>
            <a:ext cx="3733800" cy="169115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2904565" y="4567518"/>
            <a:ext cx="3733800" cy="4572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Team - 3</a:t>
            </a:r>
            <a:endParaRPr lang="en-US" sz="2400" b="1" dirty="0"/>
          </a:p>
        </p:txBody>
      </p:sp>
      <p:sp>
        <p:nvSpPr>
          <p:cNvPr id="22" name="Rectangle 21"/>
          <p:cNvSpPr/>
          <p:nvPr/>
        </p:nvSpPr>
        <p:spPr>
          <a:xfrm>
            <a:off x="3168045" y="5112156"/>
            <a:ext cx="1333500" cy="41051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Modeling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97223" y="5620871"/>
            <a:ext cx="1485900" cy="41051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Construction</a:t>
            </a:r>
          </a:p>
        </p:txBody>
      </p:sp>
      <p:sp>
        <p:nvSpPr>
          <p:cNvPr id="24" name="Bent-Up Arrow 23"/>
          <p:cNvSpPr/>
          <p:nvPr/>
        </p:nvSpPr>
        <p:spPr>
          <a:xfrm rot="5400000">
            <a:off x="4029183" y="5183392"/>
            <a:ext cx="403001" cy="1081557"/>
          </a:xfrm>
          <a:prstGeom prst="bentUp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ounded Rectangular Callout 24"/>
          <p:cNvSpPr/>
          <p:nvPr/>
        </p:nvSpPr>
        <p:spPr>
          <a:xfrm>
            <a:off x="376517" y="3317831"/>
            <a:ext cx="1957813" cy="1555398"/>
          </a:xfrm>
          <a:prstGeom prst="wedgeRoundRectCallout">
            <a:avLst>
              <a:gd name="adj1" fmla="val 96921"/>
              <a:gd name="adj2" fmla="val 75663"/>
              <a:gd name="adj3" fmla="val 16667"/>
            </a:avLst>
          </a:prstGeom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tx1"/>
                </a:solidFill>
              </a:rPr>
              <a:t>Business </a:t>
            </a:r>
            <a:r>
              <a:rPr lang="en-IN" b="1" dirty="0" err="1">
                <a:solidFill>
                  <a:schemeClr val="tx1"/>
                </a:solidFill>
              </a:rPr>
              <a:t>Modeling</a:t>
            </a:r>
            <a:endParaRPr lang="en-IN" b="1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tx1"/>
                </a:solidFill>
              </a:rPr>
              <a:t>Data </a:t>
            </a:r>
            <a:r>
              <a:rPr lang="en-IN" b="1" dirty="0" err="1">
                <a:solidFill>
                  <a:schemeClr val="tx1"/>
                </a:solidFill>
              </a:rPr>
              <a:t>Modeling</a:t>
            </a:r>
            <a:endParaRPr lang="en-IN" b="1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tx1"/>
                </a:solidFill>
              </a:rPr>
              <a:t>Process </a:t>
            </a:r>
            <a:r>
              <a:rPr lang="en-IN" b="1" dirty="0" err="1" smtClean="0">
                <a:solidFill>
                  <a:schemeClr val="tx1"/>
                </a:solidFill>
              </a:rPr>
              <a:t>Modeling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26" name="Rounded Rectangular Callout 25"/>
          <p:cNvSpPr/>
          <p:nvPr/>
        </p:nvSpPr>
        <p:spPr>
          <a:xfrm>
            <a:off x="6901846" y="4917632"/>
            <a:ext cx="2073972" cy="1421369"/>
          </a:xfrm>
          <a:prstGeom prst="wedgeRoundRectCallout">
            <a:avLst>
              <a:gd name="adj1" fmla="val -78945"/>
              <a:gd name="adj2" fmla="val 13014"/>
              <a:gd name="adj3" fmla="val 16667"/>
            </a:avLst>
          </a:prstGeom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 smtClean="0">
                <a:solidFill>
                  <a:schemeClr val="tx1"/>
                </a:solidFill>
              </a:rPr>
              <a:t>Component Reuse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 smtClean="0">
                <a:solidFill>
                  <a:schemeClr val="tx1"/>
                </a:solidFill>
              </a:rPr>
              <a:t>Automatic Code Generation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 smtClean="0">
                <a:solidFill>
                  <a:schemeClr val="tx1"/>
                </a:solidFill>
              </a:rPr>
              <a:t>Testing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27" name="Rounded Rectangular Callout 26"/>
          <p:cNvSpPr/>
          <p:nvPr/>
        </p:nvSpPr>
        <p:spPr>
          <a:xfrm>
            <a:off x="7206546" y="2335685"/>
            <a:ext cx="1614725" cy="914169"/>
          </a:xfrm>
          <a:prstGeom prst="wedgeRoundRectCallout">
            <a:avLst>
              <a:gd name="adj1" fmla="val -28477"/>
              <a:gd name="adj2" fmla="val 97834"/>
              <a:gd name="adj3" fmla="val 16667"/>
            </a:avLst>
          </a:prstGeom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 smtClean="0">
                <a:solidFill>
                  <a:schemeClr val="tx1"/>
                </a:solidFill>
              </a:rPr>
              <a:t>Integration</a:t>
            </a:r>
            <a:endParaRPr lang="en-IN" b="1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 smtClean="0">
                <a:solidFill>
                  <a:schemeClr val="tx1"/>
                </a:solidFill>
              </a:rPr>
              <a:t>Delivery</a:t>
            </a:r>
            <a:endParaRPr lang="en-IN" b="1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 smtClean="0">
                <a:solidFill>
                  <a:schemeClr val="tx1"/>
                </a:solidFill>
              </a:rPr>
              <a:t>Feedback</a:t>
            </a:r>
            <a:endParaRPr lang="en-IN" b="1" dirty="0">
              <a:solidFill>
                <a:schemeClr val="tx1"/>
              </a:solidFill>
            </a:endParaRPr>
          </a:p>
        </p:txBody>
      </p:sp>
      <p:cxnSp>
        <p:nvCxnSpPr>
          <p:cNvPr id="28" name="Straight Arrow Connector 27"/>
          <p:cNvCxnSpPr>
            <a:endCxn id="6" idx="1"/>
          </p:cNvCxnSpPr>
          <p:nvPr/>
        </p:nvCxnSpPr>
        <p:spPr>
          <a:xfrm>
            <a:off x="6283123" y="2335685"/>
            <a:ext cx="888642" cy="149314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18" idx="3"/>
            <a:endCxn id="6" idx="1"/>
          </p:cNvCxnSpPr>
          <p:nvPr/>
        </p:nvCxnSpPr>
        <p:spPr>
          <a:xfrm flipV="1">
            <a:off x="6283123" y="3828830"/>
            <a:ext cx="888642" cy="27421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20" idx="3"/>
            <a:endCxn id="6" idx="1"/>
          </p:cNvCxnSpPr>
          <p:nvPr/>
        </p:nvCxnSpPr>
        <p:spPr>
          <a:xfrm flipV="1">
            <a:off x="6638365" y="3828830"/>
            <a:ext cx="533400" cy="156951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3" name="Rounded Rectangular Callout 32"/>
          <p:cNvSpPr/>
          <p:nvPr/>
        </p:nvSpPr>
        <p:spPr>
          <a:xfrm>
            <a:off x="8975818" y="190204"/>
            <a:ext cx="3095221" cy="2015115"/>
          </a:xfrm>
          <a:prstGeom prst="wedgeRoundRectCallout">
            <a:avLst>
              <a:gd name="adj1" fmla="val -82904"/>
              <a:gd name="adj2" fmla="val -37534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It is a type of </a:t>
            </a:r>
            <a:r>
              <a:rPr lang="en-US" sz="2400" b="1" dirty="0">
                <a:solidFill>
                  <a:srgbClr val="C00000"/>
                </a:solidFill>
              </a:rPr>
              <a:t>incremental model</a:t>
            </a:r>
            <a:r>
              <a:rPr lang="en-US" sz="2400" dirty="0"/>
              <a:t> in which; </a:t>
            </a:r>
            <a:r>
              <a:rPr lang="en-US" sz="2400" b="1" dirty="0">
                <a:solidFill>
                  <a:srgbClr val="C00000"/>
                </a:solidFill>
              </a:rPr>
              <a:t>components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or functions are </a:t>
            </a:r>
            <a:r>
              <a:rPr lang="en-US" sz="2400" b="1" dirty="0">
                <a:solidFill>
                  <a:srgbClr val="C00000"/>
                </a:solidFill>
              </a:rPr>
              <a:t>developed in parallel</a:t>
            </a:r>
            <a:r>
              <a:rPr lang="en-US" sz="2400" dirty="0" smtClean="0"/>
              <a:t>.</a:t>
            </a:r>
            <a:endParaRPr lang="en-US" sz="2400" dirty="0"/>
          </a:p>
        </p:txBody>
      </p:sp>
      <p:sp>
        <p:nvSpPr>
          <p:cNvPr id="37" name="Rounded Rectangle 36"/>
          <p:cNvSpPr/>
          <p:nvPr/>
        </p:nvSpPr>
        <p:spPr>
          <a:xfrm>
            <a:off x="9305365" y="2331726"/>
            <a:ext cx="2765674" cy="186914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Rapid development is </a:t>
            </a:r>
            <a:r>
              <a:rPr lang="en-US" sz="2400" b="1" dirty="0">
                <a:solidFill>
                  <a:srgbClr val="C00000"/>
                </a:solidFill>
              </a:rPr>
              <a:t>achieved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by </a:t>
            </a:r>
            <a:r>
              <a:rPr lang="en-US" sz="2400" b="1" dirty="0"/>
              <a:t>component based </a:t>
            </a:r>
            <a:r>
              <a:rPr lang="en-US" sz="2400" b="1" dirty="0" smtClean="0"/>
              <a:t>construction</a:t>
            </a:r>
            <a:endParaRPr lang="en-US" sz="2400" b="1" dirty="0"/>
          </a:p>
        </p:txBody>
      </p:sp>
      <p:sp>
        <p:nvSpPr>
          <p:cNvPr id="38" name="Rounded Rectangle 37"/>
          <p:cNvSpPr/>
          <p:nvPr/>
        </p:nvSpPr>
        <p:spPr>
          <a:xfrm>
            <a:off x="9308585" y="4327273"/>
            <a:ext cx="2766936" cy="209462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This can </a:t>
            </a:r>
            <a:r>
              <a:rPr lang="en-US" sz="2400" b="1" dirty="0">
                <a:solidFill>
                  <a:srgbClr val="C00000"/>
                </a:solidFill>
              </a:rPr>
              <a:t>quickly give</a:t>
            </a:r>
            <a:r>
              <a:rPr lang="en-US" sz="2400" dirty="0"/>
              <a:t> the customer </a:t>
            </a:r>
            <a:r>
              <a:rPr lang="en-US" sz="2400" b="1" dirty="0">
                <a:solidFill>
                  <a:srgbClr val="C00000"/>
                </a:solidFill>
              </a:rPr>
              <a:t>something to see</a:t>
            </a:r>
            <a:r>
              <a:rPr lang="en-US" sz="2400" dirty="0"/>
              <a:t> and use and to provide feedback.</a:t>
            </a:r>
          </a:p>
        </p:txBody>
      </p:sp>
    </p:spTree>
    <p:extLst>
      <p:ext uri="{BB962C8B-B14F-4D97-AF65-F5344CB8AC3E}">
        <p14:creationId xmlns:p14="http://schemas.microsoft.com/office/powerpoint/2010/main" val="1186600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37" grpId="0" animBg="1"/>
      <p:bldP spid="38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Rapid Application Development Model (RAD</a:t>
            </a:r>
            <a:r>
              <a:rPr lang="en-US" dirty="0" smtClean="0"/>
              <a:t>) Cont.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310822" y="847170"/>
            <a:ext cx="2217225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Communication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2587588" y="914432"/>
            <a:ext cx="6839878" cy="54684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This phase is used to understand business problem.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0822" y="1526654"/>
            <a:ext cx="2217225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 smtClean="0"/>
              <a:t>Planning</a:t>
            </a:r>
            <a:endParaRPr lang="en-US" sz="2400" b="1" dirty="0"/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2631622" y="1587028"/>
            <a:ext cx="9386272" cy="51675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Multiple software teams work in parallel on different systems/modules.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0822" y="2236914"/>
            <a:ext cx="2217225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 smtClean="0"/>
              <a:t>Modeling</a:t>
            </a:r>
            <a:endParaRPr lang="en-US" sz="2400" b="1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2420471" y="2698579"/>
            <a:ext cx="4622653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5" name="Content Placeholder 2"/>
          <p:cNvSpPr txBox="1">
            <a:spLocks/>
          </p:cNvSpPr>
          <p:nvPr/>
        </p:nvSpPr>
        <p:spPr>
          <a:xfrm>
            <a:off x="263205" y="2811468"/>
            <a:ext cx="6482369" cy="37842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Business Modeling:</a:t>
            </a:r>
            <a:r>
              <a:rPr lang="en-US" dirty="0"/>
              <a:t> </a:t>
            </a:r>
            <a:r>
              <a:rPr lang="en-US" i="1" dirty="0">
                <a:solidFill>
                  <a:srgbClr val="C00000"/>
                </a:solidFill>
              </a:rPr>
              <a:t>Information flow </a:t>
            </a:r>
            <a:r>
              <a:rPr lang="en-US" dirty="0"/>
              <a:t>among the business.</a:t>
            </a:r>
          </a:p>
          <a:p>
            <a:pPr lvl="1"/>
            <a:r>
              <a:rPr lang="en-US" dirty="0"/>
              <a:t>Ex.  What kind of information drives (moves)?</a:t>
            </a:r>
          </a:p>
          <a:p>
            <a:pPr lvl="1"/>
            <a:r>
              <a:rPr lang="en-US" dirty="0"/>
              <a:t>Who is going to generate information?</a:t>
            </a:r>
          </a:p>
          <a:p>
            <a:pPr lvl="1"/>
            <a:r>
              <a:rPr lang="en-US" dirty="0"/>
              <a:t>From where information comes and goes? </a:t>
            </a:r>
          </a:p>
          <a:p>
            <a:r>
              <a:rPr lang="en-US" b="1" dirty="0"/>
              <a:t>Data Modeling: </a:t>
            </a:r>
            <a:r>
              <a:rPr lang="en-US" dirty="0"/>
              <a:t>Information refine into set of </a:t>
            </a:r>
            <a:r>
              <a:rPr lang="en-US" i="1" dirty="0">
                <a:solidFill>
                  <a:srgbClr val="C00000"/>
                </a:solidFill>
              </a:rPr>
              <a:t>data objects </a:t>
            </a:r>
            <a:r>
              <a:rPr lang="en-US" dirty="0"/>
              <a:t>that are </a:t>
            </a:r>
            <a:r>
              <a:rPr lang="en-US" i="1" dirty="0">
                <a:solidFill>
                  <a:srgbClr val="C00000"/>
                </a:solidFill>
              </a:rPr>
              <a:t>needed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to support business.</a:t>
            </a:r>
          </a:p>
          <a:p>
            <a:r>
              <a:rPr lang="en-US" b="1" dirty="0"/>
              <a:t>Process Modeling: </a:t>
            </a:r>
            <a:r>
              <a:rPr lang="en-US" i="1" dirty="0"/>
              <a:t>Data object </a:t>
            </a:r>
            <a:r>
              <a:rPr lang="en-US" dirty="0"/>
              <a:t>transforms </a:t>
            </a:r>
            <a:r>
              <a:rPr lang="en-US" b="1" dirty="0"/>
              <a:t>to</a:t>
            </a:r>
            <a:r>
              <a:rPr lang="en-US" dirty="0"/>
              <a:t> </a:t>
            </a:r>
            <a:r>
              <a:rPr lang="en-US" i="1" dirty="0"/>
              <a:t>information flow</a:t>
            </a:r>
            <a:r>
              <a:rPr lang="en-US" dirty="0"/>
              <a:t> necessary to implement business.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38580" y="2201829"/>
            <a:ext cx="2217225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Construction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9755805" y="2656861"/>
            <a:ext cx="2175576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3" name="Content Placeholder 2"/>
          <p:cNvSpPr txBox="1">
            <a:spLocks/>
          </p:cNvSpPr>
          <p:nvPr/>
        </p:nvSpPr>
        <p:spPr>
          <a:xfrm>
            <a:off x="7484997" y="2782059"/>
            <a:ext cx="4446384" cy="87554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It highlighting the </a:t>
            </a:r>
            <a:r>
              <a:rPr lang="en-US" i="1" dirty="0">
                <a:solidFill>
                  <a:srgbClr val="C00000"/>
                </a:solidFill>
              </a:rPr>
              <a:t>use of pre-existing software component</a:t>
            </a:r>
            <a:r>
              <a:rPr lang="en-US" dirty="0"/>
              <a:t>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38580" y="3782797"/>
            <a:ext cx="2217225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Deployment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9755805" y="4244462"/>
            <a:ext cx="2175576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7" name="Content Placeholder 2"/>
          <p:cNvSpPr txBox="1">
            <a:spLocks/>
          </p:cNvSpPr>
          <p:nvPr/>
        </p:nvSpPr>
        <p:spPr>
          <a:xfrm>
            <a:off x="7484997" y="4369660"/>
            <a:ext cx="4446384" cy="87554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rgbClr val="C00000"/>
                </a:solidFill>
              </a:rPr>
              <a:t>Integration of modules</a:t>
            </a:r>
            <a:r>
              <a:rPr lang="en-US" dirty="0"/>
              <a:t> developed by parallel teams,  </a:t>
            </a:r>
            <a:r>
              <a:rPr lang="en-US" b="1" dirty="0">
                <a:solidFill>
                  <a:srgbClr val="C00000"/>
                </a:solidFill>
              </a:rPr>
              <a:t>delivery</a:t>
            </a:r>
            <a:r>
              <a:rPr lang="en-US" dirty="0"/>
              <a:t> of integrated software and </a:t>
            </a:r>
            <a:r>
              <a:rPr lang="en-US" b="1" dirty="0">
                <a:solidFill>
                  <a:srgbClr val="C00000"/>
                </a:solidFill>
              </a:rPr>
              <a:t>feedback</a:t>
            </a:r>
            <a:r>
              <a:rPr lang="en-US" dirty="0"/>
              <a:t> comes under deployment phase.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7242731" y="2236914"/>
            <a:ext cx="0" cy="436708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1877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 animBg="1"/>
      <p:bldP spid="13" grpId="0" animBg="1"/>
      <p:bldP spid="20" grpId="0" animBg="1"/>
      <p:bldP spid="25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Rapid Application Development Model (RAD) Cont.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284697" y="891440"/>
            <a:ext cx="2217225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 smtClean="0"/>
              <a:t>When to Use?</a:t>
            </a:r>
            <a:endParaRPr lang="en-US" sz="2400" b="1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2394346" y="1353105"/>
            <a:ext cx="6997848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284697" y="1431483"/>
            <a:ext cx="11615565" cy="1830977"/>
          </a:xfrm>
        </p:spPr>
        <p:txBody>
          <a:bodyPr/>
          <a:lstStyle/>
          <a:p>
            <a:r>
              <a:rPr lang="en-US" dirty="0" smtClean="0"/>
              <a:t>There </a:t>
            </a:r>
            <a:r>
              <a:rPr lang="en-US" dirty="0"/>
              <a:t>is a need to create a </a:t>
            </a:r>
            <a:r>
              <a:rPr lang="en-US" b="1" dirty="0">
                <a:solidFill>
                  <a:srgbClr val="C00000"/>
                </a:solidFill>
              </a:rPr>
              <a:t>system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that can be </a:t>
            </a:r>
            <a:r>
              <a:rPr lang="en-US" b="1" dirty="0">
                <a:solidFill>
                  <a:srgbClr val="C00000"/>
                </a:solidFill>
              </a:rPr>
              <a:t>modularized in 2-3 months</a:t>
            </a:r>
            <a:r>
              <a:rPr lang="en-US" dirty="0"/>
              <a:t> of time.</a:t>
            </a:r>
          </a:p>
          <a:p>
            <a:r>
              <a:rPr lang="en-US" b="1" dirty="0">
                <a:solidFill>
                  <a:srgbClr val="C00000"/>
                </a:solidFill>
              </a:rPr>
              <a:t>High availability</a:t>
            </a:r>
            <a:r>
              <a:rPr lang="en-US" dirty="0"/>
              <a:t> of </a:t>
            </a:r>
            <a:r>
              <a:rPr lang="en-US" b="1" dirty="0"/>
              <a:t>designers</a:t>
            </a:r>
            <a:r>
              <a:rPr lang="en-US" dirty="0"/>
              <a:t> and </a:t>
            </a:r>
            <a:r>
              <a:rPr lang="en-US" b="1" dirty="0">
                <a:solidFill>
                  <a:srgbClr val="C00000"/>
                </a:solidFill>
              </a:rPr>
              <a:t>budget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for modeling along with the cost of automated code generating tools.</a:t>
            </a:r>
          </a:p>
          <a:p>
            <a:r>
              <a:rPr lang="en-US" b="1" dirty="0">
                <a:solidFill>
                  <a:srgbClr val="C00000"/>
                </a:solidFill>
              </a:rPr>
              <a:t>Resources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with </a:t>
            </a:r>
            <a:r>
              <a:rPr lang="en-US" b="1" dirty="0">
                <a:solidFill>
                  <a:srgbClr val="C00000"/>
                </a:solidFill>
              </a:rPr>
              <a:t>high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business </a:t>
            </a:r>
            <a:r>
              <a:rPr lang="en-US" b="1" dirty="0">
                <a:solidFill>
                  <a:srgbClr val="C00000"/>
                </a:solidFill>
              </a:rPr>
              <a:t>knowledge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smtClean="0"/>
              <a:t>are </a:t>
            </a:r>
            <a:r>
              <a:rPr lang="en-US" dirty="0"/>
              <a:t>available</a:t>
            </a:r>
            <a:r>
              <a:rPr lang="en-US" dirty="0" smtClean="0"/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284697" y="3223270"/>
            <a:ext cx="2217225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 smtClean="0"/>
              <a:t>Advantages</a:t>
            </a:r>
            <a:endParaRPr lang="en-US" sz="2400" b="1" dirty="0"/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284697" y="3763313"/>
            <a:ext cx="5175577" cy="183097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rgbClr val="C00000"/>
                </a:solidFill>
              </a:rPr>
              <a:t>Reduced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development </a:t>
            </a:r>
            <a:r>
              <a:rPr lang="en-US" b="1" dirty="0">
                <a:solidFill>
                  <a:srgbClr val="C00000"/>
                </a:solidFill>
              </a:rPr>
              <a:t>time</a:t>
            </a:r>
            <a:r>
              <a:rPr lang="en-US" dirty="0"/>
              <a:t>.</a:t>
            </a:r>
          </a:p>
          <a:p>
            <a:r>
              <a:rPr lang="en-US" b="1" dirty="0">
                <a:solidFill>
                  <a:srgbClr val="C00000"/>
                </a:solidFill>
              </a:rPr>
              <a:t>Increases reusability </a:t>
            </a:r>
            <a:r>
              <a:rPr lang="en-US" dirty="0"/>
              <a:t>of components.</a:t>
            </a:r>
          </a:p>
          <a:p>
            <a:r>
              <a:rPr lang="en-US" b="1" dirty="0">
                <a:solidFill>
                  <a:srgbClr val="C00000"/>
                </a:solidFill>
              </a:rPr>
              <a:t>Quick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initial </a:t>
            </a:r>
            <a:r>
              <a:rPr lang="en-US" b="1" dirty="0">
                <a:solidFill>
                  <a:srgbClr val="C00000"/>
                </a:solidFill>
              </a:rPr>
              <a:t>reviews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occur.</a:t>
            </a:r>
          </a:p>
          <a:p>
            <a:r>
              <a:rPr lang="en-US" b="1" dirty="0">
                <a:solidFill>
                  <a:srgbClr val="C00000"/>
                </a:solidFill>
              </a:rPr>
              <a:t>Encourages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customer </a:t>
            </a:r>
            <a:r>
              <a:rPr lang="en-US" b="1" dirty="0">
                <a:solidFill>
                  <a:srgbClr val="C00000"/>
                </a:solidFill>
              </a:rPr>
              <a:t>feedback</a:t>
            </a:r>
            <a:r>
              <a:rPr lang="en-US" dirty="0"/>
              <a:t>.</a:t>
            </a:r>
          </a:p>
          <a:p>
            <a:r>
              <a:rPr lang="en-US" dirty="0"/>
              <a:t>Integration from very beginning </a:t>
            </a:r>
            <a:r>
              <a:rPr lang="en-US" b="1" dirty="0">
                <a:solidFill>
                  <a:srgbClr val="C00000"/>
                </a:solidFill>
              </a:rPr>
              <a:t>solves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a lot </a:t>
            </a:r>
            <a:r>
              <a:rPr lang="en-US" b="1" dirty="0">
                <a:solidFill>
                  <a:srgbClr val="C00000"/>
                </a:solidFill>
              </a:rPr>
              <a:t>of integration issues</a:t>
            </a:r>
            <a:r>
              <a:rPr lang="en-US" dirty="0"/>
              <a:t>.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2501922" y="3684935"/>
            <a:ext cx="2801598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5682345" y="3144892"/>
            <a:ext cx="2217225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 smtClean="0"/>
              <a:t>Drawback</a:t>
            </a:r>
            <a:endParaRPr lang="en-US" sz="2400" b="1" dirty="0"/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5643154" y="3684935"/>
            <a:ext cx="6257108" cy="183097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For </a:t>
            </a:r>
            <a:r>
              <a:rPr lang="en-US" b="1" dirty="0"/>
              <a:t>large</a:t>
            </a:r>
            <a:r>
              <a:rPr lang="en-US" dirty="0"/>
              <a:t> but scalable </a:t>
            </a:r>
            <a:r>
              <a:rPr lang="en-US" b="1" dirty="0"/>
              <a:t>projects</a:t>
            </a:r>
            <a:r>
              <a:rPr lang="en-US" dirty="0"/>
              <a:t>, RAD </a:t>
            </a:r>
            <a:r>
              <a:rPr lang="en-US" b="1" dirty="0">
                <a:solidFill>
                  <a:srgbClr val="C00000"/>
                </a:solidFill>
              </a:rPr>
              <a:t>requires sufficient human resources</a:t>
            </a:r>
            <a:r>
              <a:rPr lang="en-US" dirty="0"/>
              <a:t>.</a:t>
            </a:r>
          </a:p>
          <a:p>
            <a:r>
              <a:rPr lang="en-US" dirty="0"/>
              <a:t>Projects </a:t>
            </a:r>
            <a:r>
              <a:rPr lang="en-US" b="1" dirty="0">
                <a:solidFill>
                  <a:srgbClr val="C00000"/>
                </a:solidFill>
              </a:rPr>
              <a:t>fail if </a:t>
            </a:r>
            <a:r>
              <a:rPr lang="en-US" b="1" dirty="0"/>
              <a:t>developers</a:t>
            </a:r>
            <a:r>
              <a:rPr lang="en-US" dirty="0"/>
              <a:t> and </a:t>
            </a:r>
            <a:r>
              <a:rPr lang="en-US" b="1" dirty="0"/>
              <a:t>customers </a:t>
            </a:r>
            <a:r>
              <a:rPr lang="en-US" dirty="0"/>
              <a:t>are </a:t>
            </a:r>
            <a:r>
              <a:rPr lang="en-US" b="1" dirty="0">
                <a:solidFill>
                  <a:srgbClr val="C00000"/>
                </a:solidFill>
              </a:rPr>
              <a:t>not committed</a:t>
            </a:r>
            <a:r>
              <a:rPr lang="en-US" dirty="0"/>
              <a:t> in a much shortened time-frame.</a:t>
            </a:r>
          </a:p>
          <a:p>
            <a:r>
              <a:rPr lang="en-US" b="1" dirty="0">
                <a:solidFill>
                  <a:srgbClr val="C00000"/>
                </a:solidFill>
              </a:rPr>
              <a:t>Problematic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if system </a:t>
            </a:r>
            <a:r>
              <a:rPr lang="en-US" b="1" dirty="0"/>
              <a:t>can not be modularized</a:t>
            </a:r>
            <a:r>
              <a:rPr lang="en-US" dirty="0"/>
              <a:t>.</a:t>
            </a:r>
          </a:p>
          <a:p>
            <a:r>
              <a:rPr lang="en-US" b="1" dirty="0">
                <a:solidFill>
                  <a:srgbClr val="C00000"/>
                </a:solidFill>
              </a:rPr>
              <a:t>Not</a:t>
            </a:r>
            <a:r>
              <a:rPr lang="en-US" b="1" dirty="0"/>
              <a:t> appropriate </a:t>
            </a:r>
            <a:r>
              <a:rPr lang="en-US" b="1" dirty="0">
                <a:solidFill>
                  <a:srgbClr val="C00000"/>
                </a:solidFill>
              </a:rPr>
              <a:t>when technical risks are high </a:t>
            </a:r>
            <a:r>
              <a:rPr lang="en-US" dirty="0"/>
              <a:t>(heavy use of new technology).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7899570" y="3593110"/>
            <a:ext cx="4251573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518433" y="3144892"/>
            <a:ext cx="0" cy="345910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4089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12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 based Development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Commercial off the shelf (COTS) </a:t>
            </a:r>
            <a:r>
              <a:rPr lang="en-US" dirty="0" smtClean="0"/>
              <a:t>software </a:t>
            </a:r>
            <a:r>
              <a:rPr lang="en-US" b="1" dirty="0" smtClean="0">
                <a:solidFill>
                  <a:srgbClr val="C00000"/>
                </a:solidFill>
              </a:rPr>
              <a:t>components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are offered </a:t>
            </a:r>
            <a:r>
              <a:rPr lang="en-US" b="1" dirty="0" smtClean="0">
                <a:solidFill>
                  <a:srgbClr val="C00000"/>
                </a:solidFill>
              </a:rPr>
              <a:t>as product</a:t>
            </a:r>
            <a:r>
              <a:rPr lang="en-US" dirty="0" smtClean="0"/>
              <a:t>.</a:t>
            </a:r>
          </a:p>
          <a:p>
            <a:r>
              <a:rPr lang="en-US" b="1" dirty="0">
                <a:solidFill>
                  <a:srgbClr val="C00000"/>
                </a:solidFill>
              </a:rPr>
              <a:t>COTS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provides </a:t>
            </a:r>
            <a:r>
              <a:rPr lang="en-US" b="1" dirty="0" smtClean="0">
                <a:solidFill>
                  <a:srgbClr val="C00000"/>
                </a:solidFill>
              </a:rPr>
              <a:t>set of functionality</a:t>
            </a:r>
            <a:r>
              <a:rPr lang="en-US" dirty="0" smtClean="0"/>
              <a:t> with </a:t>
            </a:r>
            <a:r>
              <a:rPr lang="en-US" b="1" dirty="0" smtClean="0">
                <a:solidFill>
                  <a:srgbClr val="C00000"/>
                </a:solidFill>
              </a:rPr>
              <a:t>well defined interfaces</a:t>
            </a:r>
            <a:r>
              <a:rPr lang="en-US" dirty="0" smtClean="0"/>
              <a:t> that enables component to be integrated into software.</a:t>
            </a:r>
          </a:p>
          <a:p>
            <a:r>
              <a:rPr lang="en-US" dirty="0" smtClean="0"/>
              <a:t>The component based development model </a:t>
            </a:r>
            <a:r>
              <a:rPr lang="en-US" b="1" dirty="0" smtClean="0">
                <a:solidFill>
                  <a:srgbClr val="C00000"/>
                </a:solidFill>
              </a:rPr>
              <a:t>incorporates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many </a:t>
            </a:r>
            <a:r>
              <a:rPr lang="en-US" b="1" dirty="0" smtClean="0">
                <a:solidFill>
                  <a:srgbClr val="C00000"/>
                </a:solidFill>
              </a:rPr>
              <a:t>characteristics</a:t>
            </a:r>
            <a:r>
              <a:rPr lang="en-US" dirty="0" smtClean="0"/>
              <a:t> of the </a:t>
            </a:r>
            <a:r>
              <a:rPr lang="en-US" b="1" dirty="0" smtClean="0">
                <a:solidFill>
                  <a:srgbClr val="C00000"/>
                </a:solidFill>
              </a:rPr>
              <a:t>spiral model</a:t>
            </a:r>
            <a:r>
              <a:rPr lang="en-US" dirty="0" smtClean="0"/>
              <a:t>.</a:t>
            </a:r>
            <a:endParaRPr lang="en-US" b="1" dirty="0" smtClean="0">
              <a:solidFill>
                <a:srgbClr val="C00000"/>
              </a:solidFill>
            </a:endParaRPr>
          </a:p>
          <a:p>
            <a:r>
              <a:rPr lang="en-US" dirty="0" smtClean="0"/>
              <a:t>It is </a:t>
            </a:r>
            <a:r>
              <a:rPr lang="en-US" b="1" dirty="0" smtClean="0">
                <a:solidFill>
                  <a:srgbClr val="C00000"/>
                </a:solidFill>
              </a:rPr>
              <a:t>evolutionary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in </a:t>
            </a:r>
            <a:r>
              <a:rPr lang="en-US" b="1" dirty="0" smtClean="0">
                <a:solidFill>
                  <a:srgbClr val="C00000"/>
                </a:solidFill>
              </a:rPr>
              <a:t>nature</a:t>
            </a:r>
            <a:r>
              <a:rPr lang="en-US" dirty="0" smtClean="0"/>
              <a:t>.</a:t>
            </a:r>
          </a:p>
          <a:p>
            <a:r>
              <a:rPr lang="en-US" dirty="0" smtClean="0"/>
              <a:t>Component based development model </a:t>
            </a:r>
            <a:r>
              <a:rPr lang="en-US" b="1" dirty="0" smtClean="0">
                <a:solidFill>
                  <a:srgbClr val="C00000"/>
                </a:solidFill>
              </a:rPr>
              <a:t>constructs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applications from </a:t>
            </a:r>
            <a:r>
              <a:rPr lang="en-US" b="1" dirty="0" smtClean="0">
                <a:solidFill>
                  <a:srgbClr val="C00000"/>
                </a:solidFill>
              </a:rPr>
              <a:t>prepackaged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software </a:t>
            </a:r>
            <a:r>
              <a:rPr lang="en-US" b="1" dirty="0" smtClean="0">
                <a:solidFill>
                  <a:srgbClr val="C00000"/>
                </a:solidFill>
              </a:rPr>
              <a:t>components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Modeling</a:t>
            </a:r>
            <a:r>
              <a:rPr lang="en-US" dirty="0" smtClean="0"/>
              <a:t> and </a:t>
            </a:r>
            <a:r>
              <a:rPr lang="en-US" b="1" dirty="0" smtClean="0"/>
              <a:t>construction</a:t>
            </a:r>
            <a:r>
              <a:rPr lang="en-US" dirty="0" smtClean="0"/>
              <a:t> activities begin with the </a:t>
            </a:r>
            <a:r>
              <a:rPr lang="en-US" b="1" dirty="0" smtClean="0">
                <a:solidFill>
                  <a:srgbClr val="C00000"/>
                </a:solidFill>
              </a:rPr>
              <a:t>identification of components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6963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 based Development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190500" y="1488139"/>
            <a:ext cx="11777382" cy="2774576"/>
          </a:xfrm>
        </p:spPr>
        <p:txBody>
          <a:bodyPr/>
          <a:lstStyle/>
          <a:p>
            <a:pPr marL="274638" indent="-457200">
              <a:buFont typeface="+mj-lt"/>
              <a:buAutoNum type="arabicPeriod"/>
            </a:pPr>
            <a:r>
              <a:rPr lang="en-US" dirty="0" smtClean="0"/>
              <a:t>Available </a:t>
            </a:r>
            <a:r>
              <a:rPr lang="en-US" b="1" dirty="0" smtClean="0">
                <a:solidFill>
                  <a:srgbClr val="C00000"/>
                </a:solidFill>
              </a:rPr>
              <a:t>component-based products</a:t>
            </a:r>
            <a:r>
              <a:rPr lang="en-US" dirty="0" smtClean="0"/>
              <a:t> are </a:t>
            </a:r>
            <a:r>
              <a:rPr lang="en-US" b="1" dirty="0" smtClean="0">
                <a:solidFill>
                  <a:srgbClr val="C00000"/>
                </a:solidFill>
              </a:rPr>
              <a:t>researched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&amp; </a:t>
            </a:r>
            <a:r>
              <a:rPr lang="en-US" b="1" dirty="0" smtClean="0">
                <a:solidFill>
                  <a:srgbClr val="C00000"/>
                </a:solidFill>
              </a:rPr>
              <a:t>evaluated</a:t>
            </a:r>
            <a:r>
              <a:rPr lang="en-US" dirty="0" smtClean="0"/>
              <a:t>  for software development.</a:t>
            </a:r>
          </a:p>
          <a:p>
            <a:pPr marL="274638" indent="-457200">
              <a:buFont typeface="+mj-lt"/>
              <a:buAutoNum type="arabicPeriod"/>
            </a:pPr>
            <a:r>
              <a:rPr lang="en-US" dirty="0" smtClean="0"/>
              <a:t>Component</a:t>
            </a:r>
            <a:r>
              <a:rPr lang="en-US" b="1" dirty="0" smtClean="0">
                <a:solidFill>
                  <a:srgbClr val="C00000"/>
                </a:solidFill>
              </a:rPr>
              <a:t> integration issues</a:t>
            </a:r>
            <a:r>
              <a:rPr lang="en-US" dirty="0" smtClean="0"/>
              <a:t> are </a:t>
            </a:r>
            <a:r>
              <a:rPr lang="en-US" b="1" dirty="0" smtClean="0">
                <a:solidFill>
                  <a:srgbClr val="C00000"/>
                </a:solidFill>
              </a:rPr>
              <a:t>considered</a:t>
            </a:r>
            <a:r>
              <a:rPr lang="en-US" dirty="0" smtClean="0"/>
              <a:t>.</a:t>
            </a:r>
            <a:endParaRPr lang="en-US" b="1" dirty="0" smtClean="0">
              <a:solidFill>
                <a:srgbClr val="C00000"/>
              </a:solidFill>
            </a:endParaRPr>
          </a:p>
          <a:p>
            <a:pPr marL="274638" indent="-457200">
              <a:buFont typeface="+mj-lt"/>
              <a:buAutoNum type="arabicPeriod"/>
            </a:pPr>
            <a:r>
              <a:rPr lang="en-US" dirty="0" smtClean="0"/>
              <a:t>A </a:t>
            </a:r>
            <a:r>
              <a:rPr lang="en-US" b="1" dirty="0" smtClean="0">
                <a:solidFill>
                  <a:srgbClr val="C00000"/>
                </a:solidFill>
              </a:rPr>
              <a:t>software architecture</a:t>
            </a:r>
            <a:r>
              <a:rPr lang="en-US" dirty="0" smtClean="0"/>
              <a:t> is </a:t>
            </a:r>
            <a:r>
              <a:rPr lang="en-US" b="1" dirty="0" smtClean="0">
                <a:solidFill>
                  <a:srgbClr val="C00000"/>
                </a:solidFill>
              </a:rPr>
              <a:t>designed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to accommodate the components.</a:t>
            </a:r>
          </a:p>
          <a:p>
            <a:pPr marL="274638" indent="-457200">
              <a:buFont typeface="+mj-lt"/>
              <a:buAutoNum type="arabicPeriod"/>
            </a:pPr>
            <a:r>
              <a:rPr lang="en-US" dirty="0" smtClean="0"/>
              <a:t>Components are </a:t>
            </a:r>
            <a:r>
              <a:rPr lang="en-US" b="1" dirty="0" smtClean="0">
                <a:solidFill>
                  <a:srgbClr val="C00000"/>
                </a:solidFill>
              </a:rPr>
              <a:t>integrated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into the </a:t>
            </a:r>
            <a:r>
              <a:rPr lang="en-US" b="1" dirty="0" smtClean="0">
                <a:solidFill>
                  <a:srgbClr val="C00000"/>
                </a:solidFill>
              </a:rPr>
              <a:t>architecture</a:t>
            </a:r>
            <a:r>
              <a:rPr lang="en-US" dirty="0" smtClean="0"/>
              <a:t>.</a:t>
            </a:r>
          </a:p>
          <a:p>
            <a:pPr marL="274638" indent="-457200">
              <a:buFont typeface="+mj-lt"/>
              <a:buAutoNum type="arabicPeriod"/>
            </a:pPr>
            <a:r>
              <a:rPr lang="en-US" b="1" dirty="0" smtClean="0">
                <a:solidFill>
                  <a:srgbClr val="C00000"/>
                </a:solidFill>
              </a:rPr>
              <a:t>Testing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is conducted to insure proper functionality.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190499" y="841045"/>
            <a:ext cx="1165635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Component based development incorporates the following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0500" y="4309644"/>
            <a:ext cx="2217225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 smtClean="0"/>
              <a:t>Advantages</a:t>
            </a:r>
            <a:endParaRPr lang="en-US" sz="2400" b="1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2407725" y="4771309"/>
            <a:ext cx="9439133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9" name="Content Placeholder 2"/>
          <p:cNvSpPr txBox="1">
            <a:spLocks/>
          </p:cNvSpPr>
          <p:nvPr/>
        </p:nvSpPr>
        <p:spPr>
          <a:xfrm>
            <a:off x="190500" y="4942397"/>
            <a:ext cx="11548782" cy="145840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It leads to </a:t>
            </a:r>
            <a:r>
              <a:rPr lang="en-US" b="1" dirty="0" smtClean="0">
                <a:solidFill>
                  <a:srgbClr val="C00000"/>
                </a:solidFill>
              </a:rPr>
              <a:t>software reuse</a:t>
            </a:r>
            <a:r>
              <a:rPr lang="en-US" dirty="0" smtClean="0"/>
              <a:t>.</a:t>
            </a:r>
          </a:p>
          <a:p>
            <a:r>
              <a:rPr lang="en-US" dirty="0" smtClean="0"/>
              <a:t>It </a:t>
            </a:r>
            <a:r>
              <a:rPr lang="en-US" b="1" dirty="0" smtClean="0">
                <a:solidFill>
                  <a:srgbClr val="C00000"/>
                </a:solidFill>
              </a:rPr>
              <a:t>reduces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b="1" dirty="0" smtClean="0">
                <a:solidFill>
                  <a:srgbClr val="C00000"/>
                </a:solidFill>
              </a:rPr>
              <a:t>development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cycle </a:t>
            </a:r>
            <a:r>
              <a:rPr lang="en-US" b="1" dirty="0" smtClean="0">
                <a:solidFill>
                  <a:srgbClr val="C00000"/>
                </a:solidFill>
              </a:rPr>
              <a:t>time</a:t>
            </a:r>
            <a:r>
              <a:rPr lang="en-US" dirty="0" smtClean="0"/>
              <a:t>.</a:t>
            </a:r>
          </a:p>
          <a:p>
            <a:r>
              <a:rPr lang="en-US" b="1" dirty="0" smtClean="0">
                <a:solidFill>
                  <a:srgbClr val="C00000"/>
                </a:solidFill>
              </a:rPr>
              <a:t>Reduction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in project </a:t>
            </a:r>
            <a:r>
              <a:rPr lang="en-US" b="1" dirty="0" smtClean="0">
                <a:solidFill>
                  <a:srgbClr val="C00000"/>
                </a:solidFill>
              </a:rPr>
              <a:t>cost</a:t>
            </a:r>
            <a:r>
              <a:rPr lang="en-US" dirty="0" smtClean="0"/>
              <a:t>.</a:t>
            </a:r>
            <a:endParaRPr lang="en-US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274125" y="1366351"/>
            <a:ext cx="11545839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8316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 &amp; Process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190500" y="990600"/>
            <a:ext cx="11817724" cy="5334000"/>
          </a:xfrm>
        </p:spPr>
        <p:txBody>
          <a:bodyPr/>
          <a:lstStyle/>
          <a:p>
            <a:r>
              <a:rPr lang="en-US" dirty="0"/>
              <a:t>If the </a:t>
            </a:r>
            <a:r>
              <a:rPr lang="en-US" b="1" dirty="0">
                <a:solidFill>
                  <a:srgbClr val="C00000"/>
                </a:solidFill>
              </a:rPr>
              <a:t>process is weak</a:t>
            </a:r>
            <a:r>
              <a:rPr lang="en-US" dirty="0"/>
              <a:t>, the end </a:t>
            </a:r>
            <a:r>
              <a:rPr lang="en-US" b="1" dirty="0">
                <a:solidFill>
                  <a:srgbClr val="C00000"/>
                </a:solidFill>
              </a:rPr>
              <a:t>product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will </a:t>
            </a:r>
            <a:r>
              <a:rPr lang="en-US" b="1" dirty="0">
                <a:solidFill>
                  <a:srgbClr val="C00000"/>
                </a:solidFill>
              </a:rPr>
              <a:t>suffer</a:t>
            </a:r>
            <a:r>
              <a:rPr lang="en-US" dirty="0"/>
              <a:t>. But </a:t>
            </a:r>
            <a:r>
              <a:rPr lang="en-US" b="1" dirty="0" smtClean="0">
                <a:solidFill>
                  <a:srgbClr val="C00000"/>
                </a:solidFill>
              </a:rPr>
              <a:t>more confidence</a:t>
            </a:r>
            <a:r>
              <a:rPr lang="en-US" dirty="0" smtClean="0"/>
              <a:t> </a:t>
            </a:r>
            <a:r>
              <a:rPr lang="en-US" dirty="0"/>
              <a:t>on </a:t>
            </a:r>
            <a:r>
              <a:rPr lang="en-US" b="1" dirty="0">
                <a:solidFill>
                  <a:srgbClr val="C00000"/>
                </a:solidFill>
              </a:rPr>
              <a:t>process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is also </a:t>
            </a:r>
            <a:r>
              <a:rPr lang="en-US" b="1" dirty="0">
                <a:solidFill>
                  <a:srgbClr val="C00000"/>
                </a:solidFill>
              </a:rPr>
              <a:t>dangerous</a:t>
            </a:r>
            <a:r>
              <a:rPr lang="en-US" dirty="0"/>
              <a:t>.</a:t>
            </a:r>
          </a:p>
          <a:p>
            <a:r>
              <a:rPr lang="en-US" dirty="0"/>
              <a:t>People </a:t>
            </a:r>
            <a:r>
              <a:rPr lang="en-US" b="1" dirty="0" smtClean="0">
                <a:solidFill>
                  <a:srgbClr val="C00000"/>
                </a:solidFill>
              </a:rPr>
              <a:t>gain more </a:t>
            </a:r>
            <a:r>
              <a:rPr lang="en-US" b="1" dirty="0">
                <a:solidFill>
                  <a:srgbClr val="C00000"/>
                </a:solidFill>
              </a:rPr>
              <a:t>satisfaction</a:t>
            </a:r>
            <a:r>
              <a:rPr lang="en-US" dirty="0"/>
              <a:t> from the </a:t>
            </a:r>
            <a:r>
              <a:rPr lang="en-US" b="1" dirty="0">
                <a:solidFill>
                  <a:srgbClr val="C00000"/>
                </a:solidFill>
              </a:rPr>
              <a:t>creative process</a:t>
            </a:r>
            <a:r>
              <a:rPr lang="en-US" dirty="0"/>
              <a:t> as they do from the end product. </a:t>
            </a:r>
          </a:p>
          <a:p>
            <a:pPr lvl="1"/>
            <a:r>
              <a:rPr lang="en-US" dirty="0"/>
              <a:t>Like an artist enjoys the brush strokes as much as the framed result.</a:t>
            </a:r>
          </a:p>
          <a:p>
            <a:pPr lvl="1"/>
            <a:r>
              <a:rPr lang="en-US" dirty="0"/>
              <a:t>A writer enjoys the search for the proper metaphor (comparison) as much as the finished book.</a:t>
            </a:r>
          </a:p>
          <a:p>
            <a:r>
              <a:rPr lang="en-US" dirty="0"/>
              <a:t>As </a:t>
            </a:r>
            <a:r>
              <a:rPr lang="en-US" b="1" dirty="0" smtClean="0">
                <a:solidFill>
                  <a:srgbClr val="C00000"/>
                </a:solidFill>
              </a:rPr>
              <a:t>software </a:t>
            </a:r>
            <a:r>
              <a:rPr lang="en-US" b="1" dirty="0">
                <a:solidFill>
                  <a:srgbClr val="C00000"/>
                </a:solidFill>
              </a:rPr>
              <a:t>professional</a:t>
            </a:r>
            <a:r>
              <a:rPr lang="en-US" dirty="0"/>
              <a:t>, you should also </a:t>
            </a:r>
            <a:r>
              <a:rPr lang="en-US" b="1" dirty="0">
                <a:solidFill>
                  <a:srgbClr val="C00000"/>
                </a:solidFill>
              </a:rPr>
              <a:t>derive</a:t>
            </a:r>
            <a:r>
              <a:rPr lang="en-US" dirty="0"/>
              <a:t> as much </a:t>
            </a:r>
            <a:r>
              <a:rPr lang="en-US" b="1" dirty="0">
                <a:solidFill>
                  <a:srgbClr val="C00000"/>
                </a:solidFill>
              </a:rPr>
              <a:t>satisfaction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from the </a:t>
            </a:r>
            <a:r>
              <a:rPr lang="en-US" b="1" dirty="0">
                <a:solidFill>
                  <a:srgbClr val="C00000"/>
                </a:solidFill>
              </a:rPr>
              <a:t>process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as the end product.</a:t>
            </a:r>
          </a:p>
          <a:p>
            <a:r>
              <a:rPr lang="en-US" dirty="0"/>
              <a:t>The duality (contrast) of product and process is one important element in keeping creative people engaged as software engineering continues to evolve.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8811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2150</TotalTime>
  <Words>3828</Words>
  <Application>Microsoft Office PowerPoint</Application>
  <PresentationFormat>Widescreen</PresentationFormat>
  <Paragraphs>532</Paragraphs>
  <Slides>44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3" baseType="lpstr">
      <vt:lpstr>Wingdings</vt:lpstr>
      <vt:lpstr>Calibri</vt:lpstr>
      <vt:lpstr>Segoe UI Black</vt:lpstr>
      <vt:lpstr>Roboto Condensed Light</vt:lpstr>
      <vt:lpstr>Wingdings 3</vt:lpstr>
      <vt:lpstr>Roboto Condensed</vt:lpstr>
      <vt:lpstr>Wingdings 2</vt:lpstr>
      <vt:lpstr>Arial</vt:lpstr>
      <vt:lpstr>Office Theme</vt:lpstr>
      <vt:lpstr>PowerPoint Presentation</vt:lpstr>
      <vt:lpstr>PowerPoint Presentation</vt:lpstr>
      <vt:lpstr>Why to Study Software Engineering?</vt:lpstr>
      <vt:lpstr>Why to Study Software Engineering?</vt:lpstr>
      <vt:lpstr>SDLC without Software Engineering</vt:lpstr>
      <vt:lpstr>Software Engineering</vt:lpstr>
      <vt:lpstr>Software is dead…..!</vt:lpstr>
      <vt:lpstr>What is Software?</vt:lpstr>
      <vt:lpstr>Software Application Domains</vt:lpstr>
      <vt:lpstr>Software Engineering</vt:lpstr>
      <vt:lpstr>Software Engineering Layered Approach</vt:lpstr>
      <vt:lpstr>Software Engineering Layered Approach Cont.</vt:lpstr>
      <vt:lpstr>Software Engineering Layered Approach Cont.</vt:lpstr>
      <vt:lpstr>Software Process</vt:lpstr>
      <vt:lpstr>Software Process</vt:lpstr>
      <vt:lpstr>Process Framework Activities (CPMCD)</vt:lpstr>
      <vt:lpstr>Umbrella Activities</vt:lpstr>
      <vt:lpstr>Umbrella Activities Cont.</vt:lpstr>
      <vt:lpstr>Umbrella Activities Cont.</vt:lpstr>
      <vt:lpstr>Software Myths</vt:lpstr>
      <vt:lpstr>Management myth - 1 &amp; 2</vt:lpstr>
      <vt:lpstr>Management myth - 3 &amp; 4</vt:lpstr>
      <vt:lpstr>Customer myth - 1 &amp; 2</vt:lpstr>
      <vt:lpstr>Practitioner's (Developer) myth – 1 &amp; 2</vt:lpstr>
      <vt:lpstr>Practitioner's (Developer) myth – 3 &amp; 4</vt:lpstr>
      <vt:lpstr>Software Process Models</vt:lpstr>
      <vt:lpstr>Different Process Models</vt:lpstr>
      <vt:lpstr>The Waterfall Model</vt:lpstr>
      <vt:lpstr>The Waterfall Model</vt:lpstr>
      <vt:lpstr>Incremental Process Model</vt:lpstr>
      <vt:lpstr>Incremental Process Model</vt:lpstr>
      <vt:lpstr>Incremental Process Model</vt:lpstr>
      <vt:lpstr>Evolutionary Process Models</vt:lpstr>
      <vt:lpstr>Prototyping model</vt:lpstr>
      <vt:lpstr>Prototyping model cont.</vt:lpstr>
      <vt:lpstr>Prototyping model cont.</vt:lpstr>
      <vt:lpstr>The Spiral Model</vt:lpstr>
      <vt:lpstr>The Spiral Model Cont.</vt:lpstr>
      <vt:lpstr>Rapid Application Development Model (RAD)</vt:lpstr>
      <vt:lpstr>Rapid Application Development Model (RAD) Cont.</vt:lpstr>
      <vt:lpstr>Rapid Application Development Model (RAD) Cont.</vt:lpstr>
      <vt:lpstr>Component based Development</vt:lpstr>
      <vt:lpstr>Component based Development</vt:lpstr>
      <vt:lpstr>Product &amp; Process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Avni Vadaliya</cp:lastModifiedBy>
  <cp:revision>1428</cp:revision>
  <dcterms:created xsi:type="dcterms:W3CDTF">2020-05-01T05:09:15Z</dcterms:created>
  <dcterms:modified xsi:type="dcterms:W3CDTF">2023-08-20T14:55:10Z</dcterms:modified>
</cp:coreProperties>
</file>